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scord attachment panel"/>
          <p:cNvSpPr/>
          <p:nvPr/>
        </p:nvSpPr>
        <p:spPr>
          <a:xfrm>
            <a:off x="729168" y="1574206"/>
            <a:ext cx="2595839" cy="3155700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 w="508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" name="takeaway dashed border"/>
          <p:cNvSpPr/>
          <p:nvPr/>
        </p:nvSpPr>
        <p:spPr>
          <a:xfrm>
            <a:off x="1589587" y="5772089"/>
            <a:ext cx="8895854" cy="743375"/>
          </a:xfrm>
          <a:prstGeom prst="roundRect">
            <a:avLst>
              <a:gd name="adj" fmla="val 11765"/>
            </a:avLst>
          </a:prstGeom>
          <a:noFill/>
          <a:ln w="38100">
            <a:solidFill>
              <a:srgbClr val="6BA7EF"/>
            </a:solidFill>
            <a:prstDash val="dash"/>
          </a:ln>
        </p:spPr>
        <p:txBody>
          <a:bodyPr/>
          <a:lstStyle/>
          <a:p/>
        </p:txBody>
      </p:sp>
      <p:sp>
        <p:nvSpPr>
          <p:cNvPr id="4" name="codex input card"/>
          <p:cNvSpPr/>
          <p:nvPr/>
        </p:nvSpPr>
        <p:spPr>
          <a:xfrm>
            <a:off x="8057311" y="2288429"/>
            <a:ext cx="3383341" cy="2507069"/>
          </a:xfrm>
          <a:prstGeom prst="roundRect">
            <a:avLst>
              <a:gd name="adj" fmla="val 13953"/>
            </a:avLst>
          </a:prstGeom>
          <a:solidFill>
            <a:srgbClr val="FFFAF5"/>
          </a:solidFill>
          <a:ln w="381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5" name="discord file row"/>
          <p:cNvSpPr/>
          <p:nvPr/>
        </p:nvSpPr>
        <p:spPr>
          <a:xfrm>
            <a:off x="933336" y="2295717"/>
            <a:ext cx="2136463" cy="648631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25400">
            <a:solidFill>
              <a:srgbClr val="A1A8B8"/>
            </a:solidFill>
          </a:ln>
        </p:spPr>
        <p:txBody>
          <a:bodyPr/>
          <a:lstStyle/>
          <a:p/>
        </p:txBody>
      </p:sp>
      <p:sp>
        <p:nvSpPr>
          <p:cNvPr id="6" name="discord file row"/>
          <p:cNvSpPr/>
          <p:nvPr/>
        </p:nvSpPr>
        <p:spPr>
          <a:xfrm>
            <a:off x="933336" y="3002652"/>
            <a:ext cx="2136463" cy="648631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25400">
            <a:solidFill>
              <a:srgbClr val="A1A8B8"/>
            </a:solidFill>
          </a:ln>
        </p:spPr>
        <p:txBody>
          <a:bodyPr/>
          <a:lstStyle/>
          <a:p/>
        </p:txBody>
      </p:sp>
      <p:sp>
        <p:nvSpPr>
          <p:cNvPr id="7" name="discord file row"/>
          <p:cNvSpPr/>
          <p:nvPr/>
        </p:nvSpPr>
        <p:spPr>
          <a:xfrm>
            <a:off x="933336" y="3716876"/>
            <a:ext cx="2136463" cy="648631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25400">
            <a:solidFill>
              <a:srgbClr val="A1A8B8"/>
            </a:solidFill>
          </a:ln>
        </p:spPr>
        <p:txBody>
          <a:bodyPr/>
          <a:lstStyle/>
          <a:p/>
        </p:txBody>
      </p:sp>
      <p:sp>
        <p:nvSpPr>
          <p:cNvPr id="8" name="workspace path pill"/>
          <p:cNvSpPr/>
          <p:nvPr/>
        </p:nvSpPr>
        <p:spPr>
          <a:xfrm>
            <a:off x="4119801" y="4467539"/>
            <a:ext cx="3142716" cy="371688"/>
          </a:xfrm>
          <a:prstGeom prst="roundRect">
            <a:avLst>
              <a:gd name="adj" fmla="val 25490"/>
            </a:avLst>
          </a:prstGeom>
          <a:solidFill>
            <a:srgbClr val="F6FBF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9" name="sync legend pill"/>
          <p:cNvSpPr/>
          <p:nvPr/>
        </p:nvSpPr>
        <p:spPr>
          <a:xfrm>
            <a:off x="2391672" y="5087018"/>
            <a:ext cx="2092713" cy="437279"/>
          </a:xfrm>
          <a:prstGeom prst="roundRect">
            <a:avLst>
              <a:gd name="adj" fmla="val 26667"/>
            </a:avLst>
          </a:prstGeom>
          <a:solidFill>
            <a:srgbClr val="F4F9FF"/>
          </a:solidFill>
          <a:ln w="254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10" name="image input legend pill"/>
          <p:cNvSpPr/>
          <p:nvPr/>
        </p:nvSpPr>
        <p:spPr>
          <a:xfrm>
            <a:off x="4834386" y="5087018"/>
            <a:ext cx="2136463" cy="437279"/>
          </a:xfrm>
          <a:prstGeom prst="roundRect">
            <a:avLst>
              <a:gd name="adj" fmla="val 26667"/>
            </a:avLst>
          </a:prstGeom>
          <a:solidFill>
            <a:srgbClr val="F8FBF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11" name="file reference legend pill"/>
          <p:cNvSpPr/>
          <p:nvPr/>
        </p:nvSpPr>
        <p:spPr>
          <a:xfrm>
            <a:off x="7291684" y="5087018"/>
            <a:ext cx="2398964" cy="437279"/>
          </a:xfrm>
          <a:prstGeom prst="roundRect">
            <a:avLst>
              <a:gd name="adj" fmla="val 26667"/>
            </a:avLst>
          </a:prstGeom>
          <a:solidFill>
            <a:srgbClr val="FFFAF5"/>
          </a:solidFill>
          <a:ln w="254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12" name="sample prompt dashed box"/>
          <p:cNvSpPr/>
          <p:nvPr/>
        </p:nvSpPr>
        <p:spPr>
          <a:xfrm>
            <a:off x="8239603" y="3228580"/>
            <a:ext cx="3026049" cy="823543"/>
          </a:xfrm>
          <a:prstGeom prst="roundRect">
            <a:avLst>
              <a:gd name="adj" fmla="val 7080"/>
            </a:avLst>
          </a:prstGeom>
          <a:solidFill>
            <a:srgbClr val="FFFEFD"/>
          </a:solidFill>
          <a:ln w="25400">
            <a:solidFill>
              <a:srgbClr val="A58B76"/>
            </a:solidFill>
            <a:prstDash val="dash"/>
          </a:ln>
        </p:spPr>
        <p:txBody>
          <a:bodyPr/>
          <a:lstStyle/>
          <a:p/>
        </p:txBody>
      </p:sp>
      <p:sp>
        <p:nvSpPr>
          <p:cNvPr id="13" name="inbox folder tab"/>
          <p:cNvSpPr/>
          <p:nvPr/>
        </p:nvSpPr>
        <p:spPr>
          <a:xfrm>
            <a:off x="4302093" y="2317581"/>
            <a:ext cx="2858340" cy="488295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5224"/>
                </a:moveTo>
                <a:lnTo>
                  <a:pt x="0" y="0"/>
                </a:lnTo>
                <a:lnTo>
                  <a:pt x="32143" y="0"/>
                </a:lnTo>
                <a:lnTo>
                  <a:pt x="36480" y="29851"/>
                </a:lnTo>
                <a:lnTo>
                  <a:pt x="95663" y="29851"/>
                </a:lnTo>
                <a:lnTo>
                  <a:pt x="100000" y="62687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EF7EE"/>
          </a:solidFill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14" name="inbox folder body"/>
          <p:cNvSpPr/>
          <p:nvPr/>
        </p:nvSpPr>
        <p:spPr>
          <a:xfrm>
            <a:off x="4302093" y="2594525"/>
            <a:ext cx="2836465" cy="1756406"/>
          </a:xfrm>
          <a:prstGeom prst="roundRect">
            <a:avLst>
              <a:gd name="adj" fmla="val 9959"/>
            </a:avLst>
          </a:prstGeom>
          <a:solidFill>
            <a:srgbClr val="FFFFFF"/>
          </a:solidFill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15" name="folder top seam"/>
          <p:cNvSpPr/>
          <p:nvPr/>
        </p:nvSpPr>
        <p:spPr>
          <a:xfrm>
            <a:off x="4316677" y="2594525"/>
            <a:ext cx="2814590" cy="0"/>
          </a:xfrm>
          <a:prstGeom prst="line">
            <a:avLst/>
          </a:prstGeom>
          <a:noFill/>
          <a:ln w="381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16" name="blue sparkle outline"/>
          <p:cNvSpPr/>
          <p:nvPr/>
        </p:nvSpPr>
        <p:spPr>
          <a:xfrm>
            <a:off x="3252091" y="422704"/>
            <a:ext cx="328126" cy="371688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24444" y="37255"/>
                </a:moveTo>
                <a:lnTo>
                  <a:pt x="48889" y="0"/>
                </a:lnTo>
                <a:lnTo>
                  <a:pt x="66667" y="37255"/>
                </a:lnTo>
                <a:lnTo>
                  <a:pt x="100000" y="50980"/>
                </a:lnTo>
                <a:lnTo>
                  <a:pt x="64444" y="66667"/>
                </a:lnTo>
                <a:lnTo>
                  <a:pt x="48889" y="100000"/>
                </a:lnTo>
                <a:lnTo>
                  <a:pt x="28889" y="68627"/>
                </a:lnTo>
                <a:lnTo>
                  <a:pt x="0" y="54902"/>
                </a:lnTo>
                <a:close/>
              </a:path>
            </a:pathLst>
          </a:cu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17" name="small sparkle dash 1"/>
          <p:cNvSpPr/>
          <p:nvPr/>
        </p:nvSpPr>
        <p:spPr>
          <a:xfrm flipV="1">
            <a:off x="3361466" y="859983"/>
            <a:ext cx="116667" cy="21864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18" name="small sparkle dash 2"/>
          <p:cNvSpPr/>
          <p:nvPr/>
        </p:nvSpPr>
        <p:spPr>
          <a:xfrm>
            <a:off x="3354175" y="998455"/>
            <a:ext cx="116667" cy="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19" name="green accent 1"/>
          <p:cNvSpPr/>
          <p:nvPr/>
        </p:nvSpPr>
        <p:spPr>
          <a:xfrm flipV="1">
            <a:off x="9202105" y="378976"/>
            <a:ext cx="138542" cy="167624"/>
          </a:xfrm>
          <a:prstGeom prst="line">
            <a:avLst/>
          </a:prstGeom>
          <a:noFill/>
          <a:ln w="635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0" name="green accent 2"/>
          <p:cNvSpPr/>
          <p:nvPr/>
        </p:nvSpPr>
        <p:spPr>
          <a:xfrm flipV="1">
            <a:off x="9340647" y="524735"/>
            <a:ext cx="189584" cy="102032"/>
          </a:xfrm>
          <a:prstGeom prst="line">
            <a:avLst/>
          </a:prstGeom>
          <a:noFill/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1" name="green accent 3"/>
          <p:cNvSpPr/>
          <p:nvPr/>
        </p:nvSpPr>
        <p:spPr>
          <a:xfrm>
            <a:off x="9391689" y="736087"/>
            <a:ext cx="189584" cy="72880"/>
          </a:xfrm>
          <a:prstGeom prst="line">
            <a:avLst/>
          </a:prstGeom>
          <a:noFill/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2" name="blue title underline"/>
          <p:cNvSpPr/>
          <p:nvPr/>
        </p:nvSpPr>
        <p:spPr>
          <a:xfrm>
            <a:off x="3623967" y="1282687"/>
            <a:ext cx="5614596" cy="94744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100000"/>
                </a:moveTo>
                <a:lnTo>
                  <a:pt x="25065" y="23077"/>
                </a:lnTo>
                <a:lnTo>
                  <a:pt x="58182" y="0"/>
                </a:lnTo>
                <a:lnTo>
                  <a:pt x="100000" y="23077"/>
                </a:lnTo>
              </a:path>
            </a:pathLst>
          </a:cu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23" name="blue title underline second"/>
          <p:cNvSpPr/>
          <p:nvPr/>
        </p:nvSpPr>
        <p:spPr>
          <a:xfrm>
            <a:off x="4025009" y="1297262"/>
            <a:ext cx="5155220" cy="12389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100000"/>
                </a:moveTo>
                <a:lnTo>
                  <a:pt x="27016" y="17647"/>
                </a:lnTo>
                <a:lnTo>
                  <a:pt x="64356" y="0"/>
                </a:lnTo>
                <a:lnTo>
                  <a:pt x="100000" y="5882"/>
                </a:lnTo>
              </a:path>
            </a:pathLst>
          </a:custGeom>
          <a:noFill/>
          <a:ln w="254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24" name="codex gray line 1"/>
          <p:cNvSpPr/>
          <p:nvPr/>
        </p:nvSpPr>
        <p:spPr>
          <a:xfrm>
            <a:off x="8327103" y="4256187"/>
            <a:ext cx="2522923" cy="0"/>
          </a:xfrm>
          <a:prstGeom prst="line">
            <a:avLst/>
          </a:prstGeom>
          <a:noFill/>
          <a:ln w="63500">
            <a:solidFill>
              <a:srgbClr val="D7D2CC"/>
            </a:solidFill>
          </a:ln>
        </p:spPr>
        <p:txBody>
          <a:bodyPr/>
          <a:lstStyle/>
          <a:p/>
        </p:txBody>
      </p:sp>
      <p:sp>
        <p:nvSpPr>
          <p:cNvPr id="25" name="codex gray line 2"/>
          <p:cNvSpPr/>
          <p:nvPr/>
        </p:nvSpPr>
        <p:spPr>
          <a:xfrm>
            <a:off x="8312519" y="4409235"/>
            <a:ext cx="2858340" cy="0"/>
          </a:xfrm>
          <a:prstGeom prst="line">
            <a:avLst/>
          </a:prstGeom>
          <a:noFill/>
          <a:ln w="63500">
            <a:solidFill>
              <a:srgbClr val="D7D2CC"/>
            </a:solidFill>
          </a:ln>
        </p:spPr>
        <p:txBody>
          <a:bodyPr/>
          <a:lstStyle/>
          <a:p/>
        </p:txBody>
      </p:sp>
      <p:sp>
        <p:nvSpPr>
          <p:cNvPr id="26" name="blue sync arrow"/>
          <p:cNvSpPr/>
          <p:nvPr/>
        </p:nvSpPr>
        <p:spPr>
          <a:xfrm>
            <a:off x="3507300" y="3184852"/>
            <a:ext cx="619793" cy="0"/>
          </a:xfrm>
          <a:prstGeom prst="lineWithArrow">
            <a:avLst/>
          </a:prstGeom>
          <a:noFill/>
          <a:ln w="889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27" name="green input arrow"/>
          <p:cNvSpPr/>
          <p:nvPr/>
        </p:nvSpPr>
        <p:spPr>
          <a:xfrm>
            <a:off x="7277100" y="3184852"/>
            <a:ext cx="597918" cy="0"/>
          </a:xfrm>
          <a:prstGeom prst="lineWithArrow">
            <a:avLst/>
          </a:prstGeom>
          <a:noFill/>
          <a:ln w="889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8" name="small folder tab"/>
          <p:cNvSpPr/>
          <p:nvPr/>
        </p:nvSpPr>
        <p:spPr>
          <a:xfrm>
            <a:off x="4528136" y="1712678"/>
            <a:ext cx="525001" cy="14576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60000"/>
                </a:moveTo>
                <a:lnTo>
                  <a:pt x="0" y="0"/>
                </a:lnTo>
                <a:lnTo>
                  <a:pt x="38889" y="0"/>
                </a:lnTo>
                <a:lnTo>
                  <a:pt x="51389" y="50000"/>
                </a:lnTo>
                <a:lnTo>
                  <a:pt x="100000" y="5000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EF7EE"/>
          </a:solidFill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9" name="codex cube top"/>
          <p:cNvSpPr/>
          <p:nvPr/>
        </p:nvSpPr>
        <p:spPr>
          <a:xfrm>
            <a:off x="8407311" y="1596070"/>
            <a:ext cx="554168" cy="276944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0000" y="0"/>
                </a:moveTo>
                <a:lnTo>
                  <a:pt x="100000" y="50000"/>
                </a:lnTo>
                <a:lnTo>
                  <a:pt x="50000" y="100000"/>
                </a:lnTo>
                <a:lnTo>
                  <a:pt x="0" y="500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30" name="bulb head"/>
          <p:cNvSpPr/>
          <p:nvPr/>
        </p:nvSpPr>
        <p:spPr>
          <a:xfrm>
            <a:off x="1976046" y="5961577"/>
            <a:ext cx="291667" cy="342536"/>
          </a:xfrm>
          <a:prstGeom prst="ellipse">
            <a:avLst/>
          </a:prstGeom>
          <a:solidFill>
            <a:srgbClr val="FFFEF3"/>
          </a:solidFill>
          <a:ln w="508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1" name="bulb ray top"/>
          <p:cNvSpPr/>
          <p:nvPr/>
        </p:nvSpPr>
        <p:spPr>
          <a:xfrm>
            <a:off x="2121880" y="5888697"/>
            <a:ext cx="0" cy="51016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2" name="bulb ray left"/>
          <p:cNvSpPr/>
          <p:nvPr/>
        </p:nvSpPr>
        <p:spPr>
          <a:xfrm>
            <a:off x="1873963" y="6034457"/>
            <a:ext cx="72917" cy="3644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3" name="bulb ray right"/>
          <p:cNvSpPr/>
          <p:nvPr/>
        </p:nvSpPr>
        <p:spPr>
          <a:xfrm flipV="1">
            <a:off x="2296880" y="6012593"/>
            <a:ext cx="80209" cy="43728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4" name="bulb ray upper left"/>
          <p:cNvSpPr/>
          <p:nvPr/>
        </p:nvSpPr>
        <p:spPr>
          <a:xfrm>
            <a:off x="1968755" y="5925137"/>
            <a:ext cx="43750" cy="80168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5" name="bulb ray upper right"/>
          <p:cNvSpPr/>
          <p:nvPr/>
        </p:nvSpPr>
        <p:spPr>
          <a:xfrm flipH="1">
            <a:off x="2202088" y="5947001"/>
            <a:ext cx="43750" cy="7288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6" name="small folder body"/>
          <p:cNvSpPr/>
          <p:nvPr/>
        </p:nvSpPr>
        <p:spPr>
          <a:xfrm>
            <a:off x="4513552" y="1821998"/>
            <a:ext cx="561460" cy="29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37" name="codex cube left"/>
          <p:cNvSpPr/>
          <p:nvPr/>
        </p:nvSpPr>
        <p:spPr>
          <a:xfrm>
            <a:off x="8407311" y="1734542"/>
            <a:ext cx="277084" cy="41541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33333"/>
                </a:lnTo>
                <a:lnTo>
                  <a:pt x="100000" y="100000"/>
                </a:lnTo>
                <a:lnTo>
                  <a:pt x="0" y="65333"/>
                </a:lnTo>
                <a:close/>
              </a:path>
            </a:pathLst>
          </a:custGeom>
          <a:solidFill>
            <a:srgbClr val="FFF8F0"/>
          </a:solidFill>
          <a:ln w="381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38" name="bulb neck"/>
          <p:cNvSpPr/>
          <p:nvPr/>
        </p:nvSpPr>
        <p:spPr>
          <a:xfrm>
            <a:off x="2048963" y="6282249"/>
            <a:ext cx="160417" cy="109320"/>
          </a:xfrm>
          <a:prstGeom prst="roundRect">
            <a:avLst>
              <a:gd name="adj" fmla="val 20000"/>
            </a:avLst>
          </a:prstGeom>
          <a:solidFill>
            <a:srgbClr val="FFFEF3"/>
          </a:solidFill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9" name="bulb base 1"/>
          <p:cNvSpPr/>
          <p:nvPr/>
        </p:nvSpPr>
        <p:spPr>
          <a:xfrm>
            <a:off x="2048963" y="6413433"/>
            <a:ext cx="160417" cy="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40" name="bulb base 2"/>
          <p:cNvSpPr/>
          <p:nvPr/>
        </p:nvSpPr>
        <p:spPr>
          <a:xfrm>
            <a:off x="2078130" y="6464448"/>
            <a:ext cx="102084" cy="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41" name="codex cube right"/>
          <p:cNvSpPr/>
          <p:nvPr/>
        </p:nvSpPr>
        <p:spPr>
          <a:xfrm>
            <a:off x="8684395" y="1734542"/>
            <a:ext cx="277084" cy="41541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00000" y="0"/>
                </a:moveTo>
                <a:lnTo>
                  <a:pt x="0" y="33333"/>
                </a:lnTo>
                <a:lnTo>
                  <a:pt x="0" y="100000"/>
                </a:lnTo>
                <a:lnTo>
                  <a:pt x="100000" y="65333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42" name="cube C"/>
          <p:cNvSpPr/>
          <p:nvPr/>
        </p:nvSpPr>
        <p:spPr>
          <a:xfrm>
            <a:off x="8779187" y="1902166"/>
            <a:ext cx="160417" cy="17491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43" name="discord blue circle"/>
          <p:cNvSpPr/>
          <p:nvPr/>
        </p:nvSpPr>
        <p:spPr>
          <a:xfrm>
            <a:off x="918752" y="1712678"/>
            <a:ext cx="510418" cy="510159"/>
          </a:xfrm>
          <a:prstGeom prst="ellipse">
            <a:avLst/>
          </a:prstGeom>
          <a:solidFill>
            <a:srgbClr val="5667E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image icon frame"/>
          <p:cNvSpPr/>
          <p:nvPr/>
        </p:nvSpPr>
        <p:spPr>
          <a:xfrm>
            <a:off x="1115628" y="2405037"/>
            <a:ext cx="495834" cy="386555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381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45" name="pdf page body"/>
          <p:cNvSpPr/>
          <p:nvPr/>
        </p:nvSpPr>
        <p:spPr>
          <a:xfrm>
            <a:off x="1144794" y="3082820"/>
            <a:ext cx="422918" cy="488295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381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46" name="code page body"/>
          <p:cNvSpPr/>
          <p:nvPr/>
        </p:nvSpPr>
        <p:spPr>
          <a:xfrm>
            <a:off x="1144794" y="3789756"/>
            <a:ext cx="422918" cy="481007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38100">
            <a:solidFill>
              <a:srgbClr val="42628C"/>
            </a:solidFill>
          </a:ln>
        </p:spPr>
        <p:txBody>
          <a:bodyPr/>
          <a:lstStyle/>
          <a:p/>
        </p:txBody>
      </p:sp>
      <p:sp>
        <p:nvSpPr>
          <p:cNvPr id="47" name="image icon frame"/>
          <p:cNvSpPr/>
          <p:nvPr/>
        </p:nvSpPr>
        <p:spPr>
          <a:xfrm>
            <a:off x="4571886" y="2747573"/>
            <a:ext cx="371876" cy="289916"/>
          </a:xfrm>
          <a:prstGeom prst="roundRect">
            <a:avLst>
              <a:gd name="adj" fmla="val 10055"/>
            </a:avLst>
          </a:prstGeom>
          <a:solidFill>
            <a:srgbClr val="FFFFFF"/>
          </a:solidFill>
          <a:ln w="381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48" name="pdf page body"/>
          <p:cNvSpPr/>
          <p:nvPr/>
        </p:nvSpPr>
        <p:spPr>
          <a:xfrm>
            <a:off x="4593761" y="3206716"/>
            <a:ext cx="350001" cy="4154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381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49" name="code page body"/>
          <p:cNvSpPr/>
          <p:nvPr/>
        </p:nvSpPr>
        <p:spPr>
          <a:xfrm>
            <a:off x="4593761" y="3687724"/>
            <a:ext cx="357293" cy="408128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38100">
            <a:solidFill>
              <a:srgbClr val="42628C"/>
            </a:solidFill>
          </a:ln>
        </p:spPr>
        <p:txBody>
          <a:bodyPr/>
          <a:lstStyle/>
          <a:p/>
        </p:txBody>
      </p:sp>
      <p:sp>
        <p:nvSpPr>
          <p:cNvPr id="50" name="sync arrow upper arc"/>
          <p:cNvSpPr/>
          <p:nvPr/>
        </p:nvSpPr>
        <p:spPr>
          <a:xfrm>
            <a:off x="2647760" y="5316590"/>
            <a:ext cx="298463" cy="20694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6906" y="0"/>
                </a:moveTo>
                <a:lnTo>
                  <a:pt x="880" y="19544"/>
                </a:lnTo>
                <a:lnTo>
                  <a:pt x="0" y="40450"/>
                </a:lnTo>
                <a:lnTo>
                  <a:pt x="4352" y="60671"/>
                </a:lnTo>
                <a:lnTo>
                  <a:pt x="13511" y="78228"/>
                </a:lnTo>
                <a:lnTo>
                  <a:pt x="26579" y="91402"/>
                </a:lnTo>
                <a:lnTo>
                  <a:pt x="42278" y="98904"/>
                </a:lnTo>
                <a:lnTo>
                  <a:pt x="59071" y="100000"/>
                </a:lnTo>
                <a:lnTo>
                  <a:pt x="75314" y="94582"/>
                </a:lnTo>
                <a:lnTo>
                  <a:pt x="89417" y="83180"/>
                </a:lnTo>
                <a:lnTo>
                  <a:pt x="100000" y="66911"/>
                </a:lnTo>
              </a:path>
            </a:pathLst>
          </a:custGeom>
          <a:noFill/>
          <a:ln w="508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51" name="sync arrow lower arc"/>
          <p:cNvSpPr/>
          <p:nvPr/>
        </p:nvSpPr>
        <p:spPr>
          <a:xfrm>
            <a:off x="2647760" y="5316590"/>
            <a:ext cx="298463" cy="20694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00000" y="66911"/>
                </a:moveTo>
                <a:lnTo>
                  <a:pt x="89417" y="83180"/>
                </a:lnTo>
                <a:lnTo>
                  <a:pt x="75314" y="94582"/>
                </a:lnTo>
                <a:lnTo>
                  <a:pt x="59071" y="100000"/>
                </a:lnTo>
                <a:lnTo>
                  <a:pt x="42278" y="98904"/>
                </a:lnTo>
                <a:lnTo>
                  <a:pt x="26579" y="91402"/>
                </a:lnTo>
                <a:lnTo>
                  <a:pt x="13511" y="78228"/>
                </a:lnTo>
                <a:lnTo>
                  <a:pt x="4352" y="60671"/>
                </a:lnTo>
                <a:lnTo>
                  <a:pt x="0" y="40450"/>
                </a:lnTo>
                <a:lnTo>
                  <a:pt x="880" y="19544"/>
                </a:lnTo>
                <a:lnTo>
                  <a:pt x="6906" y="0"/>
                </a:lnTo>
              </a:path>
            </a:pathLst>
          </a:custGeom>
          <a:noFill/>
          <a:ln w="508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52" name="image icon frame"/>
          <p:cNvSpPr/>
          <p:nvPr/>
        </p:nvSpPr>
        <p:spPr>
          <a:xfrm>
            <a:off x="5009387" y="5203626"/>
            <a:ext cx="284376" cy="221701"/>
          </a:xfrm>
          <a:prstGeom prst="roundRect">
            <a:avLst>
              <a:gd name="adj" fmla="val 13149"/>
            </a:avLst>
          </a:prstGeom>
          <a:solidFill>
            <a:srgbClr val="FFFFFF"/>
          </a:solidFill>
          <a:ln w="381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53" name="pdf page body"/>
          <p:cNvSpPr/>
          <p:nvPr/>
        </p:nvSpPr>
        <p:spPr>
          <a:xfrm>
            <a:off x="7466684" y="5189050"/>
            <a:ext cx="226042" cy="2696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381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54" name="discord white body"/>
          <p:cNvSpPr/>
          <p:nvPr/>
        </p:nvSpPr>
        <p:spPr>
          <a:xfrm>
            <a:off x="1028127" y="1880302"/>
            <a:ext cx="328126" cy="21864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46667"/>
                </a:moveTo>
                <a:lnTo>
                  <a:pt x="11111" y="10000"/>
                </a:lnTo>
                <a:lnTo>
                  <a:pt x="35556" y="0"/>
                </a:lnTo>
                <a:lnTo>
                  <a:pt x="53333" y="6667"/>
                </a:lnTo>
                <a:lnTo>
                  <a:pt x="77778" y="0"/>
                </a:lnTo>
                <a:lnTo>
                  <a:pt x="100000" y="20000"/>
                </a:lnTo>
                <a:lnTo>
                  <a:pt x="95556" y="83333"/>
                </a:lnTo>
                <a:lnTo>
                  <a:pt x="73333" y="100000"/>
                </a:lnTo>
                <a:lnTo>
                  <a:pt x="53333" y="83333"/>
                </a:lnTo>
                <a:lnTo>
                  <a:pt x="35556" y="100000"/>
                </a:lnTo>
                <a:lnTo>
                  <a:pt x="11111" y="86667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5" name="image icon sun"/>
          <p:cNvSpPr/>
          <p:nvPr/>
        </p:nvSpPr>
        <p:spPr>
          <a:xfrm>
            <a:off x="1442878" y="2469463"/>
            <a:ext cx="59500" cy="59470"/>
          </a:xfrm>
          <a:prstGeom prst="ellipse">
            <a:avLst/>
          </a:prstGeom>
          <a:solidFill>
            <a:srgbClr val="C7B9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pdf folded corner"/>
          <p:cNvSpPr/>
          <p:nvPr/>
        </p:nvSpPr>
        <p:spPr>
          <a:xfrm>
            <a:off x="1428149" y="3082820"/>
            <a:ext cx="139563" cy="14648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4EF"/>
          </a:solidFill>
          <a:ln w="254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57" name="code folded corner"/>
          <p:cNvSpPr/>
          <p:nvPr/>
        </p:nvSpPr>
        <p:spPr>
          <a:xfrm>
            <a:off x="1428149" y="3789756"/>
            <a:ext cx="139563" cy="14430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EF4FF"/>
          </a:solidFill>
          <a:ln w="25400">
            <a:solidFill>
              <a:srgbClr val="42628C"/>
            </a:solidFill>
          </a:ln>
        </p:spPr>
        <p:txBody>
          <a:bodyPr/>
          <a:lstStyle/>
          <a:p/>
        </p:txBody>
      </p:sp>
      <p:sp>
        <p:nvSpPr>
          <p:cNvPr id="58" name="image icon sun"/>
          <p:cNvSpPr/>
          <p:nvPr/>
        </p:nvSpPr>
        <p:spPr>
          <a:xfrm>
            <a:off x="4817324" y="2795892"/>
            <a:ext cx="44625" cy="44603"/>
          </a:xfrm>
          <a:prstGeom prst="ellipse">
            <a:avLst/>
          </a:prstGeom>
          <a:solidFill>
            <a:srgbClr val="C7B9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pdf folded corner"/>
          <p:cNvSpPr/>
          <p:nvPr/>
        </p:nvSpPr>
        <p:spPr>
          <a:xfrm>
            <a:off x="4828261" y="3206716"/>
            <a:ext cx="115500" cy="124625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4EF"/>
          </a:solidFill>
          <a:ln w="254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60" name="code folded corner"/>
          <p:cNvSpPr/>
          <p:nvPr/>
        </p:nvSpPr>
        <p:spPr>
          <a:xfrm>
            <a:off x="4833147" y="3687724"/>
            <a:ext cx="117907" cy="122438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EF4FF"/>
          </a:solidFill>
          <a:ln w="25400">
            <a:solidFill>
              <a:srgbClr val="42628C"/>
            </a:solidFill>
          </a:ln>
        </p:spPr>
        <p:txBody>
          <a:bodyPr/>
          <a:lstStyle/>
          <a:p/>
        </p:txBody>
      </p:sp>
      <p:sp>
        <p:nvSpPr>
          <p:cNvPr id="61" name="sync arrow upper head"/>
          <p:cNvSpPr/>
          <p:nvPr/>
        </p:nvSpPr>
        <p:spPr>
          <a:xfrm>
            <a:off x="2916673" y="5269218"/>
            <a:ext cx="80209" cy="87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8333"/>
                </a:moveTo>
                <a:lnTo>
                  <a:pt x="100000" y="0"/>
                </a:lnTo>
                <a:lnTo>
                  <a:pt x="54545" y="100000"/>
                </a:lnTo>
                <a:close/>
              </a:path>
            </a:pathLst>
          </a:custGeom>
          <a:solidFill>
            <a:srgbClr val="286FD3"/>
          </a:solidFill>
          <a:ln w="254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62" name="sync arrow lower head"/>
          <p:cNvSpPr/>
          <p:nvPr/>
        </p:nvSpPr>
        <p:spPr>
          <a:xfrm>
            <a:off x="2617714" y="5407690"/>
            <a:ext cx="72917" cy="87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00000" y="91667"/>
                </a:moveTo>
                <a:lnTo>
                  <a:pt x="0" y="100000"/>
                </a:lnTo>
                <a:lnTo>
                  <a:pt x="50000" y="0"/>
                </a:lnTo>
                <a:close/>
              </a:path>
            </a:pathLst>
          </a:custGeom>
          <a:solidFill>
            <a:srgbClr val="286FD3"/>
          </a:solidFill>
          <a:ln w="254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63" name="image icon sun"/>
          <p:cNvSpPr/>
          <p:nvPr/>
        </p:nvSpPr>
        <p:spPr>
          <a:xfrm>
            <a:off x="5197075" y="5240576"/>
            <a:ext cx="34125" cy="34108"/>
          </a:xfrm>
          <a:prstGeom prst="ellipse">
            <a:avLst/>
          </a:prstGeom>
          <a:solidFill>
            <a:srgbClr val="C7B97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pdf folded corner"/>
          <p:cNvSpPr/>
          <p:nvPr/>
        </p:nvSpPr>
        <p:spPr>
          <a:xfrm>
            <a:off x="7618132" y="5189050"/>
            <a:ext cx="74594" cy="8089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4EF"/>
          </a:solidFill>
          <a:ln w="254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65" name="discord eye left"/>
          <p:cNvSpPr/>
          <p:nvPr/>
        </p:nvSpPr>
        <p:spPr>
          <a:xfrm>
            <a:off x="1101044" y="1960470"/>
            <a:ext cx="51042" cy="58304"/>
          </a:xfrm>
          <a:prstGeom prst="ellipse">
            <a:avLst/>
          </a:prstGeom>
          <a:solidFill>
            <a:srgbClr val="5667E9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discord eye right"/>
          <p:cNvSpPr/>
          <p:nvPr/>
        </p:nvSpPr>
        <p:spPr>
          <a:xfrm>
            <a:off x="1246878" y="1960470"/>
            <a:ext cx="51042" cy="58304"/>
          </a:xfrm>
          <a:prstGeom prst="ellipse">
            <a:avLst/>
          </a:prstGeom>
          <a:solidFill>
            <a:srgbClr val="5667E9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image icon mountains"/>
          <p:cNvSpPr/>
          <p:nvPr/>
        </p:nvSpPr>
        <p:spPr>
          <a:xfrm>
            <a:off x="1165211" y="2583447"/>
            <a:ext cx="396668" cy="15858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96875"/>
                </a:moveTo>
                <a:lnTo>
                  <a:pt x="31250" y="0"/>
                </a:lnTo>
                <a:lnTo>
                  <a:pt x="52500" y="68750"/>
                </a:lnTo>
                <a:lnTo>
                  <a:pt x="70000" y="21875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7EA87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68" name="image icon mountains"/>
          <p:cNvSpPr/>
          <p:nvPr/>
        </p:nvSpPr>
        <p:spPr>
          <a:xfrm>
            <a:off x="4609073" y="2881380"/>
            <a:ext cx="297501" cy="11894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96875"/>
                </a:moveTo>
                <a:lnTo>
                  <a:pt x="31250" y="0"/>
                </a:lnTo>
                <a:lnTo>
                  <a:pt x="52500" y="68750"/>
                </a:lnTo>
                <a:lnTo>
                  <a:pt x="70000" y="21875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7EA87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69" name="image icon mountains"/>
          <p:cNvSpPr/>
          <p:nvPr/>
        </p:nvSpPr>
        <p:spPr>
          <a:xfrm>
            <a:off x="5037824" y="5305949"/>
            <a:ext cx="227501" cy="90954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96875"/>
                </a:moveTo>
                <a:lnTo>
                  <a:pt x="31250" y="0"/>
                </a:lnTo>
                <a:lnTo>
                  <a:pt x="52500" y="68750"/>
                </a:lnTo>
                <a:lnTo>
                  <a:pt x="70000" y="21875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7EA87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70" name="code slash left"/>
          <p:cNvSpPr/>
          <p:nvPr/>
        </p:nvSpPr>
        <p:spPr>
          <a:xfrm flipH="1">
            <a:off x="1254170" y="3950091"/>
            <a:ext cx="51042" cy="116608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1" name="code slash mid"/>
          <p:cNvSpPr/>
          <p:nvPr/>
        </p:nvSpPr>
        <p:spPr>
          <a:xfrm flipH="1">
            <a:off x="1327086" y="3935515"/>
            <a:ext cx="36458" cy="160336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2" name="code slash right"/>
          <p:cNvSpPr/>
          <p:nvPr/>
        </p:nvSpPr>
        <p:spPr>
          <a:xfrm>
            <a:off x="1407295" y="3950091"/>
            <a:ext cx="51042" cy="80168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3" name="code slash right2"/>
          <p:cNvSpPr/>
          <p:nvPr/>
        </p:nvSpPr>
        <p:spPr>
          <a:xfrm flipH="1">
            <a:off x="1400003" y="4030259"/>
            <a:ext cx="58333" cy="72880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4" name="code slash left"/>
          <p:cNvSpPr/>
          <p:nvPr/>
        </p:nvSpPr>
        <p:spPr>
          <a:xfrm flipH="1">
            <a:off x="4703136" y="3848060"/>
            <a:ext cx="51042" cy="116608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5" name="code slash mid"/>
          <p:cNvSpPr/>
          <p:nvPr/>
        </p:nvSpPr>
        <p:spPr>
          <a:xfrm flipH="1">
            <a:off x="4776053" y="3833484"/>
            <a:ext cx="36458" cy="160336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6" name="code slash right"/>
          <p:cNvSpPr/>
          <p:nvPr/>
        </p:nvSpPr>
        <p:spPr>
          <a:xfrm>
            <a:off x="4856261" y="3848060"/>
            <a:ext cx="51042" cy="80168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7" name="code slash right2"/>
          <p:cNvSpPr/>
          <p:nvPr/>
        </p:nvSpPr>
        <p:spPr>
          <a:xfrm flipH="1">
            <a:off x="4848970" y="3928227"/>
            <a:ext cx="58333" cy="72880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8" name="PDF label"/>
          <p:cNvSpPr/>
          <p:nvPr/>
        </p:nvSpPr>
        <p:spPr>
          <a:xfrm>
            <a:off x="1181253" y="3265020"/>
            <a:ext cx="364584" cy="15304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79" name="PDF label"/>
          <p:cNvSpPr/>
          <p:nvPr/>
        </p:nvSpPr>
        <p:spPr>
          <a:xfrm>
            <a:off x="4630219" y="3388916"/>
            <a:ext cx="291667" cy="15304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80" name="PDF label"/>
          <p:cNvSpPr/>
          <p:nvPr/>
        </p:nvSpPr>
        <p:spPr>
          <a:xfrm>
            <a:off x="7503143" y="5371250"/>
            <a:ext cx="167709" cy="15304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81" name="title"/>
          <p:cNvSpPr txBox="1"/>
          <p:nvPr/>
        </p:nvSpPr>
        <p:spPr>
          <a:xfrm>
            <a:off x="3850009" y="437279"/>
            <a:ext cx="5045845" cy="62676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100" b="1">
                <a:solidFill>
                  <a:srgbClr val="061D58"/>
                </a:solidFill>
                <a:latin typeface="STHeiti"/>
                <a:ea typeface="STHeiti"/>
                <a:cs typeface="STHeiti"/>
              </a:rPr>
              <a:t>文件输入与附件</a:t>
            </a:r>
            <a:endParaRPr lang="zh-CN" sz="4100"/>
          </a:p>
        </p:txBody>
      </p:sp>
      <p:sp>
        <p:nvSpPr>
          <p:cNvPr id="82" name="discord attachment label"/>
          <p:cNvSpPr txBox="1"/>
          <p:nvPr/>
        </p:nvSpPr>
        <p:spPr>
          <a:xfrm>
            <a:off x="1509379" y="1821998"/>
            <a:ext cx="1319795" cy="28423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286FD3"/>
                </a:solidFill>
                <a:latin typeface="STHeiti"/>
                <a:ea typeface="STHeiti"/>
                <a:cs typeface="STHeiti"/>
              </a:rPr>
              <a:t>Discord 附件</a:t>
            </a:r>
            <a:endParaRPr lang="zh-CN" sz="2000"/>
          </a:p>
        </p:txBody>
      </p:sp>
      <p:sp>
        <p:nvSpPr>
          <p:cNvPr id="83" name="left image file"/>
          <p:cNvSpPr txBox="1"/>
          <p:nvPr/>
        </p:nvSpPr>
        <p:spPr>
          <a:xfrm>
            <a:off x="1801046" y="2448765"/>
            <a:ext cx="896877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截图.png</a:t>
            </a:r>
            <a:endParaRPr lang="zh-CN" sz="1700"/>
          </a:p>
        </p:txBody>
      </p:sp>
      <p:sp>
        <p:nvSpPr>
          <p:cNvPr id="84" name="left image size"/>
          <p:cNvSpPr txBox="1"/>
          <p:nvPr/>
        </p:nvSpPr>
        <p:spPr>
          <a:xfrm>
            <a:off x="1815629" y="2703845"/>
            <a:ext cx="590626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657085"/>
                </a:solidFill>
                <a:latin typeface="STHeiti"/>
                <a:ea typeface="STHeiti"/>
                <a:cs typeface="STHeiti"/>
              </a:rPr>
              <a:t>1.2 MB</a:t>
            </a:r>
            <a:endParaRPr lang="zh-CN" sz="1300"/>
          </a:p>
        </p:txBody>
      </p:sp>
      <p:sp>
        <p:nvSpPr>
          <p:cNvPr id="85" name="left pdf file"/>
          <p:cNvSpPr txBox="1"/>
          <p:nvPr/>
        </p:nvSpPr>
        <p:spPr>
          <a:xfrm>
            <a:off x="1808338" y="3162988"/>
            <a:ext cx="1101044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需求说明.pdf</a:t>
            </a:r>
            <a:endParaRPr lang="zh-CN" sz="1700"/>
          </a:p>
        </p:txBody>
      </p:sp>
      <p:sp>
        <p:nvSpPr>
          <p:cNvPr id="86" name="left pdf size"/>
          <p:cNvSpPr txBox="1"/>
          <p:nvPr/>
        </p:nvSpPr>
        <p:spPr>
          <a:xfrm>
            <a:off x="1815629" y="3410780"/>
            <a:ext cx="597918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657085"/>
                </a:solidFill>
                <a:latin typeface="STHeiti"/>
                <a:ea typeface="STHeiti"/>
                <a:cs typeface="STHeiti"/>
              </a:rPr>
              <a:t>245 KB</a:t>
            </a:r>
            <a:endParaRPr lang="zh-CN" sz="1300"/>
          </a:p>
        </p:txBody>
      </p:sp>
      <p:sp>
        <p:nvSpPr>
          <p:cNvPr id="87" name="left code file"/>
          <p:cNvSpPr txBox="1"/>
          <p:nvPr/>
        </p:nvSpPr>
        <p:spPr>
          <a:xfrm>
            <a:off x="1815629" y="3877211"/>
            <a:ext cx="802085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utils.py</a:t>
            </a:r>
            <a:endParaRPr lang="zh-CN" sz="1700"/>
          </a:p>
        </p:txBody>
      </p:sp>
      <p:sp>
        <p:nvSpPr>
          <p:cNvPr id="88" name="left code size"/>
          <p:cNvSpPr txBox="1"/>
          <p:nvPr/>
        </p:nvSpPr>
        <p:spPr>
          <a:xfrm>
            <a:off x="1822921" y="4125003"/>
            <a:ext cx="561460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657085"/>
                </a:solidFill>
                <a:latin typeface="STHeiti"/>
                <a:ea typeface="STHeiti"/>
                <a:cs typeface="STHeiti"/>
              </a:rPr>
              <a:t>3.1 KB</a:t>
            </a:r>
            <a:endParaRPr lang="zh-CN" sz="1300"/>
          </a:p>
        </p:txBody>
      </p:sp>
      <p:sp>
        <p:nvSpPr>
          <p:cNvPr id="89" name="left ellipsis"/>
          <p:cNvSpPr txBox="1"/>
          <p:nvPr/>
        </p:nvSpPr>
        <p:spPr>
          <a:xfrm>
            <a:off x="1830213" y="4482115"/>
            <a:ext cx="61979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......</a:t>
            </a:r>
            <a:endParaRPr lang="zh-CN" sz="1600"/>
          </a:p>
        </p:txBody>
      </p:sp>
      <p:sp>
        <p:nvSpPr>
          <p:cNvPr id="90" name="workspace inbox label"/>
          <p:cNvSpPr txBox="1"/>
          <p:nvPr/>
        </p:nvSpPr>
        <p:spPr>
          <a:xfrm>
            <a:off x="5250012" y="1690814"/>
            <a:ext cx="1531254" cy="48100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00">
                <a:solidFill>
                  <a:srgbClr val="2F6B34"/>
                </a:solidFill>
                <a:latin typeface="STHeiti"/>
                <a:ea typeface="STHeiti"/>
                <a:cs typeface="STHeiti"/>
              </a:rPr>
              <a:t>workspace inbox</a:t>
            </a:r>
            <a:endParaRPr lang="zh-CN" sz="1900"/>
          </a:p>
          <a:p>
            <a:pPr algn="left"/>
            <a:r>
              <a:rPr lang="zh-CN" sz="1900">
                <a:solidFill>
                  <a:srgbClr val="2F6B34"/>
                </a:solidFill>
                <a:latin typeface="STHeiti"/>
                <a:ea typeface="STHeiti"/>
                <a:cs typeface="STHeiti"/>
              </a:rPr>
              <a:t>（自动同步）</a:t>
            </a:r>
            <a:endParaRPr lang="zh-CN" sz="1900"/>
          </a:p>
        </p:txBody>
      </p:sp>
      <p:sp>
        <p:nvSpPr>
          <p:cNvPr id="91" name="folder image file"/>
          <p:cNvSpPr txBox="1"/>
          <p:nvPr/>
        </p:nvSpPr>
        <p:spPr>
          <a:xfrm>
            <a:off x="5111470" y="2805877"/>
            <a:ext cx="918752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截图.png</a:t>
            </a:r>
            <a:endParaRPr lang="zh-CN" sz="1700"/>
          </a:p>
        </p:txBody>
      </p:sp>
      <p:sp>
        <p:nvSpPr>
          <p:cNvPr id="92" name="folder pdf file"/>
          <p:cNvSpPr txBox="1"/>
          <p:nvPr/>
        </p:nvSpPr>
        <p:spPr>
          <a:xfrm>
            <a:off x="5111470" y="3294172"/>
            <a:ext cx="1152086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需求说明.pdf</a:t>
            </a:r>
            <a:endParaRPr lang="zh-CN" sz="1700"/>
          </a:p>
        </p:txBody>
      </p:sp>
      <p:sp>
        <p:nvSpPr>
          <p:cNvPr id="93" name="folder code file"/>
          <p:cNvSpPr txBox="1"/>
          <p:nvPr/>
        </p:nvSpPr>
        <p:spPr>
          <a:xfrm>
            <a:off x="5111470" y="3789756"/>
            <a:ext cx="802085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utils.py</a:t>
            </a:r>
            <a:endParaRPr lang="zh-CN" sz="1700"/>
          </a:p>
        </p:txBody>
      </p:sp>
      <p:sp>
        <p:nvSpPr>
          <p:cNvPr id="94" name="folder ellipsis"/>
          <p:cNvSpPr txBox="1"/>
          <p:nvPr/>
        </p:nvSpPr>
        <p:spPr>
          <a:xfrm>
            <a:off x="5118762" y="4044835"/>
            <a:ext cx="678127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......</a:t>
            </a:r>
            <a:endParaRPr lang="zh-CN" sz="1500"/>
          </a:p>
        </p:txBody>
      </p:sp>
      <p:sp>
        <p:nvSpPr>
          <p:cNvPr id="95" name="workspace path"/>
          <p:cNvSpPr txBox="1"/>
          <p:nvPr/>
        </p:nvSpPr>
        <p:spPr>
          <a:xfrm>
            <a:off x="4477094" y="4554995"/>
            <a:ext cx="2493756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2F6B34"/>
                </a:solidFill>
                <a:latin typeface="STHeiti"/>
                <a:ea typeface="STHeiti"/>
                <a:cs typeface="STHeiti"/>
              </a:rPr>
              <a:t>workspace/.bridge-inbox</a:t>
            </a:r>
            <a:endParaRPr lang="zh-CN" sz="2000"/>
          </a:p>
        </p:txBody>
      </p:sp>
      <p:sp>
        <p:nvSpPr>
          <p:cNvPr id="96" name="codex input label"/>
          <p:cNvSpPr txBox="1"/>
          <p:nvPr/>
        </p:nvSpPr>
        <p:spPr>
          <a:xfrm>
            <a:off x="9187522" y="1829286"/>
            <a:ext cx="1451045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EE6A00"/>
                </a:solidFill>
                <a:latin typeface="STHeiti"/>
                <a:ea typeface="STHeiti"/>
                <a:cs typeface="STHeiti"/>
              </a:rPr>
              <a:t>Codex 输入区</a:t>
            </a:r>
            <a:endParaRPr lang="zh-CN" sz="2000"/>
          </a:p>
        </p:txBody>
      </p:sp>
      <p:sp>
        <p:nvSpPr>
          <p:cNvPr id="97" name="codex card text"/>
          <p:cNvSpPr txBox="1"/>
          <p:nvPr/>
        </p:nvSpPr>
        <p:spPr>
          <a:xfrm>
            <a:off x="8312519" y="2579949"/>
            <a:ext cx="2377089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可读取 inbox 中的文件作为输入</a:t>
            </a:r>
            <a:endParaRPr lang="zh-CN" sz="1800"/>
          </a:p>
        </p:txBody>
      </p:sp>
      <p:sp>
        <p:nvSpPr>
          <p:cNvPr id="98" name="sample citation label"/>
          <p:cNvSpPr txBox="1"/>
          <p:nvPr/>
        </p:nvSpPr>
        <p:spPr>
          <a:xfrm>
            <a:off x="8312519" y="2995365"/>
            <a:ext cx="89687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EE6A00"/>
                </a:solidFill>
                <a:latin typeface="STHeiti"/>
                <a:ea typeface="STHeiti"/>
                <a:cs typeface="STHeiti"/>
              </a:rPr>
              <a:t>示例引用：</a:t>
            </a:r>
            <a:endParaRPr lang="zh-CN" sz="1700"/>
          </a:p>
        </p:txBody>
      </p:sp>
      <p:sp>
        <p:nvSpPr>
          <p:cNvPr id="99" name="sample prompt text"/>
          <p:cNvSpPr txBox="1"/>
          <p:nvPr/>
        </p:nvSpPr>
        <p:spPr>
          <a:xfrm>
            <a:off x="8356270" y="3345188"/>
            <a:ext cx="2646881" cy="61219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请根据 需求说明.pdf 生成接口文档，</a:t>
            </a:r>
            <a:endParaRPr lang="zh-CN" sz="1600"/>
          </a:p>
          <a:p>
            <a:pPr algn="left"/>
            <a:r>
              <a:rPr lang="zh-CN" sz="16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并参考 截图.png 中的界面。</a:t>
            </a:r>
            <a:endParaRPr lang="zh-CN" sz="1600"/>
          </a:p>
          <a:p>
            <a:pPr algn="left"/>
            <a:r>
              <a:rPr lang="zh-CN" sz="16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工具函数可查看 utils.py。</a:t>
            </a:r>
            <a:endParaRPr lang="zh-CN" sz="1600"/>
          </a:p>
        </p:txBody>
      </p:sp>
      <p:sp>
        <p:nvSpPr>
          <p:cNvPr id="100" name="sync legend text"/>
          <p:cNvSpPr txBox="1"/>
          <p:nvPr/>
        </p:nvSpPr>
        <p:spPr>
          <a:xfrm>
            <a:off x="3011465" y="5240066"/>
            <a:ext cx="1239586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86FD3"/>
                </a:solidFill>
                <a:latin typeface="STHeiti"/>
                <a:ea typeface="STHeiti"/>
                <a:cs typeface="STHeiti"/>
              </a:rPr>
              <a:t>附件自动同步</a:t>
            </a:r>
            <a:endParaRPr lang="zh-CN" sz="1800"/>
          </a:p>
        </p:txBody>
      </p:sp>
      <p:sp>
        <p:nvSpPr>
          <p:cNvPr id="101" name="image input legend text"/>
          <p:cNvSpPr txBox="1"/>
          <p:nvPr/>
        </p:nvSpPr>
        <p:spPr>
          <a:xfrm>
            <a:off x="5417721" y="5247354"/>
            <a:ext cx="1305211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F6B34"/>
                </a:solidFill>
                <a:latin typeface="STHeiti"/>
                <a:ea typeface="STHeiti"/>
                <a:cs typeface="STHeiti"/>
              </a:rPr>
              <a:t>图片可作为输入</a:t>
            </a:r>
            <a:endParaRPr lang="zh-CN" sz="1800"/>
          </a:p>
        </p:txBody>
      </p:sp>
      <p:sp>
        <p:nvSpPr>
          <p:cNvPr id="102" name="file reference legend text"/>
          <p:cNvSpPr txBox="1"/>
          <p:nvPr/>
        </p:nvSpPr>
        <p:spPr>
          <a:xfrm>
            <a:off x="7838560" y="5240066"/>
            <a:ext cx="1531254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EE6A00"/>
                </a:solidFill>
                <a:latin typeface="STHeiti"/>
                <a:ea typeface="STHeiti"/>
                <a:cs typeface="STHeiti"/>
              </a:rPr>
              <a:t>任务里引用文件名</a:t>
            </a:r>
            <a:endParaRPr lang="zh-CN" sz="1800"/>
          </a:p>
        </p:txBody>
      </p:sp>
      <p:sp>
        <p:nvSpPr>
          <p:cNvPr id="103" name="takeaway mixed text"/>
          <p:cNvSpPr txBox="1"/>
          <p:nvPr/>
        </p:nvSpPr>
        <p:spPr>
          <a:xfrm>
            <a:off x="2530214" y="5990729"/>
            <a:ext cx="6817724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2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把截图、文档、代码发到 </a:t>
            </a:r>
            <a:r>
              <a:rPr lang="zh-CN" sz="2200">
                <a:solidFill>
                  <a:srgbClr val="286FD3"/>
                </a:solidFill>
                <a:latin typeface="STHeiti"/>
                <a:ea typeface="STHeiti"/>
                <a:cs typeface="STHeiti"/>
              </a:rPr>
              <a:t>Discord</a:t>
            </a:r>
            <a:r>
              <a:rPr lang="zh-CN" sz="22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， </a:t>
            </a:r>
            <a:r>
              <a:rPr lang="zh-CN" sz="2200">
                <a:solidFill>
                  <a:srgbClr val="EE6A00"/>
                </a:solidFill>
                <a:latin typeface="STHeiti"/>
                <a:ea typeface="STHeiti"/>
                <a:cs typeface="STHeiti"/>
              </a:rPr>
              <a:t>Codex</a:t>
            </a:r>
            <a:r>
              <a:rPr lang="zh-CN" sz="22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 就能在项目里处理。</a:t>
            </a:r>
            <a:endParaRPr lang="zh-CN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286FD3"/>
      </a:accent1>
      <a:accent2>
        <a:srgbClr val="EE6A00"/>
      </a:accent2>
      <a:accent3>
        <a:srgbClr val="2F6B34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STHeiti">
      <a:majorFont>
        <a:latin typeface="STHeiti"/>
        <a:ea typeface="STHeiti"/>
        <a:cs typeface="STHeiti"/>
      </a:majorFont>
      <a:minorFont>
        <a:latin typeface="STHeiti"/>
        <a:ea typeface="STHeiti"/>
        <a:cs typeface="STHeit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Codex Discord Bridge Guide Page 4</dc:title>
</cp:coreProperties>
</file>