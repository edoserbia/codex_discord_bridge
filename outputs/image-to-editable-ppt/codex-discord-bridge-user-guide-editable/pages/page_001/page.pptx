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 flipV="1">
            <a:off x="1480212" y="1712678"/>
            <a:ext cx="6540640" cy="29152"/>
          </a:xfrm>
          <a:prstGeom prst="line">
            <a:avLst/>
          </a:prstGeom>
          <a:noFill/>
          <a:ln w="50800">
            <a:solidFill>
              <a:srgbClr val="8CBCEB"/>
            </a:solidFill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8035435" y="1719966"/>
            <a:ext cx="765627" cy="14576"/>
          </a:xfrm>
          <a:prstGeom prst="line">
            <a:avLst/>
          </a:prstGeom>
          <a:noFill/>
          <a:ln w="25400">
            <a:solidFill>
              <a:srgbClr val="A2C8EF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 flipV="1">
            <a:off x="751043" y="947439"/>
            <a:ext cx="94792" cy="145760"/>
          </a:xfrm>
          <a:prstGeom prst="line">
            <a:avLst/>
          </a:prstGeom>
          <a:noFill/>
          <a:ln w="254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845835" y="947439"/>
            <a:ext cx="94792" cy="153048"/>
          </a:xfrm>
          <a:prstGeom prst="line">
            <a:avLst/>
          </a:prstGeom>
          <a:noFill/>
          <a:ln w="254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 flipH="1">
            <a:off x="780210" y="1100487"/>
            <a:ext cx="160417" cy="65592"/>
          </a:xfrm>
          <a:prstGeom prst="line">
            <a:avLst/>
          </a:prstGeom>
          <a:noFill/>
          <a:ln w="254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 flipH="1" flipV="1">
            <a:off x="751043" y="1093199"/>
            <a:ext cx="29167" cy="72880"/>
          </a:xfrm>
          <a:prstGeom prst="line">
            <a:avLst/>
          </a:prstGeom>
          <a:noFill/>
          <a:ln w="254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1093753" y="1085911"/>
            <a:ext cx="269792" cy="196776"/>
          </a:xfrm>
          <a:prstGeom prst="line">
            <a:avLst/>
          </a:prstGeom>
          <a:noFill/>
          <a:ln w="38100">
            <a:solidFill>
              <a:srgbClr val="71A8E1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1020836" y="1238959"/>
            <a:ext cx="211459" cy="51016"/>
          </a:xfrm>
          <a:prstGeom prst="line">
            <a:avLst/>
          </a:prstGeom>
          <a:noFill/>
          <a:ln w="38100">
            <a:solidFill>
              <a:srgbClr val="71A8E1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991669" y="1392006"/>
            <a:ext cx="233334" cy="21864"/>
          </a:xfrm>
          <a:prstGeom prst="line">
            <a:avLst/>
          </a:prstGeom>
          <a:noFill/>
          <a:ln w="38100">
            <a:solidFill>
              <a:srgbClr val="71A8E1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 flipH="1">
            <a:off x="11112526" y="663207"/>
            <a:ext cx="116667" cy="204064"/>
          </a:xfrm>
          <a:prstGeom prst="line">
            <a:avLst/>
          </a:prstGeom>
          <a:noFill/>
          <a:ln w="381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 flipH="1">
            <a:off x="11265651" y="808967"/>
            <a:ext cx="204167" cy="174912"/>
          </a:xfrm>
          <a:prstGeom prst="line">
            <a:avLst/>
          </a:prstGeom>
          <a:noFill/>
          <a:ln w="381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 flipH="1" flipV="1">
            <a:off x="11338568" y="991167"/>
            <a:ext cx="262501" cy="7288"/>
          </a:xfrm>
          <a:prstGeom prst="line">
            <a:avLst/>
          </a:prstGeom>
          <a:noFill/>
          <a:ln w="381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 flipH="1" flipV="1">
            <a:off x="11375027" y="1115063"/>
            <a:ext cx="233334" cy="7288"/>
          </a:xfrm>
          <a:prstGeom prst="line">
            <a:avLst/>
          </a:prstGeom>
          <a:noFill/>
          <a:ln w="254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 flipV="1">
            <a:off x="2406256" y="2390461"/>
            <a:ext cx="1261461" cy="21864"/>
          </a:xfrm>
          <a:prstGeom prst="line">
            <a:avLst/>
          </a:prstGeom>
          <a:noFill/>
          <a:ln w="38100">
            <a:solidFill>
              <a:srgbClr val="4D91DD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 flipV="1">
            <a:off x="5191679" y="2375885"/>
            <a:ext cx="1735421" cy="21864"/>
          </a:xfrm>
          <a:prstGeom prst="line">
            <a:avLst/>
          </a:prstGeom>
          <a:noFill/>
          <a:ln w="38100">
            <a:solidFill>
              <a:srgbClr val="6E9B63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 flipV="1">
            <a:off x="8655229" y="2375885"/>
            <a:ext cx="1152086" cy="29152"/>
          </a:xfrm>
          <a:prstGeom prst="line">
            <a:avLst/>
          </a:prstGeom>
          <a:noFill/>
          <a:ln w="38100">
            <a:solidFill>
              <a:srgbClr val="E58A38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765627" y="2827741"/>
            <a:ext cx="72917" cy="138472"/>
          </a:xfrm>
          <a:prstGeom prst="line">
            <a:avLst/>
          </a:prstGeom>
          <a:noFill/>
          <a:ln w="381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896877" y="2791301"/>
            <a:ext cx="29167" cy="167624"/>
          </a:xfrm>
          <a:prstGeom prst="line">
            <a:avLst/>
          </a:prstGeom>
          <a:noFill/>
          <a:ln w="381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 flipH="1">
            <a:off x="998961" y="2798589"/>
            <a:ext cx="36458" cy="167624"/>
          </a:xfrm>
          <a:prstGeom prst="line">
            <a:avLst/>
          </a:prstGeom>
          <a:noFill/>
          <a:ln w="381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 flipH="1">
            <a:off x="11010442" y="2813165"/>
            <a:ext cx="65625" cy="138472"/>
          </a:xfrm>
          <a:prstGeom prst="line">
            <a:avLst/>
          </a:prstGeom>
          <a:noFill/>
          <a:ln w="381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 flipH="1">
            <a:off x="11134401" y="2798589"/>
            <a:ext cx="43750" cy="131184"/>
          </a:xfrm>
          <a:prstGeom prst="line">
            <a:avLst/>
          </a:prstGeom>
          <a:noFill/>
          <a:ln w="381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23" name="Ellipse 23"/>
          <p:cNvSpPr/>
          <p:nvPr/>
        </p:nvSpPr>
        <p:spPr>
          <a:xfrm>
            <a:off x="787502" y="2820453"/>
            <a:ext cx="1910421" cy="1719966"/>
          </a:xfrm>
          <a:prstGeom prst="ellipse">
            <a:avLst/>
          </a:prstGeom>
          <a:solidFill>
            <a:srgbClr val="EFF7FF"/>
          </a:solidFill>
          <a:ln w="38100">
            <a:solidFill>
              <a:srgbClr val="4C8FD8"/>
            </a:solidFill>
          </a:ln>
        </p:spPr>
        <p:txBody>
          <a:bodyPr/>
          <a:lstStyle/>
          <a:p/>
        </p:txBody>
      </p:sp>
      <p:sp>
        <p:nvSpPr>
          <p:cNvPr id="24" name="Ellipse 24"/>
          <p:cNvSpPr/>
          <p:nvPr/>
        </p:nvSpPr>
        <p:spPr>
          <a:xfrm>
            <a:off x="3857301" y="2820453"/>
            <a:ext cx="1691671" cy="1719966"/>
          </a:xfrm>
          <a:prstGeom prst="ellipse">
            <a:avLst/>
          </a:prstGeom>
          <a:solidFill>
            <a:srgbClr val="F3F8EE"/>
          </a:solidFill>
          <a:ln w="38100">
            <a:solidFill>
              <a:srgbClr val="5E7E50"/>
            </a:solidFill>
          </a:ln>
        </p:spPr>
        <p:txBody>
          <a:bodyPr/>
          <a:lstStyle/>
          <a:p/>
        </p:txBody>
      </p:sp>
      <p:sp>
        <p:nvSpPr>
          <p:cNvPr id="25" name="Ellipse 25"/>
          <p:cNvSpPr/>
          <p:nvPr/>
        </p:nvSpPr>
        <p:spPr>
          <a:xfrm>
            <a:off x="6664599" y="2813165"/>
            <a:ext cx="1691671" cy="1719966"/>
          </a:xfrm>
          <a:prstGeom prst="ellipse">
            <a:avLst/>
          </a:prstGeom>
          <a:solidFill>
            <a:srgbClr val="FFF4E8"/>
          </a:solidFill>
          <a:ln w="38100">
            <a:solidFill>
              <a:srgbClr val="D88B40"/>
            </a:solidFill>
          </a:ln>
        </p:spPr>
        <p:txBody>
          <a:bodyPr/>
          <a:lstStyle/>
          <a:p/>
        </p:txBody>
      </p:sp>
      <p:sp>
        <p:nvSpPr>
          <p:cNvPr id="26" name="Ellipse 26"/>
          <p:cNvSpPr/>
          <p:nvPr/>
        </p:nvSpPr>
        <p:spPr>
          <a:xfrm>
            <a:off x="9347939" y="2835029"/>
            <a:ext cx="1691671" cy="1698102"/>
          </a:xfrm>
          <a:prstGeom prst="ellipse">
            <a:avLst/>
          </a:prstGeom>
          <a:solidFill>
            <a:srgbClr val="F4FAFF"/>
          </a:solidFill>
          <a:ln w="38100">
            <a:solidFill>
              <a:srgbClr val="5E88B2"/>
            </a:solidFill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2741673" y="5750225"/>
            <a:ext cx="6737516" cy="670495"/>
          </a:xfrm>
          <a:prstGeom prst="roundRect">
            <a:avLst>
              <a:gd name="adj" fmla="val 15217"/>
            </a:avLst>
          </a:prstGeom>
          <a:noFill/>
          <a:ln w="25400">
            <a:solidFill>
              <a:srgbClr val="A9CBE8"/>
            </a:solidFill>
            <a:prstDash val="dash"/>
          </a:ln>
        </p:spPr>
        <p:txBody>
          <a:bodyPr/>
          <a:lstStyle/>
          <a:p/>
        </p:txBody>
      </p:sp>
      <p:sp>
        <p:nvSpPr>
          <p:cNvPr id="28" name="Ellipse 28"/>
          <p:cNvSpPr/>
          <p:nvPr/>
        </p:nvSpPr>
        <p:spPr>
          <a:xfrm>
            <a:off x="816669" y="2835029"/>
            <a:ext cx="1852088" cy="1698102"/>
          </a:xfrm>
          <a:prstGeom prst="ellipse">
            <a:avLst/>
          </a:prstGeom>
          <a:noFill/>
          <a:ln w="12700">
            <a:solidFill>
              <a:srgbClr val="4C8FD8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969138" y="4000451"/>
            <a:ext cx="327470" cy="327304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933481" y="3797189"/>
            <a:ext cx="585741" cy="585444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952513" y="3648587"/>
            <a:ext cx="734710" cy="734338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995898" y="3524327"/>
            <a:ext cx="834971" cy="834548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1055325" y="3416100"/>
            <a:ext cx="903148" cy="902691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1127440" y="3320555"/>
            <a:ext cx="945950" cy="945471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1210492" y="3235941"/>
            <a:ext cx="966877" cy="966388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1303753" y="3161531"/>
            <a:ext cx="967315" cy="966825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1407295" y="3097396"/>
            <a:ext cx="947263" cy="946783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1521701" y="3044121"/>
            <a:ext cx="905481" cy="905023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1648650" y="3003381"/>
            <a:ext cx="838617" cy="838192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1791567" y="2978602"/>
            <a:ext cx="739887" cy="739512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1958182" y="2977509"/>
            <a:ext cx="593616" cy="593315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2176495" y="3028088"/>
            <a:ext cx="344022" cy="343847"/>
          </a:xfrm>
          <a:prstGeom prst="line">
            <a:avLst/>
          </a:prstGeom>
          <a:noFill/>
          <a:ln w="12700">
            <a:solidFill>
              <a:srgbClr val="D8E8FA"/>
            </a:solidFill>
          </a:ln>
        </p:spPr>
        <p:txBody>
          <a:bodyPr/>
          <a:lstStyle/>
          <a:p/>
        </p:txBody>
      </p:sp>
      <p:sp>
        <p:nvSpPr>
          <p:cNvPr id="43" name="Ellipse 43"/>
          <p:cNvSpPr/>
          <p:nvPr/>
        </p:nvSpPr>
        <p:spPr>
          <a:xfrm>
            <a:off x="3886467" y="2835029"/>
            <a:ext cx="1633337" cy="1698102"/>
          </a:xfrm>
          <a:prstGeom prst="ellipse">
            <a:avLst/>
          </a:prstGeom>
          <a:noFill/>
          <a:ln w="12700">
            <a:solidFill>
              <a:srgbClr val="5E7E50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4013270" y="3916494"/>
            <a:ext cx="471334" cy="471096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4006634" y="3742238"/>
            <a:ext cx="649106" cy="648777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4032374" y="3600341"/>
            <a:ext cx="762200" cy="761814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4077145" y="3477465"/>
            <a:ext cx="837158" cy="836734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4136062" y="3368728"/>
            <a:ext cx="883752" cy="883305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4207010" y="3272017"/>
            <a:ext cx="906429" cy="905970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4289041" y="3186383"/>
            <a:ext cx="906867" cy="906408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4382083" y="3111754"/>
            <a:ext cx="885283" cy="884835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4487156" y="3049150"/>
            <a:ext cx="839710" cy="839285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4606157" y="3000466"/>
            <a:ext cx="766137" cy="765749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4743969" y="2970585"/>
            <a:ext cx="655085" cy="654753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4913136" y="2972043"/>
            <a:ext cx="481251" cy="481007"/>
          </a:xfrm>
          <a:prstGeom prst="line">
            <a:avLst/>
          </a:prstGeom>
          <a:noFill/>
          <a:ln w="12700">
            <a:solidFill>
              <a:srgbClr val="E1ECD8"/>
            </a:solidFill>
          </a:ln>
        </p:spPr>
        <p:txBody>
          <a:bodyPr/>
          <a:lstStyle/>
          <a:p/>
        </p:txBody>
      </p:sp>
      <p:sp>
        <p:nvSpPr>
          <p:cNvPr id="56" name="Ellipse 56"/>
          <p:cNvSpPr/>
          <p:nvPr/>
        </p:nvSpPr>
        <p:spPr>
          <a:xfrm>
            <a:off x="6693766" y="2827741"/>
            <a:ext cx="1633337" cy="1698102"/>
          </a:xfrm>
          <a:prstGeom prst="ellipse">
            <a:avLst/>
          </a:prstGeom>
          <a:noFill/>
          <a:ln w="12700">
            <a:solidFill>
              <a:srgbClr val="D88B40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6820568" y="3909206"/>
            <a:ext cx="471334" cy="471096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6813933" y="3734950"/>
            <a:ext cx="649106" cy="648777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6839672" y="3593053"/>
            <a:ext cx="762200" cy="761814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6884443" y="3470177"/>
            <a:ext cx="837158" cy="836734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6943360" y="3361440"/>
            <a:ext cx="883752" cy="883305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7014308" y="3264729"/>
            <a:ext cx="906429" cy="905970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7096340" y="3179095"/>
            <a:ext cx="906867" cy="906408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>
            <a:off x="7189381" y="3104466"/>
            <a:ext cx="885283" cy="884835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>
            <a:off x="7294455" y="3041862"/>
            <a:ext cx="839710" cy="839285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>
            <a:off x="7413455" y="2993178"/>
            <a:ext cx="766137" cy="765749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>
            <a:off x="7551268" y="2963297"/>
            <a:ext cx="655085" cy="654753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7720435" y="2964755"/>
            <a:ext cx="481251" cy="481007"/>
          </a:xfrm>
          <a:prstGeom prst="line">
            <a:avLst/>
          </a:prstGeom>
          <a:noFill/>
          <a:ln w="12700">
            <a:solidFill>
              <a:srgbClr val="F5DFBF"/>
            </a:solidFill>
          </a:ln>
        </p:spPr>
        <p:txBody>
          <a:bodyPr/>
          <a:lstStyle/>
          <a:p/>
        </p:txBody>
      </p:sp>
      <p:sp>
        <p:nvSpPr>
          <p:cNvPr id="69" name="Ellipse 69"/>
          <p:cNvSpPr/>
          <p:nvPr/>
        </p:nvSpPr>
        <p:spPr>
          <a:xfrm>
            <a:off x="9377105" y="2849605"/>
            <a:ext cx="1633337" cy="1676238"/>
          </a:xfrm>
          <a:prstGeom prst="ellipse">
            <a:avLst/>
          </a:prstGeom>
          <a:noFill/>
          <a:ln w="12700">
            <a:solidFill>
              <a:srgbClr val="5E88B2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>
            <a:off x="9503616" y="3919846"/>
            <a:ext cx="458647" cy="458415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>
            <a:off x="9496397" y="3745007"/>
            <a:ext cx="640064" cy="639740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9522647" y="3603620"/>
            <a:ext cx="754471" cy="754088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9568220" y="3481546"/>
            <a:ext cx="830231" cy="829811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>
            <a:off x="9628158" y="3373830"/>
            <a:ext cx="877190" cy="876745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9700200" y="3278211"/>
            <a:ext cx="900013" cy="899557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>
            <a:off x="9783471" y="3193817"/>
            <a:ext cx="900450" cy="899994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>
            <a:off x="9877825" y="3120499"/>
            <a:ext cx="878648" cy="878203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>
            <a:off x="9984211" y="3059207"/>
            <a:ext cx="832783" cy="832362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79" name="Line 79"/>
          <p:cNvSpPr/>
          <p:nvPr/>
        </p:nvSpPr>
        <p:spPr>
          <a:xfrm>
            <a:off x="10104815" y="3012127"/>
            <a:ext cx="758481" cy="758097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>
            <a:off x="10244451" y="2984068"/>
            <a:ext cx="646116" cy="645789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>
            <a:off x="10416535" y="2988441"/>
            <a:ext cx="468855" cy="468618"/>
          </a:xfrm>
          <a:prstGeom prst="line">
            <a:avLst/>
          </a:prstGeom>
          <a:noFill/>
          <a:ln w="12700">
            <a:solidFill>
              <a:srgbClr val="D9E9F7"/>
            </a:solidFill>
          </a:ln>
        </p:spPr>
        <p:txBody>
          <a:bodyPr/>
          <a:lstStyle/>
          <a:p/>
        </p:txBody>
      </p:sp>
      <p:sp>
        <p:nvSpPr>
          <p:cNvPr id="82" name="Roundrect 82"/>
          <p:cNvSpPr/>
          <p:nvPr/>
        </p:nvSpPr>
        <p:spPr>
          <a:xfrm>
            <a:off x="1188544" y="4591435"/>
            <a:ext cx="1181253" cy="386264"/>
          </a:xfrm>
          <a:prstGeom prst="roundRect">
            <a:avLst>
              <a:gd name="adj" fmla="val 22642"/>
            </a:avLst>
          </a:prstGeom>
          <a:solidFill>
            <a:srgbClr val="F6FBFF"/>
          </a:solidFill>
          <a:ln w="254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83" name="Roundrect 83"/>
          <p:cNvSpPr/>
          <p:nvPr/>
        </p:nvSpPr>
        <p:spPr>
          <a:xfrm>
            <a:off x="4141676" y="4591435"/>
            <a:ext cx="1188544" cy="386264"/>
          </a:xfrm>
          <a:prstGeom prst="roundRect">
            <a:avLst>
              <a:gd name="adj" fmla="val 22642"/>
            </a:avLst>
          </a:prstGeom>
          <a:solidFill>
            <a:srgbClr val="F7FBF4"/>
          </a:solidFill>
          <a:ln w="254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84" name="Roundrect 84"/>
          <p:cNvSpPr/>
          <p:nvPr/>
        </p:nvSpPr>
        <p:spPr>
          <a:xfrm>
            <a:off x="6817724" y="4591435"/>
            <a:ext cx="1188544" cy="386264"/>
          </a:xfrm>
          <a:prstGeom prst="roundRect">
            <a:avLst>
              <a:gd name="adj" fmla="val 22642"/>
            </a:avLst>
          </a:prstGeom>
          <a:solidFill>
            <a:srgbClr val="FFF7EE"/>
          </a:solidFill>
          <a:ln w="25400">
            <a:solidFill>
              <a:srgbClr val="C96A25"/>
            </a:solidFill>
          </a:ln>
        </p:spPr>
        <p:txBody>
          <a:bodyPr/>
          <a:lstStyle/>
          <a:p/>
        </p:txBody>
      </p:sp>
      <p:sp>
        <p:nvSpPr>
          <p:cNvPr id="85" name="Roundrect 85"/>
          <p:cNvSpPr/>
          <p:nvPr/>
        </p:nvSpPr>
        <p:spPr>
          <a:xfrm>
            <a:off x="9610439" y="4598723"/>
            <a:ext cx="1465628" cy="378976"/>
          </a:xfrm>
          <a:prstGeom prst="roundRect">
            <a:avLst>
              <a:gd name="adj" fmla="val 23077"/>
            </a:avLst>
          </a:prstGeom>
          <a:solidFill>
            <a:srgbClr val="F6FBFF"/>
          </a:solidFill>
          <a:ln w="25400">
            <a:solidFill>
              <a:srgbClr val="4E82B6"/>
            </a:solidFill>
          </a:ln>
        </p:spPr>
        <p:txBody>
          <a:bodyPr/>
          <a:lstStyle/>
          <a:p/>
        </p:txBody>
      </p:sp>
      <p:sp>
        <p:nvSpPr>
          <p:cNvPr id="86" name="Roundrect 86"/>
          <p:cNvSpPr/>
          <p:nvPr/>
        </p:nvSpPr>
        <p:spPr>
          <a:xfrm>
            <a:off x="2945840" y="5895985"/>
            <a:ext cx="1742712" cy="371688"/>
          </a:xfrm>
          <a:prstGeom prst="roundRect">
            <a:avLst>
              <a:gd name="adj" fmla="val 27451"/>
            </a:avLst>
          </a:prstGeom>
          <a:solidFill>
            <a:srgbClr val="F3F9FF"/>
          </a:solidFill>
          <a:ln w="19050">
            <a:solidFill>
              <a:srgbClr val="BBD8F4"/>
            </a:solidFill>
          </a:ln>
        </p:spPr>
        <p:txBody>
          <a:bodyPr/>
          <a:lstStyle/>
          <a:p/>
        </p:txBody>
      </p:sp>
      <p:sp>
        <p:nvSpPr>
          <p:cNvPr id="87" name="Roundrect 87"/>
          <p:cNvSpPr/>
          <p:nvPr/>
        </p:nvSpPr>
        <p:spPr>
          <a:xfrm>
            <a:off x="5096887" y="5895985"/>
            <a:ext cx="1837504" cy="371688"/>
          </a:xfrm>
          <a:prstGeom prst="roundRect">
            <a:avLst>
              <a:gd name="adj" fmla="val 27451"/>
            </a:avLst>
          </a:prstGeom>
          <a:solidFill>
            <a:srgbClr val="F3FAEF"/>
          </a:solidFill>
          <a:ln w="19050">
            <a:solidFill>
              <a:srgbClr val="C2DDB8"/>
            </a:solidFill>
          </a:ln>
        </p:spPr>
        <p:txBody>
          <a:bodyPr/>
          <a:lstStyle/>
          <a:p/>
        </p:txBody>
      </p:sp>
      <p:sp>
        <p:nvSpPr>
          <p:cNvPr id="88" name="Roundrect 88"/>
          <p:cNvSpPr/>
          <p:nvPr/>
        </p:nvSpPr>
        <p:spPr>
          <a:xfrm>
            <a:off x="7335434" y="5895985"/>
            <a:ext cx="1946880" cy="371688"/>
          </a:xfrm>
          <a:prstGeom prst="roundRect">
            <a:avLst>
              <a:gd name="adj" fmla="val 27451"/>
            </a:avLst>
          </a:prstGeom>
          <a:solidFill>
            <a:srgbClr val="FFF5EB"/>
          </a:solidFill>
          <a:ln w="19050">
            <a:solidFill>
              <a:srgbClr val="F0C59F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>
            <a:off x="2829173" y="3673148"/>
            <a:ext cx="918752" cy="0"/>
          </a:xfrm>
          <a:prstGeom prst="line">
            <a:avLst/>
          </a:prstGeom>
          <a:noFill/>
          <a:ln w="635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>
            <a:off x="3594800" y="3541964"/>
            <a:ext cx="167709" cy="131184"/>
          </a:xfrm>
          <a:prstGeom prst="line">
            <a:avLst/>
          </a:prstGeom>
          <a:noFill/>
          <a:ln w="635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 flipV="1">
            <a:off x="3594800" y="3673148"/>
            <a:ext cx="167709" cy="131184"/>
          </a:xfrm>
          <a:prstGeom prst="line">
            <a:avLst/>
          </a:prstGeom>
          <a:noFill/>
          <a:ln w="63500">
            <a:solidFill>
              <a:srgbClr val="2F83D8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>
            <a:off x="5672930" y="3673148"/>
            <a:ext cx="787502" cy="0"/>
          </a:xfrm>
          <a:prstGeom prst="line">
            <a:avLst/>
          </a:prstGeom>
          <a:noFill/>
          <a:ln w="635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>
            <a:off x="6307306" y="3541964"/>
            <a:ext cx="167709" cy="131184"/>
          </a:xfrm>
          <a:prstGeom prst="line">
            <a:avLst/>
          </a:prstGeom>
          <a:noFill/>
          <a:ln w="635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 flipV="1">
            <a:off x="6307306" y="3673148"/>
            <a:ext cx="167709" cy="131184"/>
          </a:xfrm>
          <a:prstGeom prst="line">
            <a:avLst/>
          </a:prstGeom>
          <a:noFill/>
          <a:ln w="635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>
            <a:off x="8356270" y="3403492"/>
            <a:ext cx="977086" cy="0"/>
          </a:xfrm>
          <a:prstGeom prst="line">
            <a:avLst/>
          </a:prstGeom>
          <a:noFill/>
          <a:ln w="50800">
            <a:solidFill>
              <a:srgbClr val="C96A25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>
            <a:off x="9180230" y="3272308"/>
            <a:ext cx="175000" cy="131184"/>
          </a:xfrm>
          <a:prstGeom prst="line">
            <a:avLst/>
          </a:prstGeom>
          <a:noFill/>
          <a:ln w="50800">
            <a:solidFill>
              <a:srgbClr val="C96A25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 flipV="1">
            <a:off x="9180230" y="3403492"/>
            <a:ext cx="175000" cy="131184"/>
          </a:xfrm>
          <a:prstGeom prst="line">
            <a:avLst/>
          </a:prstGeom>
          <a:noFill/>
          <a:ln w="50800">
            <a:solidFill>
              <a:srgbClr val="C96A25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 flipH="1">
            <a:off x="8334395" y="3782468"/>
            <a:ext cx="977086" cy="0"/>
          </a:xfrm>
          <a:prstGeom prst="line">
            <a:avLst/>
          </a:prstGeom>
          <a:noFill/>
          <a:ln w="508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 flipH="1">
            <a:off x="8319811" y="3651284"/>
            <a:ext cx="175000" cy="131184"/>
          </a:xfrm>
          <a:prstGeom prst="line">
            <a:avLst/>
          </a:prstGeom>
          <a:noFill/>
          <a:ln w="508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100" name="Line 100"/>
          <p:cNvSpPr/>
          <p:nvPr/>
        </p:nvSpPr>
        <p:spPr>
          <a:xfrm flipH="1" flipV="1">
            <a:off x="8319811" y="3782468"/>
            <a:ext cx="175000" cy="131184"/>
          </a:xfrm>
          <a:prstGeom prst="line">
            <a:avLst/>
          </a:prstGeom>
          <a:noFill/>
          <a:ln w="50800">
            <a:solidFill>
              <a:srgbClr val="4F7B42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 flipV="1">
            <a:off x="6905224" y="3192140"/>
            <a:ext cx="473959" cy="262368"/>
          </a:xfrm>
          <a:prstGeom prst="line">
            <a:avLst/>
          </a:prstGeom>
          <a:noFill/>
          <a:ln w="38100">
            <a:solidFill>
              <a:srgbClr val="C96A25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>
            <a:off x="7379184" y="3192140"/>
            <a:ext cx="481251" cy="262368"/>
          </a:xfrm>
          <a:prstGeom prst="line">
            <a:avLst/>
          </a:prstGeom>
          <a:noFill/>
          <a:ln w="38100">
            <a:solidFill>
              <a:srgbClr val="1F1F1F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 flipH="1">
            <a:off x="7853143" y="3454508"/>
            <a:ext cx="7292" cy="510159"/>
          </a:xfrm>
          <a:prstGeom prst="line">
            <a:avLst/>
          </a:prstGeom>
          <a:noFill/>
          <a:ln w="38100">
            <a:solidFill>
              <a:srgbClr val="C96A25"/>
            </a:solidFill>
          </a:ln>
        </p:spPr>
        <p:txBody>
          <a:bodyPr/>
          <a:lstStyle/>
          <a:p/>
        </p:txBody>
      </p:sp>
      <p:sp>
        <p:nvSpPr>
          <p:cNvPr id="104" name="Line 104"/>
          <p:cNvSpPr/>
          <p:nvPr/>
        </p:nvSpPr>
        <p:spPr>
          <a:xfrm flipH="1">
            <a:off x="7393767" y="3964667"/>
            <a:ext cx="459376" cy="276944"/>
          </a:xfrm>
          <a:prstGeom prst="line">
            <a:avLst/>
          </a:prstGeom>
          <a:noFill/>
          <a:ln w="38100">
            <a:solidFill>
              <a:srgbClr val="1F1F1F"/>
            </a:solidFill>
          </a:ln>
        </p:spPr>
        <p:txBody>
          <a:bodyPr/>
          <a:lstStyle/>
          <a:p/>
        </p:txBody>
      </p:sp>
      <p:sp>
        <p:nvSpPr>
          <p:cNvPr id="105" name="Line 105"/>
          <p:cNvSpPr/>
          <p:nvPr/>
        </p:nvSpPr>
        <p:spPr>
          <a:xfrm flipH="1" flipV="1">
            <a:off x="6905224" y="3979243"/>
            <a:ext cx="488543" cy="262368"/>
          </a:xfrm>
          <a:prstGeom prst="line">
            <a:avLst/>
          </a:prstGeom>
          <a:noFill/>
          <a:ln w="38100">
            <a:solidFill>
              <a:srgbClr val="1F1F1F"/>
            </a:solidFill>
          </a:ln>
        </p:spPr>
        <p:txBody>
          <a:bodyPr/>
          <a:lstStyle/>
          <a:p/>
        </p:txBody>
      </p:sp>
      <p:sp>
        <p:nvSpPr>
          <p:cNvPr id="106" name="Line 106"/>
          <p:cNvSpPr/>
          <p:nvPr/>
        </p:nvSpPr>
        <p:spPr>
          <a:xfrm flipV="1">
            <a:off x="6905224" y="3454508"/>
            <a:ext cx="0" cy="524735"/>
          </a:xfrm>
          <a:prstGeom prst="line">
            <a:avLst/>
          </a:prstGeom>
          <a:noFill/>
          <a:ln w="38100">
            <a:solidFill>
              <a:srgbClr val="1F1F1F"/>
            </a:solidFill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>
            <a:off x="6905224" y="3454508"/>
            <a:ext cx="488543" cy="255080"/>
          </a:xfrm>
          <a:prstGeom prst="line">
            <a:avLst/>
          </a:prstGeom>
          <a:noFill/>
          <a:ln w="38100">
            <a:solidFill>
              <a:srgbClr val="C96A25"/>
            </a:solidFill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 flipV="1">
            <a:off x="7393767" y="3454508"/>
            <a:ext cx="466668" cy="255080"/>
          </a:xfrm>
          <a:prstGeom prst="line">
            <a:avLst/>
          </a:prstGeom>
          <a:noFill/>
          <a:ln w="38100">
            <a:solidFill>
              <a:srgbClr val="1F1F1F"/>
            </a:solidFill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>
            <a:off x="7393767" y="3709588"/>
            <a:ext cx="0" cy="532023"/>
          </a:xfrm>
          <a:prstGeom prst="line">
            <a:avLst/>
          </a:prstGeom>
          <a:noFill/>
          <a:ln w="38100">
            <a:solidFill>
              <a:srgbClr val="1F1F1F"/>
            </a:solidFill>
          </a:ln>
        </p:spPr>
        <p:txBody>
          <a:bodyPr/>
          <a:lstStyle/>
          <a:p/>
        </p:txBody>
      </p:sp>
      <p:sp>
        <p:nvSpPr>
          <p:cNvPr id="110" name="Line 110"/>
          <p:cNvSpPr/>
          <p:nvPr/>
        </p:nvSpPr>
        <p:spPr>
          <a:xfrm>
            <a:off x="6912516" y="3993819"/>
            <a:ext cx="481251" cy="262368"/>
          </a:xfrm>
          <a:prstGeom prst="line">
            <a:avLst/>
          </a:prstGeom>
          <a:noFill/>
          <a:ln w="12700">
            <a:solidFill>
              <a:srgbClr val="1F1F1F"/>
            </a:solidFill>
          </a:ln>
        </p:spPr>
        <p:txBody>
          <a:bodyPr/>
          <a:lstStyle/>
          <a:p/>
        </p:txBody>
      </p:sp>
      <p:pic>
        <p:nvPicPr>
          <p:cNvPr id="111" name="Discord logo drawing"/>
          <p:cNvPicPr/>
          <p:nvPr/>
        </p:nvPicPr>
        <p:blipFill>
          <a:blip r:embed="rId2"/>
          <a:stretch>
            <a:fillRect/>
          </a:stretch>
        </p:blipFill>
        <p:spPr>
          <a:xfrm>
            <a:off x="1071878" y="3090108"/>
            <a:ext cx="1312503" cy="1122351"/>
          </a:xfrm>
          <a:prstGeom prst="rect">
            <a:avLst/>
          </a:prstGeom>
        </p:spPr>
      </p:pic>
      <p:pic>
        <p:nvPicPr>
          <p:cNvPr id="112" name="Bridge icon drawing"/>
          <p:cNvPicPr/>
          <p:nvPr/>
        </p:nvPicPr>
        <p:blipFill>
          <a:blip r:embed="rId3"/>
          <a:stretch>
            <a:fillRect/>
          </a:stretch>
        </p:blipFill>
        <p:spPr>
          <a:xfrm>
            <a:off x="3995843" y="2973501"/>
            <a:ext cx="1370837" cy="1253535"/>
          </a:xfrm>
          <a:prstGeom prst="rect">
            <a:avLst/>
          </a:prstGeom>
        </p:spPr>
      </p:pic>
      <p:pic>
        <p:nvPicPr>
          <p:cNvPr id="113" name="Laptop icon drawing"/>
          <p:cNvPicPr/>
          <p:nvPr/>
        </p:nvPicPr>
        <p:blipFill>
          <a:blip r:embed="rId4"/>
          <a:stretch>
            <a:fillRect/>
          </a:stretch>
        </p:blipFill>
        <p:spPr>
          <a:xfrm>
            <a:off x="9566689" y="3228580"/>
            <a:ext cx="1312503" cy="1042183"/>
          </a:xfrm>
          <a:prstGeom prst="rect">
            <a:avLst/>
          </a:prstGeom>
        </p:spPr>
      </p:pic>
      <p:pic>
        <p:nvPicPr>
          <p:cNvPr id="114" name="Envelope icon drawing"/>
          <p:cNvPicPr/>
          <p:nvPr/>
        </p:nvPicPr>
        <p:blipFill>
          <a:blip r:embed="rId5"/>
          <a:stretch>
            <a:fillRect/>
          </a:stretch>
        </p:blipFill>
        <p:spPr>
          <a:xfrm>
            <a:off x="3069799" y="3891787"/>
            <a:ext cx="371876" cy="255080"/>
          </a:xfrm>
          <a:prstGeom prst="rect">
            <a:avLst/>
          </a:prstGeom>
        </p:spPr>
      </p:pic>
      <p:pic>
        <p:nvPicPr>
          <p:cNvPr id="115" name="Result image icon"/>
          <p:cNvPicPr/>
          <p:nvPr/>
        </p:nvPicPr>
        <p:blipFill>
          <a:blip r:embed="rId6"/>
          <a:stretch>
            <a:fillRect/>
          </a:stretch>
        </p:blipFill>
        <p:spPr>
          <a:xfrm>
            <a:off x="8472936" y="3935515"/>
            <a:ext cx="313542" cy="269656"/>
          </a:xfrm>
          <a:prstGeom prst="rect">
            <a:avLst/>
          </a:prstGeom>
        </p:spPr>
      </p:pic>
      <p:pic>
        <p:nvPicPr>
          <p:cNvPr id="116" name="Result file icon"/>
          <p:cNvPicPr/>
          <p:nvPr/>
        </p:nvPicPr>
        <p:blipFill>
          <a:blip r:embed="rId7"/>
          <a:stretch>
            <a:fillRect/>
          </a:stretch>
        </p:blipFill>
        <p:spPr>
          <a:xfrm>
            <a:off x="8917729" y="3920939"/>
            <a:ext cx="284376" cy="284232"/>
          </a:xfrm>
          <a:prstGeom prst="rect">
            <a:avLst/>
          </a:prstGeom>
        </p:spPr>
      </p:pic>
      <p:pic>
        <p:nvPicPr>
          <p:cNvPr id="117" name="Gear icon"/>
          <p:cNvPicPr/>
          <p:nvPr/>
        </p:nvPicPr>
        <p:blipFill>
          <a:blip r:embed="rId8"/>
          <a:stretch>
            <a:fillRect/>
          </a:stretch>
        </p:blipFill>
        <p:spPr>
          <a:xfrm>
            <a:off x="3069799" y="5925137"/>
            <a:ext cx="313542" cy="313384"/>
          </a:xfrm>
          <a:prstGeom prst="rect">
            <a:avLst/>
          </a:prstGeom>
        </p:spPr>
      </p:pic>
      <p:pic>
        <p:nvPicPr>
          <p:cNvPr id="118" name="Monitor icon"/>
          <p:cNvPicPr/>
          <p:nvPr/>
        </p:nvPicPr>
        <p:blipFill>
          <a:blip r:embed="rId9"/>
          <a:stretch>
            <a:fillRect/>
          </a:stretch>
        </p:blipFill>
        <p:spPr>
          <a:xfrm>
            <a:off x="5242721" y="5961577"/>
            <a:ext cx="320834" cy="233216"/>
          </a:xfrm>
          <a:prstGeom prst="rect">
            <a:avLst/>
          </a:prstGeom>
        </p:spPr>
      </p:pic>
      <p:pic>
        <p:nvPicPr>
          <p:cNvPr id="119" name="Image icon"/>
          <p:cNvPicPr/>
          <p:nvPr/>
        </p:nvPicPr>
        <p:blipFill>
          <a:blip r:embed="rId10"/>
          <a:stretch>
            <a:fillRect/>
          </a:stretch>
        </p:blipFill>
        <p:spPr>
          <a:xfrm>
            <a:off x="7495851" y="5961577"/>
            <a:ext cx="306251" cy="247792"/>
          </a:xfrm>
          <a:prstGeom prst="rect">
            <a:avLst/>
          </a:prstGeom>
        </p:spPr>
      </p:pic>
      <p:sp>
        <p:nvSpPr>
          <p:cNvPr id="120" name="TextBox 120"/>
          <p:cNvSpPr txBox="1"/>
          <p:nvPr/>
        </p:nvSpPr>
        <p:spPr>
          <a:xfrm>
            <a:off x="1509379" y="757951"/>
            <a:ext cx="9807315" cy="87455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5400" b="1">
                <a:solidFill>
                  <a:srgbClr val="0B3E6B"/>
                </a:solidFill>
                <a:latin typeface="PingFang SC"/>
                <a:ea typeface="PingFang SC"/>
                <a:cs typeface="PingFang SC"/>
              </a:rPr>
              <a:t>Codex Discord Bridge 使用指南</a:t>
            </a:r>
            <a:endParaRPr lang="zh-CN" sz="5400"/>
          </a:p>
        </p:txBody>
      </p:sp>
      <p:sp>
        <p:nvSpPr>
          <p:cNvPr id="121" name="TextBox 121"/>
          <p:cNvSpPr txBox="1"/>
          <p:nvPr/>
        </p:nvSpPr>
        <p:spPr>
          <a:xfrm>
            <a:off x="2428131" y="2011486"/>
            <a:ext cx="1203128" cy="37897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900">
                <a:solidFill>
                  <a:srgbClr val="428DDE"/>
                </a:solidFill>
                <a:latin typeface="PingFang SC"/>
                <a:ea typeface="PingFang SC"/>
                <a:cs typeface="PingFang SC"/>
              </a:rPr>
              <a:t>Discord</a:t>
            </a:r>
            <a:endParaRPr lang="zh-CN" sz="2900"/>
          </a:p>
        </p:txBody>
      </p:sp>
      <p:sp>
        <p:nvSpPr>
          <p:cNvPr id="122" name="TextBox 122"/>
          <p:cNvSpPr txBox="1"/>
          <p:nvPr/>
        </p:nvSpPr>
        <p:spPr>
          <a:xfrm>
            <a:off x="3806259" y="2047926"/>
            <a:ext cx="1166669" cy="3498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500">
                <a:solidFill>
                  <a:srgbClr val="242424"/>
                </a:solidFill>
                <a:latin typeface="PingFang SC"/>
                <a:ea typeface="PingFang SC"/>
                <a:cs typeface="PingFang SC"/>
              </a:rPr>
              <a:t>发任务，</a:t>
            </a:r>
            <a:endParaRPr lang="zh-CN" sz="2500"/>
          </a:p>
        </p:txBody>
      </p:sp>
      <p:sp>
        <p:nvSpPr>
          <p:cNvPr id="123" name="TextBox 123"/>
          <p:cNvSpPr txBox="1"/>
          <p:nvPr/>
        </p:nvSpPr>
        <p:spPr>
          <a:xfrm>
            <a:off x="5198971" y="2047926"/>
            <a:ext cx="1691671" cy="3498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500">
                <a:solidFill>
                  <a:srgbClr val="242424"/>
                </a:solidFill>
                <a:latin typeface="PingFang SC"/>
                <a:ea typeface="PingFang SC"/>
                <a:cs typeface="PingFang SC"/>
              </a:rPr>
              <a:t>本机 Codex</a:t>
            </a:r>
            <a:endParaRPr lang="zh-CN" sz="2500"/>
          </a:p>
        </p:txBody>
      </p:sp>
      <p:sp>
        <p:nvSpPr>
          <p:cNvPr id="124" name="TextBox 124"/>
          <p:cNvSpPr txBox="1"/>
          <p:nvPr/>
        </p:nvSpPr>
        <p:spPr>
          <a:xfrm>
            <a:off x="7072933" y="2047926"/>
            <a:ext cx="845835" cy="3498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500">
                <a:solidFill>
                  <a:srgbClr val="242424"/>
                </a:solidFill>
                <a:latin typeface="PingFang SC"/>
                <a:ea typeface="PingFang SC"/>
                <a:cs typeface="PingFang SC"/>
              </a:rPr>
              <a:t>执行，</a:t>
            </a:r>
            <a:endParaRPr lang="zh-CN" sz="2500"/>
          </a:p>
        </p:txBody>
      </p:sp>
      <p:sp>
        <p:nvSpPr>
          <p:cNvPr id="125" name="TextBox 125"/>
          <p:cNvSpPr txBox="1"/>
          <p:nvPr/>
        </p:nvSpPr>
        <p:spPr>
          <a:xfrm>
            <a:off x="8152102" y="2047926"/>
            <a:ext cx="1837504" cy="3498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500">
                <a:solidFill>
                  <a:srgbClr val="242424"/>
                </a:solidFill>
                <a:latin typeface="PingFang SC"/>
                <a:ea typeface="PingFang SC"/>
                <a:cs typeface="PingFang SC"/>
              </a:rPr>
              <a:t>结果自动回传。</a:t>
            </a:r>
            <a:endParaRPr lang="zh-CN" sz="2500"/>
          </a:p>
        </p:txBody>
      </p:sp>
      <p:sp>
        <p:nvSpPr>
          <p:cNvPr id="126" name="TextBox 126"/>
          <p:cNvSpPr txBox="1"/>
          <p:nvPr/>
        </p:nvSpPr>
        <p:spPr>
          <a:xfrm>
            <a:off x="2909382" y="3199428"/>
            <a:ext cx="802085" cy="2769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F83D8"/>
                </a:solidFill>
                <a:latin typeface="PingFang SC"/>
                <a:ea typeface="PingFang SC"/>
                <a:cs typeface="PingFang SC"/>
              </a:rPr>
              <a:t>任务内容</a:t>
            </a:r>
            <a:endParaRPr lang="zh-CN" sz="1800"/>
          </a:p>
        </p:txBody>
      </p:sp>
      <p:sp>
        <p:nvSpPr>
          <p:cNvPr id="127" name="TextBox 127"/>
          <p:cNvSpPr txBox="1"/>
          <p:nvPr/>
        </p:nvSpPr>
        <p:spPr>
          <a:xfrm>
            <a:off x="5702097" y="3199428"/>
            <a:ext cx="802085" cy="2769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4F7B42"/>
                </a:solidFill>
                <a:latin typeface="PingFang SC"/>
                <a:ea typeface="PingFang SC"/>
                <a:cs typeface="PingFang SC"/>
              </a:rPr>
              <a:t>转发任务</a:t>
            </a:r>
            <a:endParaRPr lang="zh-CN" sz="1800"/>
          </a:p>
        </p:txBody>
      </p:sp>
      <p:sp>
        <p:nvSpPr>
          <p:cNvPr id="128" name="TextBox 128"/>
          <p:cNvSpPr txBox="1"/>
          <p:nvPr/>
        </p:nvSpPr>
        <p:spPr>
          <a:xfrm>
            <a:off x="8385436" y="3024516"/>
            <a:ext cx="838544" cy="2769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900">
                <a:solidFill>
                  <a:srgbClr val="C96A25"/>
                </a:solidFill>
                <a:latin typeface="PingFang SC"/>
                <a:ea typeface="PingFang SC"/>
                <a:cs typeface="PingFang SC"/>
              </a:rPr>
              <a:t>执行命令</a:t>
            </a:r>
            <a:endParaRPr lang="zh-CN" sz="1900"/>
          </a:p>
        </p:txBody>
      </p:sp>
      <p:sp>
        <p:nvSpPr>
          <p:cNvPr id="129" name="TextBox 129"/>
          <p:cNvSpPr txBox="1"/>
          <p:nvPr/>
        </p:nvSpPr>
        <p:spPr>
          <a:xfrm>
            <a:off x="8414603" y="4234323"/>
            <a:ext cx="875002" cy="27694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4F7B42"/>
                </a:solidFill>
                <a:latin typeface="PingFang SC"/>
                <a:ea typeface="PingFang SC"/>
                <a:cs typeface="PingFang SC"/>
              </a:rPr>
              <a:t>返回结果</a:t>
            </a:r>
            <a:endParaRPr lang="zh-CN" sz="1800"/>
          </a:p>
        </p:txBody>
      </p:sp>
      <p:sp>
        <p:nvSpPr>
          <p:cNvPr id="130" name="TextBox 130"/>
          <p:cNvSpPr txBox="1"/>
          <p:nvPr/>
        </p:nvSpPr>
        <p:spPr>
          <a:xfrm>
            <a:off x="5833347" y="3928227"/>
            <a:ext cx="466668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100">
                <a:solidFill>
                  <a:srgbClr val="4F7B42"/>
                </a:solidFill>
                <a:latin typeface="PingFang SC"/>
                <a:ea typeface="PingFang SC"/>
                <a:cs typeface="PingFang SC"/>
              </a:rPr>
              <a:t>...</a:t>
            </a:r>
            <a:endParaRPr lang="zh-CN" sz="2100"/>
          </a:p>
        </p:txBody>
      </p:sp>
      <p:sp>
        <p:nvSpPr>
          <p:cNvPr id="131" name="TextBox 131"/>
          <p:cNvSpPr txBox="1"/>
          <p:nvPr/>
        </p:nvSpPr>
        <p:spPr>
          <a:xfrm>
            <a:off x="1392712" y="4715330"/>
            <a:ext cx="787502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0B3E6B"/>
                </a:solidFill>
                <a:latin typeface="PingFang SC"/>
                <a:ea typeface="PingFang SC"/>
                <a:cs typeface="PingFang SC"/>
              </a:rPr>
              <a:t>Discord</a:t>
            </a:r>
            <a:endParaRPr lang="zh-CN" sz="2000"/>
          </a:p>
        </p:txBody>
      </p:sp>
      <p:sp>
        <p:nvSpPr>
          <p:cNvPr id="132" name="TextBox 132"/>
          <p:cNvSpPr txBox="1"/>
          <p:nvPr/>
        </p:nvSpPr>
        <p:spPr>
          <a:xfrm>
            <a:off x="1385420" y="5079730"/>
            <a:ext cx="816669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42424"/>
                </a:solidFill>
                <a:latin typeface="PingFang SC"/>
                <a:ea typeface="PingFang SC"/>
                <a:cs typeface="PingFang SC"/>
              </a:rPr>
              <a:t>发送任务</a:t>
            </a:r>
            <a:endParaRPr lang="zh-CN" sz="1800"/>
          </a:p>
        </p:txBody>
      </p:sp>
      <p:sp>
        <p:nvSpPr>
          <p:cNvPr id="133" name="TextBox 133"/>
          <p:cNvSpPr txBox="1"/>
          <p:nvPr/>
        </p:nvSpPr>
        <p:spPr>
          <a:xfrm>
            <a:off x="4367719" y="4715330"/>
            <a:ext cx="729168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4F7B42"/>
                </a:solidFill>
                <a:latin typeface="PingFang SC"/>
                <a:ea typeface="PingFang SC"/>
                <a:cs typeface="PingFang SC"/>
              </a:rPr>
              <a:t>Bridge</a:t>
            </a:r>
            <a:endParaRPr lang="zh-CN" sz="2000"/>
          </a:p>
        </p:txBody>
      </p:sp>
      <p:sp>
        <p:nvSpPr>
          <p:cNvPr id="134" name="TextBox 134"/>
          <p:cNvSpPr txBox="1"/>
          <p:nvPr/>
        </p:nvSpPr>
        <p:spPr>
          <a:xfrm>
            <a:off x="4287510" y="5079730"/>
            <a:ext cx="1020836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42424"/>
                </a:solidFill>
                <a:latin typeface="PingFang SC"/>
                <a:ea typeface="PingFang SC"/>
                <a:cs typeface="PingFang SC"/>
              </a:rPr>
              <a:t>中转与路由</a:t>
            </a:r>
            <a:endParaRPr lang="zh-CN" sz="1800"/>
          </a:p>
        </p:txBody>
      </p:sp>
      <p:sp>
        <p:nvSpPr>
          <p:cNvPr id="135" name="TextBox 135"/>
          <p:cNvSpPr txBox="1"/>
          <p:nvPr/>
        </p:nvSpPr>
        <p:spPr>
          <a:xfrm>
            <a:off x="7058350" y="4715330"/>
            <a:ext cx="700002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A24F18"/>
                </a:solidFill>
                <a:latin typeface="PingFang SC"/>
                <a:ea typeface="PingFang SC"/>
                <a:cs typeface="PingFang SC"/>
              </a:rPr>
              <a:t>Codex</a:t>
            </a:r>
            <a:endParaRPr lang="zh-CN" sz="2000"/>
          </a:p>
        </p:txBody>
      </p:sp>
      <p:sp>
        <p:nvSpPr>
          <p:cNvPr id="136" name="TextBox 136"/>
          <p:cNvSpPr txBox="1"/>
          <p:nvPr/>
        </p:nvSpPr>
        <p:spPr>
          <a:xfrm>
            <a:off x="6839599" y="5079730"/>
            <a:ext cx="1130211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42424"/>
                </a:solidFill>
                <a:latin typeface="PingFang SC"/>
                <a:ea typeface="PingFang SC"/>
                <a:cs typeface="PingFang SC"/>
              </a:rPr>
              <a:t>本机执行任务</a:t>
            </a:r>
            <a:endParaRPr lang="zh-CN" sz="1800"/>
          </a:p>
        </p:txBody>
      </p:sp>
      <p:sp>
        <p:nvSpPr>
          <p:cNvPr id="137" name="TextBox 137"/>
          <p:cNvSpPr txBox="1"/>
          <p:nvPr/>
        </p:nvSpPr>
        <p:spPr>
          <a:xfrm>
            <a:off x="9829190" y="4729906"/>
            <a:ext cx="1035419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0B3E6B"/>
                </a:solidFill>
                <a:latin typeface="PingFang SC"/>
                <a:ea typeface="PingFang SC"/>
                <a:cs typeface="PingFang SC"/>
              </a:rPr>
              <a:t>macOS 本机</a:t>
            </a:r>
            <a:endParaRPr lang="zh-CN" sz="1700"/>
          </a:p>
        </p:txBody>
      </p:sp>
      <p:sp>
        <p:nvSpPr>
          <p:cNvPr id="138" name="TextBox 138"/>
          <p:cNvSpPr txBox="1"/>
          <p:nvPr/>
        </p:nvSpPr>
        <p:spPr>
          <a:xfrm>
            <a:off x="9851065" y="5079730"/>
            <a:ext cx="962502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242424"/>
                </a:solidFill>
                <a:latin typeface="PingFang SC"/>
                <a:ea typeface="PingFang SC"/>
                <a:cs typeface="PingFang SC"/>
              </a:rPr>
              <a:t>运行 Codex</a:t>
            </a:r>
            <a:endParaRPr lang="zh-CN" sz="1800"/>
          </a:p>
        </p:txBody>
      </p:sp>
      <p:sp>
        <p:nvSpPr>
          <p:cNvPr id="139" name="TextBox 139"/>
          <p:cNvSpPr txBox="1"/>
          <p:nvPr/>
        </p:nvSpPr>
        <p:spPr>
          <a:xfrm>
            <a:off x="3500008" y="6012593"/>
            <a:ext cx="875002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236FB7"/>
                </a:solidFill>
                <a:latin typeface="PingFang SC"/>
                <a:ea typeface="PingFang SC"/>
                <a:cs typeface="PingFang SC"/>
              </a:rPr>
              <a:t>默认 Codex</a:t>
            </a:r>
            <a:endParaRPr lang="zh-CN" sz="1700"/>
          </a:p>
        </p:txBody>
      </p:sp>
      <p:sp>
        <p:nvSpPr>
          <p:cNvPr id="140" name="TextBox 140"/>
          <p:cNvSpPr txBox="1"/>
          <p:nvPr/>
        </p:nvSpPr>
        <p:spPr>
          <a:xfrm>
            <a:off x="4841678" y="5968865"/>
            <a:ext cx="145834" cy="25508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6F5D46"/>
                </a:solidFill>
                <a:latin typeface="PingFang SC"/>
                <a:ea typeface="PingFang SC"/>
                <a:cs typeface="PingFang SC"/>
              </a:rPr>
              <a:t>•</a:t>
            </a:r>
            <a:endParaRPr lang="zh-CN" sz="1700"/>
          </a:p>
        </p:txBody>
      </p:sp>
      <p:sp>
        <p:nvSpPr>
          <p:cNvPr id="141" name="TextBox 141"/>
          <p:cNvSpPr txBox="1"/>
          <p:nvPr/>
        </p:nvSpPr>
        <p:spPr>
          <a:xfrm>
            <a:off x="5738555" y="6012593"/>
            <a:ext cx="933336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4F7B42"/>
                </a:solidFill>
                <a:latin typeface="PingFang SC"/>
                <a:ea typeface="PingFang SC"/>
                <a:cs typeface="PingFang SC"/>
              </a:rPr>
              <a:t>macOS 服务</a:t>
            </a:r>
            <a:endParaRPr lang="zh-CN" sz="1700"/>
          </a:p>
        </p:txBody>
      </p:sp>
      <p:sp>
        <p:nvSpPr>
          <p:cNvPr id="142" name="TextBox 142"/>
          <p:cNvSpPr txBox="1"/>
          <p:nvPr/>
        </p:nvSpPr>
        <p:spPr>
          <a:xfrm>
            <a:off x="7116683" y="5968865"/>
            <a:ext cx="145834" cy="25508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6F5D46"/>
                </a:solidFill>
                <a:latin typeface="PingFang SC"/>
                <a:ea typeface="PingFang SC"/>
                <a:cs typeface="PingFang SC"/>
              </a:rPr>
              <a:t>•</a:t>
            </a:r>
            <a:endParaRPr lang="zh-CN" sz="1700"/>
          </a:p>
        </p:txBody>
      </p:sp>
      <p:sp>
        <p:nvSpPr>
          <p:cNvPr id="143" name="TextBox 143"/>
          <p:cNvSpPr txBox="1"/>
          <p:nvPr/>
        </p:nvSpPr>
        <p:spPr>
          <a:xfrm>
            <a:off x="7955227" y="6012593"/>
            <a:ext cx="1122919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B9541E"/>
                </a:solidFill>
                <a:latin typeface="PingFang SC"/>
                <a:ea typeface="PingFang SC"/>
                <a:cs typeface="PingFang SC"/>
              </a:rPr>
              <a:t>图片/文件回传</a:t>
            </a:r>
            <a:endParaRPr lang="zh-CN" sz="1700"/>
          </a:p>
        </p:txBody>
      </p:sp>
      <p:sp>
        <p:nvSpPr>
          <p:cNvPr id="144" name="TextBox 144"/>
          <p:cNvSpPr txBox="1"/>
          <p:nvPr/>
        </p:nvSpPr>
        <p:spPr>
          <a:xfrm>
            <a:off x="7583351" y="3709588"/>
            <a:ext cx="277084" cy="33524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3000">
                <a:solidFill>
                  <a:srgbClr val="242424"/>
                </a:solidFill>
                <a:latin typeface="PingFang SC"/>
                <a:ea typeface="PingFang SC"/>
                <a:cs typeface="PingFang SC"/>
              </a:rPr>
              <a:t>C</a:t>
            </a:r>
            <a:endParaRPr lang="zh-CN"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