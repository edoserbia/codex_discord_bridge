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331260" y="1982334"/>
            <a:ext cx="3026049" cy="3192140"/>
          </a:xfrm>
          <a:prstGeom prst="roundRect">
            <a:avLst>
              <a:gd name="adj" fmla="val 6747"/>
            </a:avLst>
          </a:prstGeom>
          <a:solidFill>
            <a:srgbClr val="F4F8EF"/>
          </a:solidFill>
          <a:ln w="2794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8064602" y="2157245"/>
            <a:ext cx="3543758" cy="3024516"/>
          </a:xfrm>
          <a:prstGeom prst="roundRect">
            <a:avLst>
              <a:gd name="adj" fmla="val 7711"/>
            </a:avLst>
          </a:prstGeom>
          <a:solidFill>
            <a:srgbClr val="FFFEFA"/>
          </a:solidFill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27085" y="1982334"/>
            <a:ext cx="2741673" cy="925575"/>
          </a:xfrm>
          <a:prstGeom prst="roundRect">
            <a:avLst>
              <a:gd name="adj" fmla="val 14173"/>
            </a:avLst>
          </a:prstGeom>
          <a:solidFill>
            <a:srgbClr val="FFFFFF"/>
          </a:solidFill>
          <a:ln w="2794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627085" y="3046380"/>
            <a:ext cx="2741673" cy="1056759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2794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27085" y="4219747"/>
            <a:ext cx="2741673" cy="98387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794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377089" y="5363962"/>
            <a:ext cx="2165630" cy="422704"/>
          </a:xfrm>
          <a:prstGeom prst="roundRect">
            <a:avLst>
              <a:gd name="adj" fmla="val 27586"/>
            </a:avLst>
          </a:prstGeom>
          <a:solidFill>
            <a:srgbClr val="F7FBFF"/>
          </a:solidFill>
          <a:ln w="2286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776053" y="5363962"/>
            <a:ext cx="1881254" cy="422704"/>
          </a:xfrm>
          <a:prstGeom prst="roundRect">
            <a:avLst>
              <a:gd name="adj" fmla="val 27586"/>
            </a:avLst>
          </a:prstGeom>
          <a:solidFill>
            <a:srgbClr val="F8FFF6"/>
          </a:solidFill>
          <a:ln w="2286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6890641" y="5363962"/>
            <a:ext cx="2902090" cy="422704"/>
          </a:xfrm>
          <a:prstGeom prst="roundRect">
            <a:avLst>
              <a:gd name="adj" fmla="val 27586"/>
            </a:avLst>
          </a:prstGeom>
          <a:solidFill>
            <a:srgbClr val="FFFDF8"/>
          </a:solidFill>
          <a:ln w="2286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1895838" y="5939713"/>
            <a:ext cx="8283353" cy="736087"/>
          </a:xfrm>
          <a:prstGeom prst="roundRect">
            <a:avLst>
              <a:gd name="adj" fmla="val 17822"/>
            </a:avLst>
          </a:prstGeom>
          <a:noFill/>
          <a:ln w="27940">
            <a:solidFill>
              <a:srgbClr val="9CC4F5"/>
            </a:solidFill>
            <a:prstDash val="dash"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477094" y="2259277"/>
            <a:ext cx="2727090" cy="655919"/>
          </a:xfrm>
          <a:prstGeom prst="roundRect">
            <a:avLst>
              <a:gd name="adj" fmla="val 17778"/>
            </a:avLst>
          </a:prstGeom>
          <a:solidFill>
            <a:srgbClr val="FBFFF8"/>
          </a:solidFill>
          <a:ln w="22860">
            <a:solidFill>
              <a:srgbClr val="90BA78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477094" y="3170276"/>
            <a:ext cx="2727090" cy="714223"/>
          </a:xfrm>
          <a:prstGeom prst="roundRect">
            <a:avLst>
              <a:gd name="adj" fmla="val 16327"/>
            </a:avLst>
          </a:prstGeom>
          <a:solidFill>
            <a:srgbClr val="FBFFF8"/>
          </a:solidFill>
          <a:ln w="22860">
            <a:solidFill>
              <a:srgbClr val="90BA78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477094" y="4095851"/>
            <a:ext cx="2727090" cy="765239"/>
          </a:xfrm>
          <a:prstGeom prst="roundRect">
            <a:avLst>
              <a:gd name="adj" fmla="val 15238"/>
            </a:avLst>
          </a:prstGeom>
          <a:solidFill>
            <a:srgbClr val="FBFFF8"/>
          </a:solidFill>
          <a:ln w="22860">
            <a:solidFill>
              <a:srgbClr val="90BA78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5782305" y="2915197"/>
            <a:ext cx="0" cy="255080"/>
          </a:xfrm>
          <a:prstGeom prst="line">
            <a:avLst/>
          </a:prstGeom>
          <a:noFill/>
          <a:ln w="25400">
            <a:solidFill>
              <a:srgbClr val="7FAF75"/>
            </a:solidFill>
            <a:prstDash val="dash"/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5782305" y="3884499"/>
            <a:ext cx="0" cy="211352"/>
          </a:xfrm>
          <a:prstGeom prst="line">
            <a:avLst/>
          </a:prstGeom>
          <a:noFill/>
          <a:ln w="25400">
            <a:solidFill>
              <a:srgbClr val="7FAF75"/>
            </a:solidFill>
            <a:prstDash val="dash"/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V="1">
            <a:off x="3091674" y="1122351"/>
            <a:ext cx="6300015" cy="87456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V="1">
            <a:off x="3543758" y="1180655"/>
            <a:ext cx="5293762" cy="65592"/>
          </a:xfrm>
          <a:prstGeom prst="line">
            <a:avLst/>
          </a:prstGeom>
          <a:noFill/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2814590" y="378976"/>
            <a:ext cx="58333" cy="174912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872923" y="553887"/>
            <a:ext cx="160417" cy="72880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>
            <a:off x="2792715" y="553887"/>
            <a:ext cx="80209" cy="167624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 flipV="1">
            <a:off x="2705215" y="495583"/>
            <a:ext cx="167709" cy="58304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2829173" y="808967"/>
            <a:ext cx="102084" cy="36440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2858340" y="932863"/>
            <a:ext cx="80209" cy="43728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 flipV="1">
            <a:off x="9559397" y="131184"/>
            <a:ext cx="123959" cy="189488"/>
          </a:xfrm>
          <a:prstGeom prst="line">
            <a:avLst/>
          </a:prstGeom>
          <a:noFill/>
          <a:ln w="508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9697939" y="604903"/>
            <a:ext cx="160417" cy="58304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9676064" y="736087"/>
            <a:ext cx="145834" cy="80168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627085" y="1413870"/>
            <a:ext cx="452084" cy="451855"/>
          </a:xfrm>
          <a:prstGeom prst="ellipse">
            <a:avLst/>
          </a:prstGeom>
          <a:solidFill>
            <a:srgbClr val="5D72F2"/>
          </a:solidFill>
          <a:ln w="25400">
            <a:solidFill>
              <a:srgbClr val="4967E8"/>
            </a:solidFill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772918" y="2128094"/>
            <a:ext cx="357293" cy="357112"/>
          </a:xfrm>
          <a:prstGeom prst="ellipse">
            <a:avLst/>
          </a:prstGeom>
          <a:solidFill>
            <a:srgbClr val="DCEEFF"/>
          </a:solidFill>
          <a:ln w="317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772918" y="3170276"/>
            <a:ext cx="357293" cy="357112"/>
          </a:xfrm>
          <a:prstGeom prst="ellipse">
            <a:avLst/>
          </a:prstGeom>
          <a:solidFill>
            <a:srgbClr val="DCEEFF"/>
          </a:solidFill>
          <a:ln w="317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772918" y="4336355"/>
            <a:ext cx="357293" cy="357112"/>
          </a:xfrm>
          <a:prstGeom prst="ellipse">
            <a:avLst/>
          </a:prstGeom>
          <a:solidFill>
            <a:srgbClr val="DCEEFF"/>
          </a:solidFill>
          <a:ln w="317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4469802" y="1800134"/>
            <a:ext cx="904169" cy="0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4528136" y="1690814"/>
            <a:ext cx="787502" cy="0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4630219" y="1421158"/>
            <a:ext cx="0" cy="473719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4717719" y="1421158"/>
            <a:ext cx="0" cy="473719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5104179" y="1421158"/>
            <a:ext cx="0" cy="473719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5191679" y="1421158"/>
            <a:ext cx="0" cy="473719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 flipV="1">
            <a:off x="4404177" y="1428446"/>
            <a:ext cx="262501" cy="28423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4666678" y="1428446"/>
            <a:ext cx="262501" cy="28423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 flipV="1">
            <a:off x="4929178" y="1428446"/>
            <a:ext cx="218751" cy="28423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147929" y="1428446"/>
            <a:ext cx="247917" cy="28423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 flipV="1">
            <a:off x="8152102" y="1392006"/>
            <a:ext cx="240626" cy="13847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8392728" y="1392006"/>
            <a:ext cx="233334" cy="131184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8152102" y="1530478"/>
            <a:ext cx="240626" cy="13847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 flipH="1">
            <a:off x="8392728" y="1523190"/>
            <a:ext cx="233334" cy="145760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8152102" y="1530478"/>
            <a:ext cx="0" cy="276944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8392728" y="1668950"/>
            <a:ext cx="0" cy="276944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8626062" y="1523190"/>
            <a:ext cx="0" cy="28423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8152102" y="1807422"/>
            <a:ext cx="240626" cy="13847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H="1">
            <a:off x="8392728" y="1807422"/>
            <a:ext cx="233334" cy="13847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8246894" y="2062502"/>
            <a:ext cx="3186466" cy="0"/>
          </a:xfrm>
          <a:prstGeom prst="line">
            <a:avLst/>
          </a:prstGeom>
          <a:noFill/>
          <a:ln w="3048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8290644" y="2645541"/>
            <a:ext cx="3120841" cy="0"/>
          </a:xfrm>
          <a:prstGeom prst="line">
            <a:avLst/>
          </a:prstGeom>
          <a:noFill/>
          <a:ln w="25400">
            <a:solidFill>
              <a:srgbClr val="8E8178"/>
            </a:solidFill>
            <a:prstDash val="dash"/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8385436" y="3097396"/>
            <a:ext cx="0" cy="313384"/>
          </a:xfrm>
          <a:prstGeom prst="line">
            <a:avLst/>
          </a:prstGeom>
          <a:noFill/>
          <a:ln w="38100">
            <a:solidFill>
              <a:srgbClr val="D0B197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8305228" y="3316036"/>
            <a:ext cx="80209" cy="102032"/>
          </a:xfrm>
          <a:prstGeom prst="line">
            <a:avLst/>
          </a:prstGeom>
          <a:noFill/>
          <a:ln w="38100">
            <a:solidFill>
              <a:srgbClr val="D0B197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H="1">
            <a:off x="8385436" y="3316036"/>
            <a:ext cx="80209" cy="102032"/>
          </a:xfrm>
          <a:prstGeom prst="line">
            <a:avLst/>
          </a:prstGeom>
          <a:noFill/>
          <a:ln w="38100">
            <a:solidFill>
              <a:srgbClr val="D0B197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8385436" y="3855348"/>
            <a:ext cx="0" cy="313384"/>
          </a:xfrm>
          <a:prstGeom prst="line">
            <a:avLst/>
          </a:prstGeom>
          <a:noFill/>
          <a:ln w="3810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8305228" y="4073987"/>
            <a:ext cx="80209" cy="102032"/>
          </a:xfrm>
          <a:prstGeom prst="line">
            <a:avLst/>
          </a:prstGeom>
          <a:noFill/>
          <a:ln w="3810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H="1">
            <a:off x="8385436" y="4073987"/>
            <a:ext cx="80209" cy="102032"/>
          </a:xfrm>
          <a:prstGeom prst="line">
            <a:avLst/>
          </a:prstGeom>
          <a:noFill/>
          <a:ln w="3810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8560437" y="3432644"/>
            <a:ext cx="2836465" cy="0"/>
          </a:xfrm>
          <a:prstGeom prst="line">
            <a:avLst/>
          </a:prstGeom>
          <a:noFill/>
          <a:ln w="19050">
            <a:solidFill>
              <a:srgbClr val="F5A062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8560437" y="4183307"/>
            <a:ext cx="2836465" cy="0"/>
          </a:xfrm>
          <a:prstGeom prst="line">
            <a:avLst/>
          </a:prstGeom>
          <a:noFill/>
          <a:ln w="19050">
            <a:solidFill>
              <a:srgbClr val="F5A062"/>
            </a:solidFill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2537506" y="5473282"/>
            <a:ext cx="262501" cy="204064"/>
          </a:xfrm>
          <a:prstGeom prst="ellipse">
            <a:avLst/>
          </a:prstGeom>
          <a:noFill/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 flipH="1">
            <a:off x="2595839" y="5670057"/>
            <a:ext cx="51042" cy="72880"/>
          </a:xfrm>
          <a:prstGeom prst="line">
            <a:avLst/>
          </a:prstGeom>
          <a:noFill/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7029183" y="5480570"/>
            <a:ext cx="240626" cy="189488"/>
          </a:xfrm>
          <a:prstGeom prst="rect">
            <a:avLst/>
          </a:prstGeom>
          <a:noFill/>
          <a:ln w="2540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2223964" y="6151065"/>
            <a:ext cx="284376" cy="284232"/>
          </a:xfrm>
          <a:prstGeom prst="ellipse">
            <a:avLst/>
          </a:prstGeom>
          <a:noFill/>
          <a:ln w="3048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2311464" y="6442584"/>
            <a:ext cx="131250" cy="0"/>
          </a:xfrm>
          <a:prstGeom prst="line">
            <a:avLst/>
          </a:prstGeom>
          <a:noFill/>
          <a:ln w="3048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2318755" y="6493600"/>
            <a:ext cx="116667" cy="0"/>
          </a:xfrm>
          <a:prstGeom prst="line">
            <a:avLst/>
          </a:prstGeom>
          <a:noFill/>
          <a:ln w="3048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2355214" y="6537328"/>
            <a:ext cx="51042" cy="0"/>
          </a:xfrm>
          <a:prstGeom prst="line">
            <a:avLst/>
          </a:prstGeom>
          <a:noFill/>
          <a:ln w="3048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2355214" y="5968865"/>
            <a:ext cx="0" cy="102032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 flipV="1">
            <a:off x="2501048" y="6070897"/>
            <a:ext cx="80209" cy="65592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H="1" flipV="1">
            <a:off x="2121880" y="6070897"/>
            <a:ext cx="87500" cy="65592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2537506" y="6289537"/>
            <a:ext cx="102084" cy="21864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H="1">
            <a:off x="2078130" y="6296825"/>
            <a:ext cx="102084" cy="21864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V="1">
            <a:off x="8341686" y="6428009"/>
            <a:ext cx="977086" cy="65592"/>
          </a:xfrm>
          <a:prstGeom prst="line">
            <a:avLst/>
          </a:prstGeom>
          <a:noFill/>
          <a:ln w="317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H="1">
            <a:off x="9595856" y="6078185"/>
            <a:ext cx="43750" cy="17491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V="1">
            <a:off x="9778148" y="6092761"/>
            <a:ext cx="94792" cy="6559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9734398" y="6282249"/>
            <a:ext cx="138542" cy="43728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2610423" y="5553450"/>
            <a:ext cx="21875" cy="21864"/>
          </a:xfrm>
          <a:prstGeom prst="ellipse">
            <a:avLst/>
          </a:prstGeom>
          <a:solidFill>
            <a:srgbClr val="1F72DD"/>
          </a:solidFill>
          <a:ln w="127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2668756" y="5553450"/>
            <a:ext cx="21875" cy="21864"/>
          </a:xfrm>
          <a:prstGeom prst="ellipse">
            <a:avLst/>
          </a:prstGeom>
          <a:solidFill>
            <a:srgbClr val="1F72DD"/>
          </a:solidFill>
          <a:ln w="127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2727090" y="5553450"/>
            <a:ext cx="21875" cy="21864"/>
          </a:xfrm>
          <a:prstGeom prst="ellipse">
            <a:avLst/>
          </a:prstGeom>
          <a:solidFill>
            <a:srgbClr val="1F72DD"/>
          </a:solidFill>
          <a:ln w="127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758335" y="1581494"/>
            <a:ext cx="72917" cy="7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911460" y="1581494"/>
            <a:ext cx="72917" cy="7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787502" y="1741830"/>
            <a:ext cx="175000" cy="0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882294" y="2186397"/>
            <a:ext cx="123959" cy="123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831252" y="2324869"/>
            <a:ext cx="226042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882294" y="3228580"/>
            <a:ext cx="123959" cy="123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831252" y="3367052"/>
            <a:ext cx="226042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882294" y="4394659"/>
            <a:ext cx="123959" cy="123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831252" y="4533131"/>
            <a:ext cx="226042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3485425" y="2507069"/>
            <a:ext cx="685418" cy="0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3995843" y="2398624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3995843" y="2507069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3485425" y="3505524"/>
            <a:ext cx="685418" cy="0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3995843" y="3397079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V="1">
            <a:off x="3995843" y="3505524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3485425" y="4606011"/>
            <a:ext cx="685418" cy="0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3995843" y="4497565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V="1">
            <a:off x="3995843" y="4606011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7481268" y="3425356"/>
            <a:ext cx="488543" cy="0"/>
          </a:xfrm>
          <a:prstGeom prst="line">
            <a:avLst/>
          </a:prstGeom>
          <a:noFill/>
          <a:ln w="508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7802102" y="3321429"/>
            <a:ext cx="167709" cy="103927"/>
          </a:xfrm>
          <a:prstGeom prst="line">
            <a:avLst/>
          </a:prstGeom>
          <a:noFill/>
          <a:ln w="508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V="1">
            <a:off x="7802102" y="3425356"/>
            <a:ext cx="167709" cy="103927"/>
          </a:xfrm>
          <a:prstGeom prst="line">
            <a:avLst/>
          </a:prstGeom>
          <a:noFill/>
          <a:ln w="508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8268769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8319811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8582312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8633354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8881271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8932313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9180230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9231272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9464605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9515647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9763565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9814606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10047940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10098982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10339608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>
            <a:off x="10390649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10631275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0682317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10922942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10973984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11214610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1265651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4593761" y="2375885"/>
            <a:ext cx="211459" cy="211352"/>
          </a:xfrm>
          <a:prstGeom prst="ellipse">
            <a:avLst/>
          </a:prstGeom>
          <a:solidFill>
            <a:srgbClr val="4C8F44"/>
          </a:solidFill>
          <a:ln w="19050">
            <a:solidFill>
              <a:srgbClr val="438744"/>
            </a:solidFill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4593761" y="3192140"/>
            <a:ext cx="211459" cy="211352"/>
          </a:xfrm>
          <a:prstGeom prst="ellipse">
            <a:avLst/>
          </a:prstGeom>
          <a:solidFill>
            <a:srgbClr val="4C8F44"/>
          </a:solidFill>
          <a:ln w="19050">
            <a:solidFill>
              <a:srgbClr val="438744"/>
            </a:solidFill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4593761" y="4176019"/>
            <a:ext cx="211459" cy="211352"/>
          </a:xfrm>
          <a:prstGeom prst="ellipse">
            <a:avLst/>
          </a:prstGeom>
          <a:solidFill>
            <a:srgbClr val="4C8F44"/>
          </a:solidFill>
          <a:ln w="19050">
            <a:solidFill>
              <a:srgbClr val="438744"/>
            </a:solidFill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8283353" y="2805877"/>
            <a:ext cx="218751" cy="218640"/>
          </a:xfrm>
          <a:prstGeom prst="ellipse">
            <a:avLst/>
          </a:prstGeom>
          <a:solidFill>
            <a:srgbClr val="F36A18"/>
          </a:solidFill>
          <a:ln w="190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8283353" y="3563828"/>
            <a:ext cx="218751" cy="218640"/>
          </a:xfrm>
          <a:prstGeom prst="ellipse">
            <a:avLst/>
          </a:prstGeom>
          <a:solidFill>
            <a:srgbClr val="F36A18"/>
          </a:solidFill>
          <a:ln w="190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8283353" y="4314491"/>
            <a:ext cx="218751" cy="218640"/>
          </a:xfrm>
          <a:prstGeom prst="ellipse">
            <a:avLst/>
          </a:prstGeom>
          <a:solidFill>
            <a:srgbClr val="F36A18"/>
          </a:solidFill>
          <a:ln w="190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9158355" y="3053668"/>
            <a:ext cx="196875" cy="196776"/>
          </a:xfrm>
          <a:prstGeom prst="ellipse">
            <a:avLst/>
          </a:prstGeom>
          <a:noFill/>
          <a:ln w="27940">
            <a:solidFill>
              <a:srgbClr val="2E9B44"/>
            </a:solidFill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9158355" y="3811620"/>
            <a:ext cx="196875" cy="196776"/>
          </a:xfrm>
          <a:prstGeom prst="ellipse">
            <a:avLst/>
          </a:prstGeom>
          <a:noFill/>
          <a:ln w="27940">
            <a:solidFill>
              <a:srgbClr val="2E9B44"/>
            </a:solidFill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9158355" y="4562283"/>
            <a:ext cx="196875" cy="196776"/>
          </a:xfrm>
          <a:prstGeom prst="ellipse">
            <a:avLst/>
          </a:prstGeom>
          <a:noFill/>
          <a:ln w="27940">
            <a:solidFill>
              <a:srgbClr val="2E9B44"/>
            </a:solidFill>
          </a:ln>
        </p:spPr>
        <p:txBody>
          <a:bodyPr/>
          <a:lstStyle/>
          <a:p/>
        </p:txBody>
      </p:sp>
      <p:sp>
        <p:nvSpPr>
          <p:cNvPr id="131" name="TextBox 131"/>
          <p:cNvSpPr txBox="1"/>
          <p:nvPr/>
        </p:nvSpPr>
        <p:spPr>
          <a:xfrm>
            <a:off x="3208341" y="349824"/>
            <a:ext cx="5760430" cy="67049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300" b="1">
                <a:solidFill>
                  <a:srgbClr val="001F5B"/>
                </a:solidFill>
                <a:latin typeface="Hannotate SC"/>
                <a:ea typeface="Hannotate SC"/>
                <a:cs typeface="Hannotate SC"/>
              </a:rPr>
              <a:t>日常提问与会话续接</a:t>
            </a:r>
            <a:endParaRPr lang="zh-CN" sz="4300"/>
          </a:p>
        </p:txBody>
      </p:sp>
      <p:sp>
        <p:nvSpPr>
          <p:cNvPr id="132" name="TextBox 132"/>
          <p:cNvSpPr txBox="1"/>
          <p:nvPr/>
        </p:nvSpPr>
        <p:spPr>
          <a:xfrm>
            <a:off x="1210419" y="1537766"/>
            <a:ext cx="2260422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1F72DD"/>
                </a:solidFill>
                <a:latin typeface="Hannotate SC"/>
                <a:ea typeface="Hannotate SC"/>
                <a:cs typeface="Hannotate SC"/>
              </a:rPr>
              <a:t>Discord 频道 # </a:t>
            </a:r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api-项目</a:t>
            </a:r>
            <a:endParaRPr lang="zh-CN" sz="1800"/>
          </a:p>
        </p:txBody>
      </p:sp>
      <p:sp>
        <p:nvSpPr>
          <p:cNvPr id="133" name="TextBox 133"/>
          <p:cNvSpPr txBox="1"/>
          <p:nvPr/>
        </p:nvSpPr>
        <p:spPr>
          <a:xfrm>
            <a:off x="1283336" y="2149957"/>
            <a:ext cx="510418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用户 A</a:t>
            </a:r>
            <a:endParaRPr lang="zh-CN" sz="1400"/>
          </a:p>
        </p:txBody>
      </p:sp>
      <p:sp>
        <p:nvSpPr>
          <p:cNvPr id="134" name="TextBox 134"/>
          <p:cNvSpPr txBox="1"/>
          <p:nvPr/>
        </p:nvSpPr>
        <p:spPr>
          <a:xfrm>
            <a:off x="1852088" y="2179109"/>
            <a:ext cx="48125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5F6468"/>
                </a:solidFill>
                <a:latin typeface="Hannotate SC"/>
                <a:ea typeface="Hannotate SC"/>
                <a:cs typeface="Hannotate SC"/>
              </a:rPr>
              <a:t>10:15</a:t>
            </a:r>
            <a:endParaRPr lang="zh-CN" sz="1300"/>
          </a:p>
        </p:txBody>
      </p:sp>
      <p:sp>
        <p:nvSpPr>
          <p:cNvPr id="135" name="TextBox 135"/>
          <p:cNvSpPr txBox="1"/>
          <p:nvPr/>
        </p:nvSpPr>
        <p:spPr>
          <a:xfrm>
            <a:off x="1283336" y="2397749"/>
            <a:ext cx="2005213" cy="24050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请帮我实现用户登录接口。</a:t>
            </a:r>
            <a:endParaRPr lang="zh-CN" sz="1500"/>
          </a:p>
        </p:txBody>
      </p:sp>
      <p:sp>
        <p:nvSpPr>
          <p:cNvPr id="136" name="TextBox 136"/>
          <p:cNvSpPr txBox="1"/>
          <p:nvPr/>
        </p:nvSpPr>
        <p:spPr>
          <a:xfrm>
            <a:off x="1341670" y="2689269"/>
            <a:ext cx="58333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.....</a:t>
            </a:r>
            <a:endParaRPr lang="zh-CN" sz="1400"/>
          </a:p>
        </p:txBody>
      </p:sp>
      <p:sp>
        <p:nvSpPr>
          <p:cNvPr id="137" name="TextBox 137"/>
          <p:cNvSpPr txBox="1"/>
          <p:nvPr/>
        </p:nvSpPr>
        <p:spPr>
          <a:xfrm>
            <a:off x="1283336" y="3192140"/>
            <a:ext cx="510418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用户 A</a:t>
            </a:r>
            <a:endParaRPr lang="zh-CN" sz="1400"/>
          </a:p>
        </p:txBody>
      </p:sp>
      <p:sp>
        <p:nvSpPr>
          <p:cNvPr id="138" name="TextBox 138"/>
          <p:cNvSpPr txBox="1"/>
          <p:nvPr/>
        </p:nvSpPr>
        <p:spPr>
          <a:xfrm>
            <a:off x="1852088" y="3228580"/>
            <a:ext cx="48125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5F6468"/>
                </a:solidFill>
                <a:latin typeface="Hannotate SC"/>
                <a:ea typeface="Hannotate SC"/>
                <a:cs typeface="Hannotate SC"/>
              </a:rPr>
              <a:t>10:18</a:t>
            </a:r>
            <a:endParaRPr lang="zh-CN" sz="1300"/>
          </a:p>
        </p:txBody>
      </p:sp>
      <p:sp>
        <p:nvSpPr>
          <p:cNvPr id="139" name="TextBox 139"/>
          <p:cNvSpPr txBox="1"/>
          <p:nvPr/>
        </p:nvSpPr>
        <p:spPr>
          <a:xfrm>
            <a:off x="1283336" y="3461796"/>
            <a:ext cx="2187505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登录后需要返回用户信息，</a:t>
            </a:r>
            <a:endParaRPr lang="zh-CN" sz="1500"/>
          </a:p>
        </p:txBody>
      </p:sp>
      <p:sp>
        <p:nvSpPr>
          <p:cNvPr id="140" name="TextBox 140"/>
          <p:cNvSpPr txBox="1"/>
          <p:nvPr/>
        </p:nvSpPr>
        <p:spPr>
          <a:xfrm>
            <a:off x="1283336" y="3731452"/>
            <a:ext cx="109375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并生成 JWT。</a:t>
            </a:r>
            <a:endParaRPr lang="zh-CN" sz="1500"/>
          </a:p>
        </p:txBody>
      </p:sp>
      <p:sp>
        <p:nvSpPr>
          <p:cNvPr id="141" name="TextBox 141"/>
          <p:cNvSpPr txBox="1"/>
          <p:nvPr/>
        </p:nvSpPr>
        <p:spPr>
          <a:xfrm>
            <a:off x="1341670" y="3986531"/>
            <a:ext cx="58333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.....</a:t>
            </a:r>
            <a:endParaRPr lang="zh-CN" sz="1400"/>
          </a:p>
        </p:txBody>
      </p:sp>
      <p:sp>
        <p:nvSpPr>
          <p:cNvPr id="142" name="TextBox 142"/>
          <p:cNvSpPr txBox="1"/>
          <p:nvPr/>
        </p:nvSpPr>
        <p:spPr>
          <a:xfrm>
            <a:off x="1283336" y="4365507"/>
            <a:ext cx="510418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用户 A</a:t>
            </a:r>
            <a:endParaRPr lang="zh-CN" sz="1400"/>
          </a:p>
        </p:txBody>
      </p:sp>
      <p:sp>
        <p:nvSpPr>
          <p:cNvPr id="143" name="TextBox 143"/>
          <p:cNvSpPr txBox="1"/>
          <p:nvPr/>
        </p:nvSpPr>
        <p:spPr>
          <a:xfrm>
            <a:off x="1852088" y="4401947"/>
            <a:ext cx="48125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5F6468"/>
                </a:solidFill>
                <a:latin typeface="Hannotate SC"/>
                <a:ea typeface="Hannotate SC"/>
                <a:cs typeface="Hannotate SC"/>
              </a:rPr>
              <a:t>10:25</a:t>
            </a:r>
            <a:endParaRPr lang="zh-CN" sz="1300"/>
          </a:p>
        </p:txBody>
      </p:sp>
      <p:sp>
        <p:nvSpPr>
          <p:cNvPr id="144" name="TextBox 144"/>
          <p:cNvSpPr txBox="1"/>
          <p:nvPr/>
        </p:nvSpPr>
        <p:spPr>
          <a:xfrm>
            <a:off x="1283336" y="4635163"/>
            <a:ext cx="200521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再帮我写一个登录接口的</a:t>
            </a:r>
            <a:endParaRPr lang="zh-CN" sz="1500"/>
          </a:p>
        </p:txBody>
      </p:sp>
      <p:sp>
        <p:nvSpPr>
          <p:cNvPr id="145" name="TextBox 145"/>
          <p:cNvSpPr txBox="1"/>
          <p:nvPr/>
        </p:nvSpPr>
        <p:spPr>
          <a:xfrm>
            <a:off x="1283336" y="4904818"/>
            <a:ext cx="1020836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单元测试。</a:t>
            </a:r>
            <a:endParaRPr lang="zh-CN" sz="1500"/>
          </a:p>
        </p:txBody>
      </p:sp>
      <p:sp>
        <p:nvSpPr>
          <p:cNvPr id="146" name="TextBox 146"/>
          <p:cNvSpPr txBox="1"/>
          <p:nvPr/>
        </p:nvSpPr>
        <p:spPr>
          <a:xfrm>
            <a:off x="1341670" y="5130746"/>
            <a:ext cx="58333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.....</a:t>
            </a:r>
            <a:endParaRPr lang="zh-CN" sz="1400"/>
          </a:p>
        </p:txBody>
      </p:sp>
      <p:sp>
        <p:nvSpPr>
          <p:cNvPr id="147" name="TextBox 147"/>
          <p:cNvSpPr txBox="1"/>
          <p:nvPr/>
        </p:nvSpPr>
        <p:spPr>
          <a:xfrm>
            <a:off x="5505221" y="1574206"/>
            <a:ext cx="1166669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D743B"/>
                </a:solidFill>
                <a:latin typeface="Hannotate SC"/>
                <a:ea typeface="Hannotate SC"/>
                <a:cs typeface="Hannotate SC"/>
              </a:rPr>
              <a:t>Bridge 队列</a:t>
            </a:r>
            <a:endParaRPr lang="zh-CN" sz="1800"/>
          </a:p>
        </p:txBody>
      </p:sp>
      <p:sp>
        <p:nvSpPr>
          <p:cNvPr id="148" name="TextBox 148"/>
          <p:cNvSpPr txBox="1"/>
          <p:nvPr/>
        </p:nvSpPr>
        <p:spPr>
          <a:xfrm>
            <a:off x="4892720" y="2405037"/>
            <a:ext cx="422918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10:15</a:t>
            </a:r>
            <a:endParaRPr lang="zh-CN" sz="1300"/>
          </a:p>
        </p:txBody>
      </p:sp>
      <p:sp>
        <p:nvSpPr>
          <p:cNvPr id="149" name="TextBox 149"/>
          <p:cNvSpPr txBox="1"/>
          <p:nvPr/>
        </p:nvSpPr>
        <p:spPr>
          <a:xfrm>
            <a:off x="5410429" y="2405037"/>
            <a:ext cx="173542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请帮我实现用户登录接口。</a:t>
            </a:r>
            <a:endParaRPr lang="zh-CN" sz="1500"/>
          </a:p>
        </p:txBody>
      </p:sp>
      <p:sp>
        <p:nvSpPr>
          <p:cNvPr id="150" name="TextBox 150"/>
          <p:cNvSpPr txBox="1"/>
          <p:nvPr/>
        </p:nvSpPr>
        <p:spPr>
          <a:xfrm>
            <a:off x="5410429" y="2660117"/>
            <a:ext cx="1093753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状态：待处理</a:t>
            </a:r>
            <a:endParaRPr lang="zh-CN" sz="1380"/>
          </a:p>
        </p:txBody>
      </p:sp>
      <p:sp>
        <p:nvSpPr>
          <p:cNvPr id="151" name="TextBox 151"/>
          <p:cNvSpPr txBox="1"/>
          <p:nvPr/>
        </p:nvSpPr>
        <p:spPr>
          <a:xfrm>
            <a:off x="4892720" y="3214004"/>
            <a:ext cx="422918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10:18</a:t>
            </a:r>
            <a:endParaRPr lang="zh-CN" sz="1300"/>
          </a:p>
        </p:txBody>
      </p:sp>
      <p:sp>
        <p:nvSpPr>
          <p:cNvPr id="152" name="TextBox 152"/>
          <p:cNvSpPr txBox="1"/>
          <p:nvPr/>
        </p:nvSpPr>
        <p:spPr>
          <a:xfrm>
            <a:off x="5410429" y="3214004"/>
            <a:ext cx="1720837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登录后需要返回用户信息，</a:t>
            </a:r>
            <a:endParaRPr lang="zh-CN" sz="1500"/>
          </a:p>
        </p:txBody>
      </p:sp>
      <p:sp>
        <p:nvSpPr>
          <p:cNvPr id="153" name="TextBox 153"/>
          <p:cNvSpPr txBox="1"/>
          <p:nvPr/>
        </p:nvSpPr>
        <p:spPr>
          <a:xfrm>
            <a:off x="5410429" y="3447220"/>
            <a:ext cx="105729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并生成 JWT。</a:t>
            </a:r>
            <a:endParaRPr lang="zh-CN" sz="1500"/>
          </a:p>
        </p:txBody>
      </p:sp>
      <p:sp>
        <p:nvSpPr>
          <p:cNvPr id="154" name="TextBox 154"/>
          <p:cNvSpPr txBox="1"/>
          <p:nvPr/>
        </p:nvSpPr>
        <p:spPr>
          <a:xfrm>
            <a:off x="5410429" y="3687724"/>
            <a:ext cx="1093753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状态：待处理</a:t>
            </a:r>
            <a:endParaRPr lang="zh-CN" sz="1380"/>
          </a:p>
        </p:txBody>
      </p:sp>
      <p:sp>
        <p:nvSpPr>
          <p:cNvPr id="155" name="TextBox 155"/>
          <p:cNvSpPr txBox="1"/>
          <p:nvPr/>
        </p:nvSpPr>
        <p:spPr>
          <a:xfrm>
            <a:off x="4892720" y="4227035"/>
            <a:ext cx="422918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10:25</a:t>
            </a:r>
            <a:endParaRPr lang="zh-CN" sz="1300"/>
          </a:p>
        </p:txBody>
      </p:sp>
      <p:sp>
        <p:nvSpPr>
          <p:cNvPr id="156" name="TextBox 156"/>
          <p:cNvSpPr txBox="1"/>
          <p:nvPr/>
        </p:nvSpPr>
        <p:spPr>
          <a:xfrm>
            <a:off x="5410429" y="4219747"/>
            <a:ext cx="173542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再帮我写一个登录接口的</a:t>
            </a:r>
            <a:endParaRPr lang="zh-CN" sz="1500"/>
          </a:p>
        </p:txBody>
      </p:sp>
      <p:sp>
        <p:nvSpPr>
          <p:cNvPr id="157" name="TextBox 157"/>
          <p:cNvSpPr txBox="1"/>
          <p:nvPr/>
        </p:nvSpPr>
        <p:spPr>
          <a:xfrm>
            <a:off x="5410429" y="4460251"/>
            <a:ext cx="911460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单元测试。</a:t>
            </a:r>
            <a:endParaRPr lang="zh-CN" sz="1400"/>
          </a:p>
        </p:txBody>
      </p:sp>
      <p:sp>
        <p:nvSpPr>
          <p:cNvPr id="158" name="TextBox 158"/>
          <p:cNvSpPr txBox="1"/>
          <p:nvPr/>
        </p:nvSpPr>
        <p:spPr>
          <a:xfrm>
            <a:off x="5410429" y="4700755"/>
            <a:ext cx="1093753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状态：待处理</a:t>
            </a:r>
            <a:endParaRPr lang="zh-CN" sz="1380"/>
          </a:p>
        </p:txBody>
      </p:sp>
      <p:sp>
        <p:nvSpPr>
          <p:cNvPr id="159" name="TextBox 159"/>
          <p:cNvSpPr txBox="1"/>
          <p:nvPr/>
        </p:nvSpPr>
        <p:spPr>
          <a:xfrm>
            <a:off x="8443770" y="1639798"/>
            <a:ext cx="20416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00" b="1">
                <a:solidFill>
                  <a:srgbClr val="F36A18"/>
                </a:solidFill>
                <a:latin typeface="Hannotate SC"/>
                <a:ea typeface="Hannotate SC"/>
                <a:cs typeface="Hannotate SC"/>
              </a:rPr>
              <a:t>C</a:t>
            </a:r>
            <a:endParaRPr lang="zh-CN" sz="2100"/>
          </a:p>
        </p:txBody>
      </p:sp>
      <p:sp>
        <p:nvSpPr>
          <p:cNvPr id="160" name="TextBox 160"/>
          <p:cNvSpPr txBox="1"/>
          <p:nvPr/>
        </p:nvSpPr>
        <p:spPr>
          <a:xfrm>
            <a:off x="8808354" y="1588782"/>
            <a:ext cx="2260422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F36A18"/>
                </a:solidFill>
                <a:latin typeface="Hannotate SC"/>
                <a:ea typeface="Hannotate SC"/>
                <a:cs typeface="Hannotate SC"/>
              </a:rPr>
              <a:t>Codex Thread (同一个线程)</a:t>
            </a:r>
            <a:endParaRPr lang="zh-CN" sz="1800"/>
          </a:p>
        </p:txBody>
      </p:sp>
      <p:sp>
        <p:nvSpPr>
          <p:cNvPr id="161" name="TextBox 161"/>
          <p:cNvSpPr txBox="1"/>
          <p:nvPr/>
        </p:nvSpPr>
        <p:spPr>
          <a:xfrm>
            <a:off x="8290644" y="2346733"/>
            <a:ext cx="182292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Thread: api-项目</a:t>
            </a:r>
            <a:endParaRPr lang="zh-CN" sz="1600"/>
          </a:p>
        </p:txBody>
      </p:sp>
      <p:sp>
        <p:nvSpPr>
          <p:cNvPr id="162" name="TextBox 162"/>
          <p:cNvSpPr txBox="1"/>
          <p:nvPr/>
        </p:nvSpPr>
        <p:spPr>
          <a:xfrm>
            <a:off x="8626062" y="2835029"/>
            <a:ext cx="44479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10:15</a:t>
            </a:r>
            <a:endParaRPr lang="zh-CN" sz="1300"/>
          </a:p>
        </p:txBody>
      </p:sp>
      <p:sp>
        <p:nvSpPr>
          <p:cNvPr id="163" name="TextBox 163"/>
          <p:cNvSpPr txBox="1"/>
          <p:nvPr/>
        </p:nvSpPr>
        <p:spPr>
          <a:xfrm>
            <a:off x="9114605" y="2827741"/>
            <a:ext cx="204167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处理：实现用户登录接口</a:t>
            </a:r>
            <a:endParaRPr lang="zh-CN" sz="1350"/>
          </a:p>
        </p:txBody>
      </p:sp>
      <p:sp>
        <p:nvSpPr>
          <p:cNvPr id="164" name="TextBox 164"/>
          <p:cNvSpPr txBox="1"/>
          <p:nvPr/>
        </p:nvSpPr>
        <p:spPr>
          <a:xfrm>
            <a:off x="8626062" y="3082820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结果：</a:t>
            </a:r>
            <a:endParaRPr lang="zh-CN" sz="1400"/>
          </a:p>
        </p:txBody>
      </p:sp>
      <p:sp>
        <p:nvSpPr>
          <p:cNvPr id="165" name="TextBox 165"/>
          <p:cNvSpPr txBox="1"/>
          <p:nvPr/>
        </p:nvSpPr>
        <p:spPr>
          <a:xfrm>
            <a:off x="9450022" y="3082820"/>
            <a:ext cx="656252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已完成</a:t>
            </a:r>
            <a:endParaRPr lang="zh-CN" sz="1400"/>
          </a:p>
        </p:txBody>
      </p:sp>
      <p:sp>
        <p:nvSpPr>
          <p:cNvPr id="166" name="TextBox 166"/>
          <p:cNvSpPr txBox="1"/>
          <p:nvPr/>
        </p:nvSpPr>
        <p:spPr>
          <a:xfrm>
            <a:off x="8626062" y="3592980"/>
            <a:ext cx="44479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10:18</a:t>
            </a:r>
            <a:endParaRPr lang="zh-CN" sz="1300"/>
          </a:p>
        </p:txBody>
      </p:sp>
      <p:sp>
        <p:nvSpPr>
          <p:cNvPr id="167" name="TextBox 167"/>
          <p:cNvSpPr txBox="1"/>
          <p:nvPr/>
        </p:nvSpPr>
        <p:spPr>
          <a:xfrm>
            <a:off x="9114605" y="3585692"/>
            <a:ext cx="240625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处理：返回用户信息并生成 JWT</a:t>
            </a:r>
            <a:endParaRPr lang="zh-CN" sz="1350"/>
          </a:p>
        </p:txBody>
      </p:sp>
      <p:sp>
        <p:nvSpPr>
          <p:cNvPr id="168" name="TextBox 168"/>
          <p:cNvSpPr txBox="1"/>
          <p:nvPr/>
        </p:nvSpPr>
        <p:spPr>
          <a:xfrm>
            <a:off x="8626062" y="3840772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结果：</a:t>
            </a:r>
            <a:endParaRPr lang="zh-CN" sz="1400"/>
          </a:p>
        </p:txBody>
      </p:sp>
      <p:sp>
        <p:nvSpPr>
          <p:cNvPr id="169" name="TextBox 169"/>
          <p:cNvSpPr txBox="1"/>
          <p:nvPr/>
        </p:nvSpPr>
        <p:spPr>
          <a:xfrm>
            <a:off x="9450022" y="3840772"/>
            <a:ext cx="656252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已完成</a:t>
            </a:r>
            <a:endParaRPr lang="zh-CN" sz="1400"/>
          </a:p>
        </p:txBody>
      </p:sp>
      <p:sp>
        <p:nvSpPr>
          <p:cNvPr id="170" name="TextBox 170"/>
          <p:cNvSpPr txBox="1"/>
          <p:nvPr/>
        </p:nvSpPr>
        <p:spPr>
          <a:xfrm>
            <a:off x="8626062" y="4343643"/>
            <a:ext cx="44479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10:25</a:t>
            </a:r>
            <a:endParaRPr lang="zh-CN" sz="1300"/>
          </a:p>
        </p:txBody>
      </p:sp>
      <p:sp>
        <p:nvSpPr>
          <p:cNvPr id="171" name="TextBox 171"/>
          <p:cNvSpPr txBox="1"/>
          <p:nvPr/>
        </p:nvSpPr>
        <p:spPr>
          <a:xfrm>
            <a:off x="9114605" y="4336355"/>
            <a:ext cx="218750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处理：编写登录接口单元测试</a:t>
            </a:r>
            <a:endParaRPr lang="zh-CN" sz="1350"/>
          </a:p>
        </p:txBody>
      </p:sp>
      <p:sp>
        <p:nvSpPr>
          <p:cNvPr id="172" name="TextBox 172"/>
          <p:cNvSpPr txBox="1"/>
          <p:nvPr/>
        </p:nvSpPr>
        <p:spPr>
          <a:xfrm>
            <a:off x="8626062" y="4591435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结果：</a:t>
            </a:r>
            <a:endParaRPr lang="zh-CN" sz="1400"/>
          </a:p>
        </p:txBody>
      </p:sp>
      <p:sp>
        <p:nvSpPr>
          <p:cNvPr id="173" name="TextBox 173"/>
          <p:cNvSpPr txBox="1"/>
          <p:nvPr/>
        </p:nvSpPr>
        <p:spPr>
          <a:xfrm>
            <a:off x="9450022" y="4591435"/>
            <a:ext cx="656252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已完成</a:t>
            </a:r>
            <a:endParaRPr lang="zh-CN" sz="1400"/>
          </a:p>
        </p:txBody>
      </p:sp>
      <p:sp>
        <p:nvSpPr>
          <p:cNvPr id="174" name="TextBox 174"/>
          <p:cNvSpPr txBox="1"/>
          <p:nvPr/>
        </p:nvSpPr>
        <p:spPr>
          <a:xfrm>
            <a:off x="8283353" y="4926682"/>
            <a:ext cx="2770840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上下文持续累积，线程保持不变</a:t>
            </a:r>
            <a:endParaRPr lang="zh-CN" sz="1500"/>
          </a:p>
        </p:txBody>
      </p:sp>
      <p:sp>
        <p:nvSpPr>
          <p:cNvPr id="175" name="TextBox 175"/>
          <p:cNvSpPr txBox="1"/>
          <p:nvPr/>
        </p:nvSpPr>
        <p:spPr>
          <a:xfrm>
            <a:off x="2916673" y="5487858"/>
            <a:ext cx="1312503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F72DD"/>
                </a:solidFill>
                <a:latin typeface="Hannotate SC"/>
                <a:ea typeface="Hannotate SC"/>
                <a:cs typeface="Hannotate SC"/>
              </a:rPr>
              <a:t>普通消息 = 任务</a:t>
            </a:r>
            <a:endParaRPr lang="zh-CN" sz="1600"/>
          </a:p>
        </p:txBody>
      </p:sp>
      <p:sp>
        <p:nvSpPr>
          <p:cNvPr id="176" name="TextBox 176"/>
          <p:cNvSpPr txBox="1"/>
          <p:nvPr/>
        </p:nvSpPr>
        <p:spPr>
          <a:xfrm>
            <a:off x="4907303" y="5436842"/>
            <a:ext cx="291667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2D743B"/>
                </a:solidFill>
                <a:latin typeface="Arial Unicode MS"/>
                <a:ea typeface="Arial Unicode MS"/>
                <a:cs typeface="Arial Unicode MS"/>
              </a:rPr>
              <a:t>↻</a:t>
            </a:r>
            <a:endParaRPr lang="zh-CN" sz="2400"/>
          </a:p>
        </p:txBody>
      </p:sp>
      <p:sp>
        <p:nvSpPr>
          <p:cNvPr id="177" name="TextBox 177"/>
          <p:cNvSpPr txBox="1"/>
          <p:nvPr/>
        </p:nvSpPr>
        <p:spPr>
          <a:xfrm>
            <a:off x="5242721" y="5495146"/>
            <a:ext cx="1239586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2D743B"/>
                </a:solidFill>
                <a:latin typeface="Hannotate SC"/>
                <a:ea typeface="Hannotate SC"/>
                <a:cs typeface="Hannotate SC"/>
              </a:rPr>
              <a:t>同频道复用线程</a:t>
            </a:r>
            <a:endParaRPr lang="zh-CN" sz="1600"/>
          </a:p>
        </p:txBody>
      </p:sp>
      <p:sp>
        <p:nvSpPr>
          <p:cNvPr id="178" name="TextBox 178"/>
          <p:cNvSpPr txBox="1"/>
          <p:nvPr/>
        </p:nvSpPr>
        <p:spPr>
          <a:xfrm>
            <a:off x="7065642" y="5458706"/>
            <a:ext cx="21875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F36A18"/>
                </a:solidFill>
                <a:latin typeface="Arial Unicode MS"/>
                <a:ea typeface="Arial Unicode MS"/>
                <a:cs typeface="Arial Unicode MS"/>
              </a:rPr>
              <a:t>&gt;_</a:t>
            </a:r>
            <a:endParaRPr lang="zh-CN" sz="1400"/>
          </a:p>
        </p:txBody>
      </p:sp>
      <p:sp>
        <p:nvSpPr>
          <p:cNvPr id="179" name="TextBox 179"/>
          <p:cNvSpPr txBox="1"/>
          <p:nvPr/>
        </p:nvSpPr>
        <p:spPr>
          <a:xfrm>
            <a:off x="7393767" y="5495146"/>
            <a:ext cx="215104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F36A18"/>
                </a:solidFill>
                <a:latin typeface="Hannotate SC"/>
                <a:ea typeface="Hannotate SC"/>
                <a:cs typeface="Hannotate SC"/>
              </a:rPr>
              <a:t>!codex / !claude  单次覆盖</a:t>
            </a:r>
            <a:endParaRPr lang="zh-CN" sz="1600"/>
          </a:p>
        </p:txBody>
      </p:sp>
      <p:sp>
        <p:nvSpPr>
          <p:cNvPr id="180" name="TextBox 180"/>
          <p:cNvSpPr txBox="1"/>
          <p:nvPr/>
        </p:nvSpPr>
        <p:spPr>
          <a:xfrm>
            <a:off x="2727090" y="6165641"/>
            <a:ext cx="5614596" cy="3789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频道像一个</a:t>
            </a:r>
            <a:r>
              <a:rPr lang="zh-CN" sz="2400">
                <a:solidFill>
                  <a:srgbClr val="1F72DD"/>
                </a:solidFill>
                <a:latin typeface="Hannotate SC"/>
                <a:ea typeface="Hannotate SC"/>
                <a:cs typeface="Hannotate SC"/>
              </a:rPr>
              <a:t>长期工作会话</a:t>
            </a:r>
            <a:r>
              <a:rPr lang="zh-CN" sz="2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， Codex 能接住</a:t>
            </a:r>
            <a:r>
              <a:rPr lang="zh-CN" sz="2400">
                <a:solidFill>
                  <a:srgbClr val="1F72DD"/>
                </a:solidFill>
                <a:latin typeface="Hannotate SC"/>
                <a:ea typeface="Hannotate SC"/>
                <a:cs typeface="Hannotate SC"/>
              </a:rPr>
              <a:t>上下文</a:t>
            </a:r>
            <a:r>
              <a:rPr lang="zh-CN" sz="2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。</a:t>
            </a:r>
            <a:endParaRPr lang="zh-CN" sz="2400"/>
          </a:p>
        </p:txBody>
      </p:sp>
      <p:sp>
        <p:nvSpPr>
          <p:cNvPr id="181" name="TextBox 181"/>
          <p:cNvSpPr txBox="1"/>
          <p:nvPr/>
        </p:nvSpPr>
        <p:spPr>
          <a:xfrm>
            <a:off x="4652094" y="2397749"/>
            <a:ext cx="313542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1</a:t>
            </a:r>
            <a:endParaRPr lang="zh-CN" sz="1300"/>
          </a:p>
        </p:txBody>
      </p:sp>
      <p:sp>
        <p:nvSpPr>
          <p:cNvPr id="182" name="TextBox 182"/>
          <p:cNvSpPr txBox="1"/>
          <p:nvPr/>
        </p:nvSpPr>
        <p:spPr>
          <a:xfrm>
            <a:off x="4652094" y="3214004"/>
            <a:ext cx="131250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2</a:t>
            </a:r>
            <a:endParaRPr lang="zh-CN" sz="1300"/>
          </a:p>
        </p:txBody>
      </p:sp>
      <p:sp>
        <p:nvSpPr>
          <p:cNvPr id="183" name="TextBox 183"/>
          <p:cNvSpPr txBox="1"/>
          <p:nvPr/>
        </p:nvSpPr>
        <p:spPr>
          <a:xfrm>
            <a:off x="4652094" y="4197883"/>
            <a:ext cx="131250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3</a:t>
            </a:r>
            <a:endParaRPr lang="zh-CN" sz="1300"/>
          </a:p>
        </p:txBody>
      </p:sp>
      <p:sp>
        <p:nvSpPr>
          <p:cNvPr id="184" name="TextBox 184"/>
          <p:cNvSpPr txBox="1"/>
          <p:nvPr/>
        </p:nvSpPr>
        <p:spPr>
          <a:xfrm>
            <a:off x="8341686" y="2827741"/>
            <a:ext cx="1239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1</a:t>
            </a:r>
            <a:endParaRPr lang="zh-CN" sz="1300"/>
          </a:p>
        </p:txBody>
      </p:sp>
      <p:sp>
        <p:nvSpPr>
          <p:cNvPr id="185" name="TextBox 185"/>
          <p:cNvSpPr txBox="1"/>
          <p:nvPr/>
        </p:nvSpPr>
        <p:spPr>
          <a:xfrm>
            <a:off x="8341686" y="3585692"/>
            <a:ext cx="1239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2</a:t>
            </a:r>
            <a:endParaRPr lang="zh-CN" sz="1300"/>
          </a:p>
        </p:txBody>
      </p:sp>
      <p:sp>
        <p:nvSpPr>
          <p:cNvPr id="186" name="TextBox 186"/>
          <p:cNvSpPr txBox="1"/>
          <p:nvPr/>
        </p:nvSpPr>
        <p:spPr>
          <a:xfrm>
            <a:off x="8341686" y="4336355"/>
            <a:ext cx="1239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3</a:t>
            </a:r>
            <a:endParaRPr lang="zh-CN" sz="1300"/>
          </a:p>
        </p:txBody>
      </p:sp>
      <p:sp>
        <p:nvSpPr>
          <p:cNvPr id="187" name="TextBox 187"/>
          <p:cNvSpPr txBox="1"/>
          <p:nvPr/>
        </p:nvSpPr>
        <p:spPr>
          <a:xfrm>
            <a:off x="9202105" y="3017228"/>
            <a:ext cx="175000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E9B44"/>
                </a:solidFill>
                <a:latin typeface="Arial Unicode MS"/>
                <a:ea typeface="Arial Unicode MS"/>
                <a:cs typeface="Arial Unicode MS"/>
              </a:rPr>
              <a:t>✓</a:t>
            </a:r>
            <a:endParaRPr lang="zh-CN" sz="1800"/>
          </a:p>
        </p:txBody>
      </p:sp>
      <p:sp>
        <p:nvSpPr>
          <p:cNvPr id="188" name="TextBox 188"/>
          <p:cNvSpPr txBox="1"/>
          <p:nvPr/>
        </p:nvSpPr>
        <p:spPr>
          <a:xfrm>
            <a:off x="9202105" y="3775180"/>
            <a:ext cx="175000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E9B44"/>
                </a:solidFill>
                <a:latin typeface="Arial Unicode MS"/>
                <a:ea typeface="Arial Unicode MS"/>
                <a:cs typeface="Arial Unicode MS"/>
              </a:rPr>
              <a:t>✓</a:t>
            </a:r>
            <a:endParaRPr lang="zh-CN" sz="1800"/>
          </a:p>
        </p:txBody>
      </p:sp>
      <p:sp>
        <p:nvSpPr>
          <p:cNvPr id="189" name="TextBox 189"/>
          <p:cNvSpPr txBox="1"/>
          <p:nvPr/>
        </p:nvSpPr>
        <p:spPr>
          <a:xfrm>
            <a:off x="9202105" y="4525843"/>
            <a:ext cx="175000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E9B44"/>
                </a:solidFill>
                <a:latin typeface="Arial Unicode MS"/>
                <a:ea typeface="Arial Unicode MS"/>
                <a:cs typeface="Arial Unicode MS"/>
              </a:rPr>
              <a:t>✓</a:t>
            </a:r>
            <a:endParaRPr lang="zh-CN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