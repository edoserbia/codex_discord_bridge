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28126" y="2434189"/>
            <a:ext cx="1990630" cy="1938606"/>
          </a:xfrm>
          <a:prstGeom prst="roundRect">
            <a:avLst>
              <a:gd name="adj" fmla="val 8271"/>
            </a:avLst>
          </a:prstGeom>
          <a:solidFill>
            <a:srgbClr val="FFFDFC"/>
          </a:solidFill>
          <a:ln w="279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5395846" y="2558085"/>
            <a:ext cx="2362506" cy="2106230"/>
          </a:xfrm>
          <a:prstGeom prst="roundRect">
            <a:avLst>
              <a:gd name="adj" fmla="val 8651"/>
            </a:avLst>
          </a:prstGeom>
          <a:solidFill>
            <a:srgbClr val="FCFFFC"/>
          </a:solidFill>
          <a:ln w="25400">
            <a:solidFill>
              <a:srgbClr val="237239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421895" y="1472174"/>
            <a:ext cx="3120841" cy="3716876"/>
          </a:xfrm>
          <a:prstGeom prst="roundRect">
            <a:avLst>
              <a:gd name="adj" fmla="val 8411"/>
            </a:avLst>
          </a:prstGeom>
          <a:solidFill>
            <a:srgbClr val="FBFDFF"/>
          </a:solidFill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844796" y="5793953"/>
            <a:ext cx="8640645" cy="714223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22860">
            <a:solidFill>
              <a:srgbClr val="A8CFFF"/>
            </a:solidFill>
            <a:prstDash val="dash"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902090" y="1610646"/>
            <a:ext cx="1946880" cy="991167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254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902090" y="2827741"/>
            <a:ext cx="1946880" cy="954727"/>
          </a:xfrm>
          <a:prstGeom prst="roundRect">
            <a:avLst>
              <a:gd name="adj" fmla="val 13740"/>
            </a:avLst>
          </a:prstGeom>
          <a:solidFill>
            <a:srgbClr val="FFFFFF"/>
          </a:solidFill>
          <a:ln w="254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902090" y="3993819"/>
            <a:ext cx="1946880" cy="940151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54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505221" y="2900621"/>
            <a:ext cx="2114588" cy="1064047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5240">
            <a:solidFill>
              <a:srgbClr val="8FB99B"/>
            </a:solidFill>
            <a:prstDash val="dash"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575020" y="2113518"/>
            <a:ext cx="2814590" cy="838119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22860">
            <a:solidFill>
              <a:srgbClr val="86B2F2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575020" y="3002652"/>
            <a:ext cx="2814590" cy="1435734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 w="22860">
            <a:solidFill>
              <a:srgbClr val="86B2F2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575020" y="4496691"/>
            <a:ext cx="2814590" cy="532023"/>
          </a:xfrm>
          <a:prstGeom prst="roundRect">
            <a:avLst>
              <a:gd name="adj" fmla="val 20548"/>
            </a:avLst>
          </a:prstGeom>
          <a:solidFill>
            <a:srgbClr val="FFFFFF"/>
          </a:solidFill>
          <a:ln w="22860">
            <a:solidFill>
              <a:srgbClr val="86B2F2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2785423" y="5174474"/>
            <a:ext cx="1575004" cy="386264"/>
          </a:xfrm>
          <a:prstGeom prst="roundRect">
            <a:avLst>
              <a:gd name="adj" fmla="val 22642"/>
            </a:avLst>
          </a:prstGeom>
          <a:solidFill>
            <a:srgbClr val="ECF7EC"/>
          </a:solidFill>
          <a:ln w="22860">
            <a:solidFill>
              <a:srgbClr val="237239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622927" y="5174474"/>
            <a:ext cx="1771879" cy="386264"/>
          </a:xfrm>
          <a:prstGeom prst="roundRect">
            <a:avLst>
              <a:gd name="adj" fmla="val 22642"/>
            </a:avLst>
          </a:prstGeom>
          <a:solidFill>
            <a:srgbClr val="EDF5FF"/>
          </a:solidFill>
          <a:ln w="2286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620849" y="5174474"/>
            <a:ext cx="1786463" cy="386264"/>
          </a:xfrm>
          <a:prstGeom prst="roundRect">
            <a:avLst>
              <a:gd name="adj" fmla="val 22642"/>
            </a:avLst>
          </a:prstGeom>
          <a:solidFill>
            <a:srgbClr val="FFF8F1"/>
          </a:solidFill>
          <a:ln w="22860">
            <a:solidFill>
              <a:srgbClr val="F4933C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2989590" y="1202519"/>
            <a:ext cx="6664599" cy="43728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3397925" y="1246247"/>
            <a:ext cx="6095848" cy="94744"/>
          </a:xfrm>
          <a:prstGeom prst="line">
            <a:avLst/>
          </a:prstGeom>
          <a:noFill/>
          <a:ln w="254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V="1">
            <a:off x="3215633" y="1238959"/>
            <a:ext cx="5053137" cy="58304"/>
          </a:xfrm>
          <a:prstGeom prst="line">
            <a:avLst/>
          </a:prstGeom>
          <a:noFill/>
          <a:ln w="25400">
            <a:solidFill>
              <a:srgbClr val="5D9AF0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530214" y="393552"/>
            <a:ext cx="36458" cy="204064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566673" y="597615"/>
            <a:ext cx="153125" cy="87456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2457297" y="597615"/>
            <a:ext cx="109375" cy="80168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2566673" y="597615"/>
            <a:ext cx="58333" cy="196776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 flipH="1">
            <a:off x="2406256" y="597615"/>
            <a:ext cx="160417" cy="0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2610423" y="830831"/>
            <a:ext cx="131250" cy="43728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530214" y="932863"/>
            <a:ext cx="175000" cy="29152"/>
          </a:xfrm>
          <a:prstGeom prst="line">
            <a:avLst/>
          </a:prstGeom>
          <a:noFill/>
          <a:ln w="38100">
            <a:solidFill>
              <a:srgbClr val="2D7BE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 flipV="1">
            <a:off x="9858356" y="378976"/>
            <a:ext cx="116667" cy="160336"/>
          </a:xfrm>
          <a:prstGeom prst="line">
            <a:avLst/>
          </a:prstGeom>
          <a:noFill/>
          <a:ln w="508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V="1">
            <a:off x="10040648" y="626767"/>
            <a:ext cx="131250" cy="58304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9953148" y="772527"/>
            <a:ext cx="51042" cy="116608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918752" y="2754861"/>
            <a:ext cx="809377" cy="539311"/>
          </a:xfrm>
          <a:prstGeom prst="roundRect">
            <a:avLst>
              <a:gd name="adj" fmla="val 13514"/>
            </a:avLst>
          </a:prstGeom>
          <a:solidFill>
            <a:srgbClr val="FFFDFC"/>
          </a:solidFill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8626062" y="1603358"/>
            <a:ext cx="430209" cy="429991"/>
          </a:xfrm>
          <a:prstGeom prst="ellipse">
            <a:avLst/>
          </a:prstGeom>
          <a:solidFill>
            <a:srgbClr val="617EF8"/>
          </a:solidFill>
          <a:ln w="12700">
            <a:solidFill>
              <a:srgbClr val="617EF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8677104" y="3709588"/>
            <a:ext cx="2610423" cy="0"/>
          </a:xfrm>
          <a:prstGeom prst="line">
            <a:avLst/>
          </a:prstGeom>
          <a:noFill/>
          <a:ln w="12700">
            <a:solidFill>
              <a:srgbClr val="BCC7D6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677104" y="4059411"/>
            <a:ext cx="2610423" cy="0"/>
          </a:xfrm>
          <a:prstGeom prst="line">
            <a:avLst/>
          </a:prstGeom>
          <a:noFill/>
          <a:ln w="12700">
            <a:solidFill>
              <a:srgbClr val="BCC7D6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2333339" y="3286884"/>
            <a:ext cx="495834" cy="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2501048" y="2317581"/>
            <a:ext cx="0" cy="188759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V="1">
            <a:off x="2486464" y="2047926"/>
            <a:ext cx="335417" cy="269656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2727090" y="3184852"/>
            <a:ext cx="196875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501048" y="4205171"/>
            <a:ext cx="335417" cy="21864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4841678" y="2120806"/>
            <a:ext cx="226042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067720" y="2230125"/>
            <a:ext cx="94792" cy="903711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162512" y="3133836"/>
            <a:ext cx="131250" cy="153048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4870845" y="3294172"/>
            <a:ext cx="466668" cy="0"/>
          </a:xfrm>
          <a:prstGeom prst="line">
            <a:avLst/>
          </a:prstGeom>
          <a:noFill/>
          <a:ln w="406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 flipH="1">
            <a:off x="5096887" y="3367052"/>
            <a:ext cx="65625" cy="947439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 flipH="1">
            <a:off x="4848970" y="4314491"/>
            <a:ext cx="247917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7816685" y="3323324"/>
            <a:ext cx="495834" cy="0"/>
          </a:xfrm>
          <a:prstGeom prst="line">
            <a:avLst/>
          </a:prstGeom>
          <a:noFill/>
          <a:ln w="508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8786479" y="1778270"/>
            <a:ext cx="58333" cy="65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8910438" y="1778270"/>
            <a:ext cx="58333" cy="65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720854" y="1836574"/>
            <a:ext cx="284376" cy="0"/>
          </a:xfrm>
          <a:prstGeom prst="line">
            <a:avLst/>
          </a:prstGeom>
          <a:noFill/>
          <a:ln w="381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H="1" flipV="1">
            <a:off x="2705215" y="2033350"/>
            <a:ext cx="116667" cy="14576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2763548" y="2047926"/>
            <a:ext cx="58333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H="1" flipV="1">
            <a:off x="2814590" y="3199428"/>
            <a:ext cx="109375" cy="94744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H="1">
            <a:off x="2814590" y="3294172"/>
            <a:ext cx="109375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H="1">
            <a:off x="2712506" y="4423811"/>
            <a:ext cx="123959" cy="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 flipH="1" flipV="1">
            <a:off x="2756256" y="4314491"/>
            <a:ext cx="80209" cy="1093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 flipV="1">
            <a:off x="5191679" y="3155700"/>
            <a:ext cx="145834" cy="138472"/>
          </a:xfrm>
          <a:prstGeom prst="line">
            <a:avLst/>
          </a:prstGeom>
          <a:noFill/>
          <a:ln w="406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 flipH="1">
            <a:off x="5198971" y="3294172"/>
            <a:ext cx="138542" cy="138472"/>
          </a:xfrm>
          <a:prstGeom prst="line">
            <a:avLst/>
          </a:prstGeom>
          <a:noFill/>
          <a:ln w="406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 flipH="1" flipV="1">
            <a:off x="8144811" y="3155700"/>
            <a:ext cx="167709" cy="167624"/>
          </a:xfrm>
          <a:prstGeom prst="line">
            <a:avLst/>
          </a:prstGeom>
          <a:noFill/>
          <a:ln w="508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 flipH="1">
            <a:off x="8144811" y="3323324"/>
            <a:ext cx="167709" cy="167624"/>
          </a:xfrm>
          <a:prstGeom prst="line">
            <a:avLst/>
          </a:prstGeom>
          <a:noFill/>
          <a:ln w="508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728145" y="2215549"/>
            <a:ext cx="262501" cy="262368"/>
          </a:xfrm>
          <a:prstGeom prst="ellipse">
            <a:avLst/>
          </a:prstGeom>
          <a:solidFill>
            <a:srgbClr val="F8FFF8"/>
          </a:solidFill>
          <a:ln w="3048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8728145" y="3111972"/>
            <a:ext cx="284376" cy="269656"/>
          </a:xfrm>
          <a:prstGeom prst="ellipse">
            <a:avLst/>
          </a:prstGeom>
          <a:solidFill>
            <a:srgbClr val="E8F1FF"/>
          </a:solidFill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8735437" y="3797044"/>
            <a:ext cx="160417" cy="196776"/>
          </a:xfrm>
          <a:prstGeom prst="rect">
            <a:avLst/>
          </a:prstGeom>
          <a:solidFill>
            <a:srgbClr val="F8FBFF"/>
          </a:solidFill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8735437" y="4168731"/>
            <a:ext cx="153125" cy="189488"/>
          </a:xfrm>
          <a:prstGeom prst="rect">
            <a:avLst/>
          </a:prstGeom>
          <a:solidFill>
            <a:srgbClr val="F8FBFF"/>
          </a:solidFill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8735437" y="4613299"/>
            <a:ext cx="167709" cy="306096"/>
          </a:xfrm>
          <a:prstGeom prst="ellipse">
            <a:avLst/>
          </a:prstGeom>
          <a:noFill/>
          <a:ln w="4318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2960424" y="5247354"/>
            <a:ext cx="262501" cy="262368"/>
          </a:xfrm>
          <a:prstGeom prst="ellipse">
            <a:avLst/>
          </a:prstGeom>
          <a:solidFill>
            <a:srgbClr val="F7FEF8"/>
          </a:solidFill>
          <a:ln w="3048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4805220" y="5247354"/>
            <a:ext cx="284376" cy="269656"/>
          </a:xfrm>
          <a:prstGeom prst="ellipse">
            <a:avLst/>
          </a:prstGeom>
          <a:solidFill>
            <a:srgbClr val="E8F1FF"/>
          </a:solidFill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6781266" y="5254642"/>
            <a:ext cx="138542" cy="255080"/>
          </a:xfrm>
          <a:prstGeom prst="ellips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2158338" y="5998017"/>
            <a:ext cx="269792" cy="276944"/>
          </a:xfrm>
          <a:prstGeom prst="ellipse">
            <a:avLst/>
          </a:prstGeom>
          <a:solidFill>
            <a:srgbClr val="FFFDEB"/>
          </a:solidFill>
          <a:ln w="3048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 flipV="1">
            <a:off x="495834" y="177827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758335" y="177827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495834" y="192403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 flipH="1">
            <a:off x="758335" y="1924030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495834" y="1924030"/>
            <a:ext cx="0" cy="2915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1020836" y="1924030"/>
            <a:ext cx="0" cy="2915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758335" y="2069790"/>
            <a:ext cx="0" cy="29152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495834" y="2215549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 flipH="1">
            <a:off x="758335" y="2215549"/>
            <a:ext cx="262501" cy="14576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1093753" y="2900621"/>
            <a:ext cx="138542" cy="138472"/>
          </a:xfrm>
          <a:prstGeom prst="lin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 flipH="1">
            <a:off x="1101044" y="3039092"/>
            <a:ext cx="131250" cy="123896"/>
          </a:xfrm>
          <a:prstGeom prst="lin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334378" y="3148412"/>
            <a:ext cx="145834" cy="0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3062507" y="1821998"/>
            <a:ext cx="371876" cy="371688"/>
          </a:xfrm>
          <a:prstGeom prst="ellipse">
            <a:avLst/>
          </a:prstGeom>
          <a:solidFill>
            <a:srgbClr val="F7FEF8"/>
          </a:solidFill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3062507" y="3009940"/>
            <a:ext cx="342709" cy="437279"/>
          </a:xfrm>
          <a:prstGeom prst="rect">
            <a:avLst/>
          </a:prstGeom>
          <a:solidFill>
            <a:srgbClr val="F7FBFF"/>
          </a:solidFill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3091674" y="4234323"/>
            <a:ext cx="211459" cy="357112"/>
          </a:xfrm>
          <a:prstGeom prst="ellips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5818764" y="2339445"/>
            <a:ext cx="831252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5731263" y="2434189"/>
            <a:ext cx="977086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5971889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6073973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5971889" y="2033350"/>
            <a:ext cx="102084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6431265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6533349" y="2033350"/>
            <a:ext cx="0" cy="40084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6431265" y="2033350"/>
            <a:ext cx="102084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 flipV="1">
            <a:off x="5811472" y="2113518"/>
            <a:ext cx="160417" cy="204064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6073973" y="2113518"/>
            <a:ext cx="196875" cy="225928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 flipV="1">
            <a:off x="6270848" y="2113518"/>
            <a:ext cx="160417" cy="225928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533349" y="2113518"/>
            <a:ext cx="116667" cy="211352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6001056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6044806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5942722" y="2579949"/>
            <a:ext cx="175000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6460432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6504182" y="2434189"/>
            <a:ext cx="0" cy="14576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6402098" y="2579949"/>
            <a:ext cx="175000" cy="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8801062" y="2339445"/>
            <a:ext cx="72917" cy="72880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V="1">
            <a:off x="8873979" y="2273853"/>
            <a:ext cx="87500" cy="138472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 flipH="1">
            <a:off x="8742729" y="3352476"/>
            <a:ext cx="51042" cy="7288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8815646" y="3206716"/>
            <a:ext cx="138542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8815646" y="3279596"/>
            <a:ext cx="1166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9741689" y="3622132"/>
            <a:ext cx="0" cy="153048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9676064" y="3709588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>
            <a:off x="9741689" y="3709588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8844812" y="3928227"/>
            <a:ext cx="87500" cy="87456"/>
          </a:xfrm>
          <a:prstGeom prst="ellips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8910438" y="3993819"/>
            <a:ext cx="51042" cy="51016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9741689" y="3986531"/>
            <a:ext cx="0" cy="153048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9676064" y="4073987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 flipH="1">
            <a:off x="9741689" y="4073987"/>
            <a:ext cx="65625" cy="65592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8779187" y="4241611"/>
            <a:ext cx="72917" cy="0"/>
          </a:xfrm>
          <a:prstGeom prst="line">
            <a:avLst/>
          </a:prstGeom>
          <a:noFill/>
          <a:ln w="190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8779187" y="4299915"/>
            <a:ext cx="80209" cy="0"/>
          </a:xfrm>
          <a:prstGeom prst="line">
            <a:avLst/>
          </a:prstGeom>
          <a:noFill/>
          <a:ln w="190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 flipV="1">
            <a:off x="8822937" y="4642451"/>
            <a:ext cx="153125" cy="196776"/>
          </a:xfrm>
          <a:prstGeom prst="line">
            <a:avLst/>
          </a:prstGeom>
          <a:noFill/>
          <a:ln w="4318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8830229" y="4708043"/>
            <a:ext cx="87500" cy="167624"/>
          </a:xfrm>
          <a:prstGeom prst="ellipse">
            <a:avLst/>
          </a:prstGeom>
          <a:noFill/>
          <a:ln w="3175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3026049" y="5371250"/>
            <a:ext cx="80209" cy="72880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 flipV="1">
            <a:off x="3106257" y="5291082"/>
            <a:ext cx="87500" cy="153048"/>
          </a:xfrm>
          <a:prstGeom prst="line">
            <a:avLst/>
          </a:prstGeom>
          <a:noFill/>
          <a:ln w="3175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 flipH="1">
            <a:off x="4812511" y="5495146"/>
            <a:ext cx="58333" cy="58304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4892720" y="5349386"/>
            <a:ext cx="131250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4892720" y="5422266"/>
            <a:ext cx="109375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 flipV="1">
            <a:off x="6861474" y="5276506"/>
            <a:ext cx="138542" cy="189488"/>
          </a:xfrm>
          <a:prstGeom prst="lin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6883349" y="5342098"/>
            <a:ext cx="72917" cy="138472"/>
          </a:xfrm>
          <a:prstGeom prst="ellipse">
            <a:avLst/>
          </a:prstGeom>
          <a:noFill/>
          <a:ln w="2794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2245839" y="6289537"/>
            <a:ext cx="131250" cy="0"/>
          </a:xfrm>
          <a:prstGeom prst="line">
            <a:avLst/>
          </a:prstGeom>
          <a:noFill/>
          <a:ln w="317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2267714" y="6355129"/>
            <a:ext cx="87500" cy="0"/>
          </a:xfrm>
          <a:prstGeom prst="line">
            <a:avLst/>
          </a:prstGeom>
          <a:noFill/>
          <a:ln w="3175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2304172" y="6274961"/>
            <a:ext cx="0" cy="87456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 flipV="1">
            <a:off x="2304172" y="5830393"/>
            <a:ext cx="0" cy="7288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 flipH="1" flipV="1">
            <a:off x="2100005" y="5895985"/>
            <a:ext cx="58333" cy="58304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 flipV="1">
            <a:off x="2435422" y="5895985"/>
            <a:ext cx="58333" cy="58304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 flipH="1">
            <a:off x="1997921" y="6121913"/>
            <a:ext cx="87500" cy="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2508339" y="6121913"/>
            <a:ext cx="87500" cy="0"/>
          </a:xfrm>
          <a:prstGeom prst="line">
            <a:avLst/>
          </a:prstGeom>
          <a:noFill/>
          <a:ln w="2794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3157299" y="1996910"/>
            <a:ext cx="109375" cy="109320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 flipV="1">
            <a:off x="3266674" y="1909454"/>
            <a:ext cx="116667" cy="196776"/>
          </a:xfrm>
          <a:prstGeom prst="line">
            <a:avLst/>
          </a:prstGeom>
          <a:noFill/>
          <a:ln w="38100">
            <a:solidFill>
              <a:srgbClr val="0B6B20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3266674" y="3009940"/>
            <a:ext cx="145834" cy="138472"/>
          </a:xfrm>
          <a:prstGeom prst="line">
            <a:avLst/>
          </a:prstGeom>
          <a:noFill/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3266674" y="3009940"/>
            <a:ext cx="0" cy="138472"/>
          </a:xfrm>
          <a:prstGeom prst="line">
            <a:avLst/>
          </a:prstGeom>
          <a:noFill/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3266674" y="3148412"/>
            <a:ext cx="145834" cy="0"/>
          </a:xfrm>
          <a:prstGeom prst="line">
            <a:avLst/>
          </a:prstGeom>
          <a:noFill/>
          <a:ln w="381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3142716" y="3206716"/>
            <a:ext cx="2041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3142716" y="3301460"/>
            <a:ext cx="2041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3142716" y="3396204"/>
            <a:ext cx="204167" cy="0"/>
          </a:xfrm>
          <a:prstGeom prst="line">
            <a:avLst/>
          </a:prstGeom>
          <a:noFill/>
          <a:ln w="25400">
            <a:solidFill>
              <a:srgbClr val="2E76E6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 flipV="1">
            <a:off x="3215633" y="4278051"/>
            <a:ext cx="153125" cy="182200"/>
          </a:xfrm>
          <a:prstGeom prst="line">
            <a:avLst/>
          </a:prstGeom>
          <a:noFill/>
          <a:ln w="508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186466" y="4343643"/>
            <a:ext cx="109375" cy="204064"/>
          </a:xfrm>
          <a:prstGeom prst="ellipse">
            <a:avLst/>
          </a:prstGeom>
          <a:noFill/>
          <a:ln w="38100">
            <a:solidFill>
              <a:srgbClr val="F06B00"/>
            </a:solidFill>
          </a:ln>
        </p:spPr>
        <p:txBody>
          <a:bodyPr/>
          <a:lstStyle/>
          <a:p/>
        </p:txBody>
      </p:sp>
      <p:sp>
        <p:nvSpPr>
          <p:cNvPr id="142" name="TextBox 142"/>
          <p:cNvSpPr txBox="1"/>
          <p:nvPr/>
        </p:nvSpPr>
        <p:spPr>
          <a:xfrm>
            <a:off x="2894798" y="393552"/>
            <a:ext cx="6489599" cy="69964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600" b="1">
                <a:solidFill>
                  <a:srgbClr val="000A63"/>
                </a:solidFill>
                <a:latin typeface="PingFang SC"/>
                <a:ea typeface="PingFang SC"/>
                <a:cs typeface="PingFang SC"/>
              </a:rPr>
              <a:t>结果回复与文件回传</a:t>
            </a:r>
            <a:endParaRPr lang="zh-CN" sz="4600"/>
          </a:p>
        </p:txBody>
      </p:sp>
      <p:sp>
        <p:nvSpPr>
          <p:cNvPr id="143" name="TextBox 143"/>
          <p:cNvSpPr txBox="1"/>
          <p:nvPr/>
        </p:nvSpPr>
        <p:spPr>
          <a:xfrm>
            <a:off x="867710" y="2055214"/>
            <a:ext cx="20416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C</a:t>
            </a:r>
            <a:endParaRPr lang="zh-CN" sz="1300"/>
          </a:p>
        </p:txBody>
      </p:sp>
      <p:sp>
        <p:nvSpPr>
          <p:cNvPr id="144" name="TextBox 144"/>
          <p:cNvSpPr txBox="1"/>
          <p:nvPr/>
        </p:nvSpPr>
        <p:spPr>
          <a:xfrm>
            <a:off x="1210419" y="2011486"/>
            <a:ext cx="1312503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Codex 输出</a:t>
            </a:r>
            <a:endParaRPr lang="zh-CN" sz="2000"/>
          </a:p>
        </p:txBody>
      </p:sp>
      <p:sp>
        <p:nvSpPr>
          <p:cNvPr id="145" name="TextBox 145"/>
          <p:cNvSpPr txBox="1"/>
          <p:nvPr/>
        </p:nvSpPr>
        <p:spPr>
          <a:xfrm>
            <a:off x="707293" y="3556540"/>
            <a:ext cx="1385420" cy="46643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任务执行完成后，</a:t>
            </a:r>
            <a:endParaRPr lang="zh-CN" sz="1700"/>
          </a:p>
          <a:p>
            <a:pPr algn="left"/>
            <a:r>
              <a:rPr lang="zh-CN" sz="17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生成结果并回传。</a:t>
            </a:r>
            <a:endParaRPr lang="zh-CN" sz="1700"/>
          </a:p>
        </p:txBody>
      </p:sp>
      <p:sp>
        <p:nvSpPr>
          <p:cNvPr id="146" name="TextBox 146"/>
          <p:cNvSpPr txBox="1"/>
          <p:nvPr/>
        </p:nvSpPr>
        <p:spPr>
          <a:xfrm>
            <a:off x="3565633" y="1785558"/>
            <a:ext cx="12250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1. 最终总结</a:t>
            </a:r>
            <a:endParaRPr lang="zh-CN" sz="1650"/>
          </a:p>
        </p:txBody>
      </p:sp>
      <p:sp>
        <p:nvSpPr>
          <p:cNvPr id="147" name="TextBox 147"/>
          <p:cNvSpPr txBox="1"/>
          <p:nvPr/>
        </p:nvSpPr>
        <p:spPr>
          <a:xfrm>
            <a:off x="3587508" y="2084366"/>
            <a:ext cx="1225003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给出结论、要点</a:t>
            </a:r>
            <a:endParaRPr lang="zh-CN" sz="1350"/>
          </a:p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与下一步建议。</a:t>
            </a:r>
            <a:endParaRPr lang="zh-CN" sz="1350"/>
          </a:p>
        </p:txBody>
      </p:sp>
      <p:sp>
        <p:nvSpPr>
          <p:cNvPr id="148" name="TextBox 148"/>
          <p:cNvSpPr txBox="1"/>
          <p:nvPr/>
        </p:nvSpPr>
        <p:spPr>
          <a:xfrm>
            <a:off x="3565633" y="3002652"/>
            <a:ext cx="12250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2. 长回复分段</a:t>
            </a:r>
            <a:endParaRPr lang="zh-CN" sz="1650"/>
          </a:p>
        </p:txBody>
      </p:sp>
      <p:sp>
        <p:nvSpPr>
          <p:cNvPr id="149" name="TextBox 149"/>
          <p:cNvSpPr txBox="1"/>
          <p:nvPr/>
        </p:nvSpPr>
        <p:spPr>
          <a:xfrm>
            <a:off x="3587508" y="3294172"/>
            <a:ext cx="1225003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长内容自动拆分</a:t>
            </a:r>
            <a:endParaRPr lang="zh-CN" sz="1350"/>
          </a:p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为多条消息发送。</a:t>
            </a:r>
            <a:endParaRPr lang="zh-CN" sz="1350"/>
          </a:p>
        </p:txBody>
      </p:sp>
      <p:sp>
        <p:nvSpPr>
          <p:cNvPr id="150" name="TextBox 150"/>
          <p:cNvSpPr txBox="1"/>
          <p:nvPr/>
        </p:nvSpPr>
        <p:spPr>
          <a:xfrm>
            <a:off x="3565633" y="4168731"/>
            <a:ext cx="1225003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3. 文件附件</a:t>
            </a:r>
            <a:endParaRPr lang="zh-CN" sz="1650"/>
          </a:p>
        </p:txBody>
      </p:sp>
      <p:sp>
        <p:nvSpPr>
          <p:cNvPr id="151" name="TextBox 151"/>
          <p:cNvSpPr txBox="1"/>
          <p:nvPr/>
        </p:nvSpPr>
        <p:spPr>
          <a:xfrm>
            <a:off x="3587508" y="4460251"/>
            <a:ext cx="1225003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生成的文件自动</a:t>
            </a:r>
            <a:endParaRPr lang="zh-CN" sz="1350"/>
          </a:p>
          <a:p>
            <a:pPr algn="left"/>
            <a:r>
              <a:rPr lang="zh-CN" sz="13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打包并回传。</a:t>
            </a:r>
            <a:endParaRPr lang="zh-CN" sz="1350"/>
          </a:p>
        </p:txBody>
      </p:sp>
      <p:sp>
        <p:nvSpPr>
          <p:cNvPr id="152" name="TextBox 152"/>
          <p:cNvSpPr txBox="1"/>
          <p:nvPr/>
        </p:nvSpPr>
        <p:spPr>
          <a:xfrm>
            <a:off x="6781266" y="2186397"/>
            <a:ext cx="875002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0B6B20"/>
                </a:solidFill>
                <a:latin typeface="PingFang SC"/>
                <a:ea typeface="PingFang SC"/>
                <a:cs typeface="PingFang SC"/>
              </a:rPr>
              <a:t>Bridge</a:t>
            </a:r>
            <a:endParaRPr lang="zh-CN" sz="2000"/>
          </a:p>
        </p:txBody>
      </p:sp>
      <p:sp>
        <p:nvSpPr>
          <p:cNvPr id="153" name="TextBox 153"/>
          <p:cNvSpPr txBox="1"/>
          <p:nvPr/>
        </p:nvSpPr>
        <p:spPr>
          <a:xfrm>
            <a:off x="6117723" y="2732997"/>
            <a:ext cx="116666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结构化消息</a:t>
            </a:r>
            <a:endParaRPr lang="zh-CN" sz="1650"/>
          </a:p>
        </p:txBody>
      </p:sp>
      <p:sp>
        <p:nvSpPr>
          <p:cNvPr id="154" name="TextBox 154"/>
          <p:cNvSpPr txBox="1"/>
          <p:nvPr/>
        </p:nvSpPr>
        <p:spPr>
          <a:xfrm>
            <a:off x="5621888" y="3009940"/>
            <a:ext cx="1531254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0B6B20"/>
                </a:solidFill>
                <a:latin typeface="Menlo"/>
                <a:ea typeface="Menlo"/>
                <a:cs typeface="Menlo"/>
              </a:rPr>
              <a:t>BRIDGE_SEND_FILE</a:t>
            </a:r>
            <a:endParaRPr lang="zh-CN" sz="1400"/>
          </a:p>
        </p:txBody>
      </p:sp>
      <p:sp>
        <p:nvSpPr>
          <p:cNvPr id="155" name="TextBox 155"/>
          <p:cNvSpPr txBox="1"/>
          <p:nvPr/>
        </p:nvSpPr>
        <p:spPr>
          <a:xfrm>
            <a:off x="5621888" y="3286884"/>
            <a:ext cx="2005213" cy="59761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101018"/>
                </a:solidFill>
                <a:latin typeface="Menlo"/>
                <a:ea typeface="Menlo"/>
                <a:cs typeface="Menlo"/>
              </a:rPr>
              <a:t>{
</a:t>
            </a:r>
            <a:r>
              <a:rPr lang="zh-CN" sz="950">
                <a:solidFill>
                  <a:srgbClr val="101018"/>
                </a:solidFill>
                <a:latin typeface="Menlo"/>
                <a:ea typeface="Menlo"/>
                <a:cs typeface="Menlo"/>
              </a:rPr>
              <a:t>  "type": "file",
</a:t>
            </a:r>
            <a:r>
              <a:rPr lang="zh-CN" sz="880">
                <a:solidFill>
                  <a:srgbClr val="101018"/>
                </a:solidFill>
                <a:latin typeface="Menlo"/>
                <a:ea typeface="Menlo"/>
                <a:cs typeface="Menlo"/>
              </a:rPr>
              <a:t>  "path": "workspace/output/report.md"
</a:t>
            </a:r>
            <a:r>
              <a:rPr lang="zh-CN" sz="950">
                <a:solidFill>
                  <a:srgbClr val="101018"/>
                </a:solidFill>
                <a:latin typeface="Menlo"/>
                <a:ea typeface="Menlo"/>
                <a:cs typeface="Menlo"/>
              </a:rPr>
              <a:t>}</a:t>
            </a:r>
            <a:endParaRPr lang="zh-CN" sz="950"/>
          </a:p>
        </p:txBody>
      </p:sp>
      <p:sp>
        <p:nvSpPr>
          <p:cNvPr id="156" name="TextBox 156"/>
          <p:cNvSpPr txBox="1"/>
          <p:nvPr/>
        </p:nvSpPr>
        <p:spPr>
          <a:xfrm>
            <a:off x="5789597" y="4117715"/>
            <a:ext cx="1822921" cy="45185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5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Bridge 读取文件，</a:t>
            </a:r>
            <a:endParaRPr lang="zh-CN" sz="1550"/>
          </a:p>
          <a:p>
            <a:pPr algn="center"/>
            <a:r>
              <a:rPr lang="zh-CN" sz="155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并将结果发送回 Discord。</a:t>
            </a:r>
            <a:endParaRPr lang="zh-CN" sz="1550"/>
          </a:p>
        </p:txBody>
      </p:sp>
      <p:sp>
        <p:nvSpPr>
          <p:cNvPr id="157" name="TextBox 157"/>
          <p:cNvSpPr txBox="1"/>
          <p:nvPr/>
        </p:nvSpPr>
        <p:spPr>
          <a:xfrm>
            <a:off x="9151063" y="1719966"/>
            <a:ext cx="1604170" cy="2988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>
                <a:solidFill>
                  <a:srgbClr val="2E76E6"/>
                </a:solidFill>
                <a:latin typeface="PingFang SC"/>
                <a:ea typeface="PingFang SC"/>
                <a:cs typeface="PingFang SC"/>
              </a:rPr>
              <a:t>Discord 频道 #</a:t>
            </a:r>
            <a:endParaRPr lang="zh-CN" sz="2100"/>
          </a:p>
        </p:txBody>
      </p:sp>
      <p:sp>
        <p:nvSpPr>
          <p:cNvPr id="158" name="TextBox 158"/>
          <p:cNvSpPr txBox="1"/>
          <p:nvPr/>
        </p:nvSpPr>
        <p:spPr>
          <a:xfrm>
            <a:off x="10675025" y="1792846"/>
            <a:ext cx="67083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api-项目</a:t>
            </a:r>
            <a:endParaRPr lang="zh-CN" sz="1300"/>
          </a:p>
        </p:txBody>
      </p:sp>
      <p:sp>
        <p:nvSpPr>
          <p:cNvPr id="159" name="TextBox 159"/>
          <p:cNvSpPr txBox="1"/>
          <p:nvPr/>
        </p:nvSpPr>
        <p:spPr>
          <a:xfrm>
            <a:off x="9180230" y="2237413"/>
            <a:ext cx="1713546" cy="1967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2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【总结】本次任务已完成</a:t>
            </a:r>
            <a:endParaRPr lang="zh-CN" sz="1220"/>
          </a:p>
        </p:txBody>
      </p:sp>
      <p:sp>
        <p:nvSpPr>
          <p:cNvPr id="160" name="TextBox 160"/>
          <p:cNvSpPr txBox="1"/>
          <p:nvPr/>
        </p:nvSpPr>
        <p:spPr>
          <a:xfrm>
            <a:off x="11017734" y="2266565"/>
            <a:ext cx="335417" cy="1311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1" name="TextBox 161"/>
          <p:cNvSpPr txBox="1"/>
          <p:nvPr/>
        </p:nvSpPr>
        <p:spPr>
          <a:xfrm>
            <a:off x="9158355" y="2405037"/>
            <a:ext cx="2078130" cy="4810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• 实现了登录接口</a:t>
            </a:r>
            <a:endParaRPr lang="zh-CN" sz="1080"/>
          </a:p>
          <a:p>
            <a:pPr algn="left"/>
            <a:r>
              <a:rPr lang="zh-CN" sz="108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• 编写了单元测试</a:t>
            </a:r>
            <a:endParaRPr lang="zh-CN" sz="1080"/>
          </a:p>
          <a:p>
            <a:pPr algn="left"/>
            <a:r>
              <a:rPr lang="zh-CN" sz="108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• 接下来建议优化错误处理</a:t>
            </a:r>
            <a:endParaRPr lang="zh-CN" sz="1080"/>
          </a:p>
        </p:txBody>
      </p:sp>
      <p:sp>
        <p:nvSpPr>
          <p:cNvPr id="162" name="TextBox 162"/>
          <p:cNvSpPr txBox="1"/>
          <p:nvPr/>
        </p:nvSpPr>
        <p:spPr>
          <a:xfrm>
            <a:off x="9172938" y="3119260"/>
            <a:ext cx="180104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【详情（1/3）】需求分析</a:t>
            </a:r>
            <a:endParaRPr lang="zh-CN" sz="1180"/>
          </a:p>
        </p:txBody>
      </p:sp>
      <p:sp>
        <p:nvSpPr>
          <p:cNvPr id="163" name="TextBox 163"/>
          <p:cNvSpPr txBox="1"/>
          <p:nvPr/>
        </p:nvSpPr>
        <p:spPr>
          <a:xfrm>
            <a:off x="11025026" y="3148412"/>
            <a:ext cx="3208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4" name="TextBox 164"/>
          <p:cNvSpPr txBox="1"/>
          <p:nvPr/>
        </p:nvSpPr>
        <p:spPr>
          <a:xfrm>
            <a:off x="9165646" y="3323324"/>
            <a:ext cx="1713546" cy="3425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......</a:t>
            </a:r>
            <a:endParaRPr lang="zh-CN" sz="1019"/>
          </a:p>
          <a:p>
            <a:pPr algn="left"/>
            <a:r>
              <a:rPr lang="zh-CN" sz="1019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（内容较长，已自动分段）</a:t>
            </a:r>
            <a:endParaRPr lang="zh-CN" sz="1019"/>
          </a:p>
        </p:txBody>
      </p:sp>
      <p:sp>
        <p:nvSpPr>
          <p:cNvPr id="165" name="TextBox 165"/>
          <p:cNvSpPr txBox="1"/>
          <p:nvPr/>
        </p:nvSpPr>
        <p:spPr>
          <a:xfrm>
            <a:off x="9172938" y="3848060"/>
            <a:ext cx="180104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【详情（2/3）】实现过程</a:t>
            </a:r>
            <a:endParaRPr lang="zh-CN" sz="1180"/>
          </a:p>
        </p:txBody>
      </p:sp>
      <p:sp>
        <p:nvSpPr>
          <p:cNvPr id="166" name="TextBox 166"/>
          <p:cNvSpPr txBox="1"/>
          <p:nvPr/>
        </p:nvSpPr>
        <p:spPr>
          <a:xfrm>
            <a:off x="11025026" y="3877211"/>
            <a:ext cx="3208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7" name="TextBox 167"/>
          <p:cNvSpPr txBox="1"/>
          <p:nvPr/>
        </p:nvSpPr>
        <p:spPr>
          <a:xfrm>
            <a:off x="9172938" y="4205171"/>
            <a:ext cx="180104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【详情（3/3）】测试与结果</a:t>
            </a:r>
            <a:endParaRPr lang="zh-CN" sz="1180"/>
          </a:p>
        </p:txBody>
      </p:sp>
      <p:sp>
        <p:nvSpPr>
          <p:cNvPr id="168" name="TextBox 168"/>
          <p:cNvSpPr txBox="1"/>
          <p:nvPr/>
        </p:nvSpPr>
        <p:spPr>
          <a:xfrm>
            <a:off x="11025026" y="4234323"/>
            <a:ext cx="320834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10:35</a:t>
            </a:r>
            <a:endParaRPr lang="zh-CN" sz="850"/>
          </a:p>
        </p:txBody>
      </p:sp>
      <p:sp>
        <p:nvSpPr>
          <p:cNvPr id="169" name="TextBox 169"/>
          <p:cNvSpPr txBox="1"/>
          <p:nvPr/>
        </p:nvSpPr>
        <p:spPr>
          <a:xfrm>
            <a:off x="9121896" y="4642451"/>
            <a:ext cx="97708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report.zip</a:t>
            </a:r>
            <a:endParaRPr lang="zh-CN" sz="1400"/>
          </a:p>
        </p:txBody>
      </p:sp>
      <p:sp>
        <p:nvSpPr>
          <p:cNvPr id="170" name="TextBox 170"/>
          <p:cNvSpPr txBox="1"/>
          <p:nvPr/>
        </p:nvSpPr>
        <p:spPr>
          <a:xfrm>
            <a:off x="11025026" y="4686179"/>
            <a:ext cx="328126" cy="11660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56606F"/>
                </a:solidFill>
                <a:latin typeface="PingFang SC"/>
                <a:ea typeface="PingFang SC"/>
                <a:cs typeface="PingFang SC"/>
              </a:rPr>
              <a:t>10:36</a:t>
            </a:r>
            <a:endParaRPr lang="zh-CN" sz="850"/>
          </a:p>
        </p:txBody>
      </p:sp>
      <p:sp>
        <p:nvSpPr>
          <p:cNvPr id="171" name="TextBox 171"/>
          <p:cNvSpPr txBox="1"/>
          <p:nvPr/>
        </p:nvSpPr>
        <p:spPr>
          <a:xfrm>
            <a:off x="9129188" y="4868378"/>
            <a:ext cx="1560420" cy="1676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（包含 5 个文件）  1.2 MB</a:t>
            </a:r>
            <a:endParaRPr lang="zh-CN" sz="1000"/>
          </a:p>
        </p:txBody>
      </p:sp>
      <p:sp>
        <p:nvSpPr>
          <p:cNvPr id="172" name="TextBox 172"/>
          <p:cNvSpPr txBox="1"/>
          <p:nvPr/>
        </p:nvSpPr>
        <p:spPr>
          <a:xfrm>
            <a:off x="3361466" y="5298370"/>
            <a:ext cx="765627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B6B20"/>
                </a:solidFill>
                <a:latin typeface="PingFang SC"/>
                <a:ea typeface="PingFang SC"/>
                <a:cs typeface="PingFang SC"/>
              </a:rPr>
              <a:t>最终总结</a:t>
            </a:r>
            <a:endParaRPr lang="zh-CN" sz="1700"/>
          </a:p>
        </p:txBody>
      </p:sp>
      <p:sp>
        <p:nvSpPr>
          <p:cNvPr id="173" name="TextBox 173"/>
          <p:cNvSpPr txBox="1"/>
          <p:nvPr/>
        </p:nvSpPr>
        <p:spPr>
          <a:xfrm>
            <a:off x="5257304" y="5298370"/>
            <a:ext cx="1057294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2E76E6"/>
                </a:solidFill>
                <a:latin typeface="PingFang SC"/>
                <a:ea typeface="PingFang SC"/>
                <a:cs typeface="PingFang SC"/>
              </a:rPr>
              <a:t>长回复分段</a:t>
            </a:r>
            <a:endParaRPr lang="zh-CN" sz="1700"/>
          </a:p>
        </p:txBody>
      </p:sp>
      <p:sp>
        <p:nvSpPr>
          <p:cNvPr id="174" name="TextBox 174"/>
          <p:cNvSpPr txBox="1"/>
          <p:nvPr/>
        </p:nvSpPr>
        <p:spPr>
          <a:xfrm>
            <a:off x="7160433" y="5298370"/>
            <a:ext cx="1079169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自动上传文件</a:t>
            </a:r>
            <a:endParaRPr lang="zh-CN" sz="1700"/>
          </a:p>
        </p:txBody>
      </p:sp>
      <p:sp>
        <p:nvSpPr>
          <p:cNvPr id="175" name="TextBox 175"/>
          <p:cNvSpPr txBox="1"/>
          <p:nvPr/>
        </p:nvSpPr>
        <p:spPr>
          <a:xfrm>
            <a:off x="2719798" y="6063609"/>
            <a:ext cx="7619810" cy="3789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需要回传文件时，让 </a:t>
            </a:r>
            <a:r>
              <a:rPr lang="zh-CN" sz="1920">
                <a:solidFill>
                  <a:srgbClr val="F06B00"/>
                </a:solidFill>
                <a:latin typeface="PingFang SC"/>
                <a:ea typeface="PingFang SC"/>
                <a:cs typeface="PingFang SC"/>
              </a:rPr>
              <a:t>Codex</a:t>
            </a:r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 指定文件路径， </a:t>
            </a:r>
            <a:r>
              <a:rPr lang="zh-CN" sz="1920">
                <a:solidFill>
                  <a:srgbClr val="0B6B20"/>
                </a:solidFill>
                <a:latin typeface="PingFang SC"/>
                <a:ea typeface="PingFang SC"/>
                <a:cs typeface="PingFang SC"/>
              </a:rPr>
              <a:t>Bridge</a:t>
            </a:r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 会发回 </a:t>
            </a:r>
            <a:r>
              <a:rPr lang="zh-CN" sz="1920">
                <a:solidFill>
                  <a:srgbClr val="2E76E6"/>
                </a:solidFill>
                <a:latin typeface="PingFang SC"/>
                <a:ea typeface="PingFang SC"/>
                <a:cs typeface="PingFang SC"/>
              </a:rPr>
              <a:t>Discord</a:t>
            </a:r>
            <a:r>
              <a:rPr lang="zh-CN" sz="1920">
                <a:solidFill>
                  <a:srgbClr val="101018"/>
                </a:solidFill>
                <a:latin typeface="PingFang SC"/>
                <a:ea typeface="PingFang SC"/>
                <a:cs typeface="PingFang SC"/>
              </a:rPr>
              <a:t>。</a:t>
            </a:r>
            <a:endParaRPr lang="zh-CN" sz="1920"/>
          </a:p>
        </p:txBody>
      </p:sp>
      <p:sp>
        <p:nvSpPr>
          <p:cNvPr id="176" name="Line 176"/>
          <p:cNvSpPr/>
          <p:nvPr/>
        </p:nvSpPr>
        <p:spPr>
          <a:xfrm flipV="1">
            <a:off x="9347939" y="6304113"/>
            <a:ext cx="605210" cy="51016"/>
          </a:xfrm>
          <a:prstGeom prst="line">
            <a:avLst/>
          </a:prstGeom>
          <a:noFill/>
          <a:ln w="30480">
            <a:solidFill>
              <a:srgbClr val="2E76E6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