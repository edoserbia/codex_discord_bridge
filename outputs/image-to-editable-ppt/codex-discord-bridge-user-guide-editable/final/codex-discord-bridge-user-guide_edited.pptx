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这份 PPT 介绍 Codex Discord Bridge 的基本使用方式。核心思路很简单：你在 Discord 发需求，Bridge 把它映射到本机项目和 Codex 会话，Codex 完成后再把结果发回 Discord。</a:t>
            </a:r>
          </a:p>
          <a:p>
            <a:r>
              <a:t>---</a:t>
            </a:r>
          </a:p>
          <a:p>
            <a:r>
              <a:t>注意点：强调这是“Discord 作为入口，本机 Codex 作为执行端”。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开始使用前，需要用 `!bind` 把 Discord 频道和本机项目目录绑定起来。现在默认示例使用 Codex 引擎，必要时可以指定沙箱、审批和联网搜索配置。</a:t>
            </a:r>
          </a:p>
          <a:p>
            <a:r>
              <a:t>---</a:t>
            </a:r>
          </a:p>
          <a:p>
            <a:r>
              <a:t>注意点：提醒用户默认用 Codex，不再默认 Claude。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绑定后，频道里的普通消息就会变成 Codex 任务。同一个频道会复用线程，因此 Codex 能延续上下文；如果临时需要切换引擎，可以用 `!codex` 或 `!claude`。</a:t>
            </a:r>
          </a:p>
          <a:p>
            <a:r>
              <a:t>---</a:t>
            </a:r>
          </a:p>
          <a:p>
            <a:r>
              <a:t>注意点：解释“频道等于一个长期工作会话”。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如果在 Discord 上传附件，Bridge 会把文件同步到工作区的 inbox。图片、文档和代码文件都可以作为任务输入，Codex 可以基于这些文件继续处理。</a:t>
            </a:r>
          </a:p>
          <a:p>
            <a:r>
              <a:t>---</a:t>
            </a:r>
          </a:p>
          <a:p>
            <a:r>
              <a:t>注意点：适合演示“上传截图后让 Codex 修 UI”。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 完成后，Bridge 会把最终总结发回 Discord。长回复会自动拆分；如果 Codex 输出 `BRIDGE_SEND_FILE` 结构化块，Bridge 会上传指定文件。</a:t>
            </a:r>
          </a:p>
          <a:p>
            <a:r>
              <a:t>---</a:t>
            </a:r>
          </a:p>
          <a:p>
            <a:r>
              <a:t>注意点：这是解决“生成文件如何回到 Discord”的关键机制。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 Bridge 已支持 Codex 原生图片输出。你可以直接要求 GPT Image 2 生图，也可以上传图片要求编辑，生成或编辑后的 PNG 会自动作为 Discord 附件返回。</a:t>
            </a:r>
          </a:p>
          <a:p>
            <a:r>
              <a:t>---</a:t>
            </a:r>
          </a:p>
          <a:p>
            <a:r>
              <a:t>注意点：提醒不要用 `!claude` 覆盖这类请求。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本机服务通过 LaunchAgent 运行，支持登录后启动、断线恢复和进程退出后重启。出现问题时，可以看日志和 Web 面板确认状态。</a:t>
            </a:r>
          </a:p>
          <a:p>
            <a:r>
              <a:t>---</a:t>
            </a:r>
          </a:p>
          <a:p>
            <a:r>
              <a:t>注意点：强调当前服务名是 codex-discord-bridge，不是 cc-bridge。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推荐的日常流程是：先绑定项目，再发任务，看进度，最后收结果。复杂任务最好拆成阶段，涉及文件时明确文件名和用途。</a:t>
            </a:r>
          </a:p>
          <a:p>
            <a:r>
              <a:t>---</a:t>
            </a:r>
          </a:p>
          <a:p>
            <a:r>
              <a:t>注意点：最后落到可执行习惯，帮助用户稳定使用。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 flipV="1">
            <a:off x="1480212" y="1712678"/>
            <a:ext cx="6540640" cy="29152"/>
          </a:xfrm>
          <a:prstGeom prst="line">
            <a:avLst/>
          </a:prstGeom>
          <a:noFill/>
          <a:ln w="50800">
            <a:solidFill>
              <a:srgbClr val="8CBCEB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8035435" y="1719966"/>
            <a:ext cx="765627" cy="14576"/>
          </a:xfrm>
          <a:prstGeom prst="line">
            <a:avLst/>
          </a:prstGeom>
          <a:noFill/>
          <a:ln w="25400">
            <a:solidFill>
              <a:srgbClr val="A2C8EF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 flipV="1">
            <a:off x="751043" y="947439"/>
            <a:ext cx="94792" cy="145760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45835" y="947439"/>
            <a:ext cx="94792" cy="153048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 flipH="1">
            <a:off x="780210" y="1100487"/>
            <a:ext cx="160417" cy="65592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 flipH="1" flipV="1">
            <a:off x="751043" y="1093199"/>
            <a:ext cx="29167" cy="72880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093753" y="1085911"/>
            <a:ext cx="269792" cy="196776"/>
          </a:xfrm>
          <a:prstGeom prst="line">
            <a:avLst/>
          </a:prstGeom>
          <a:noFill/>
          <a:ln w="38100">
            <a:solidFill>
              <a:srgbClr val="71A8E1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020836" y="1238959"/>
            <a:ext cx="211459" cy="51016"/>
          </a:xfrm>
          <a:prstGeom prst="line">
            <a:avLst/>
          </a:prstGeom>
          <a:noFill/>
          <a:ln w="38100">
            <a:solidFill>
              <a:srgbClr val="71A8E1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991669" y="1392006"/>
            <a:ext cx="233334" cy="21864"/>
          </a:xfrm>
          <a:prstGeom prst="line">
            <a:avLst/>
          </a:prstGeom>
          <a:noFill/>
          <a:ln w="38100">
            <a:solidFill>
              <a:srgbClr val="71A8E1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 flipH="1">
            <a:off x="11112526" y="663207"/>
            <a:ext cx="116667" cy="204064"/>
          </a:xfrm>
          <a:prstGeom prst="line">
            <a:avLst/>
          </a:prstGeom>
          <a:noFill/>
          <a:ln w="381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H="1">
            <a:off x="11265651" y="808967"/>
            <a:ext cx="204167" cy="174912"/>
          </a:xfrm>
          <a:prstGeom prst="line">
            <a:avLst/>
          </a:prstGeom>
          <a:noFill/>
          <a:ln w="381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H="1" flipV="1">
            <a:off x="11338568" y="991167"/>
            <a:ext cx="262501" cy="7288"/>
          </a:xfrm>
          <a:prstGeom prst="line">
            <a:avLst/>
          </a:prstGeom>
          <a:noFill/>
          <a:ln w="381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 flipV="1">
            <a:off x="11375027" y="1115063"/>
            <a:ext cx="233334" cy="7288"/>
          </a:xfrm>
          <a:prstGeom prst="line">
            <a:avLst/>
          </a:prstGeom>
          <a:noFill/>
          <a:ln w="254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 flipV="1">
            <a:off x="2406256" y="2390461"/>
            <a:ext cx="1261461" cy="21864"/>
          </a:xfrm>
          <a:prstGeom prst="line">
            <a:avLst/>
          </a:prstGeom>
          <a:noFill/>
          <a:ln w="38100">
            <a:solidFill>
              <a:srgbClr val="4D91DD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5191679" y="2375885"/>
            <a:ext cx="1735421" cy="21864"/>
          </a:xfrm>
          <a:prstGeom prst="line">
            <a:avLst/>
          </a:prstGeom>
          <a:noFill/>
          <a:ln w="38100">
            <a:solidFill>
              <a:srgbClr val="6E9B63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8655229" y="2375885"/>
            <a:ext cx="1152086" cy="29152"/>
          </a:xfrm>
          <a:prstGeom prst="line">
            <a:avLst/>
          </a:prstGeom>
          <a:noFill/>
          <a:ln w="38100">
            <a:solidFill>
              <a:srgbClr val="E58A3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765627" y="2827741"/>
            <a:ext cx="72917" cy="138472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96877" y="2791301"/>
            <a:ext cx="29167" cy="167624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998961" y="2798589"/>
            <a:ext cx="36458" cy="167624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11010442" y="2813165"/>
            <a:ext cx="65625" cy="138472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 flipH="1">
            <a:off x="11134401" y="2798589"/>
            <a:ext cx="43750" cy="131184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787502" y="2820453"/>
            <a:ext cx="1910421" cy="1719966"/>
          </a:xfrm>
          <a:prstGeom prst="ellipse">
            <a:avLst/>
          </a:prstGeom>
          <a:solidFill>
            <a:srgbClr val="EFF7FF"/>
          </a:solidFill>
          <a:ln w="38100">
            <a:solidFill>
              <a:srgbClr val="4C8FD8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3857301" y="2820453"/>
            <a:ext cx="1691671" cy="1719966"/>
          </a:xfrm>
          <a:prstGeom prst="ellipse">
            <a:avLst/>
          </a:prstGeom>
          <a:solidFill>
            <a:srgbClr val="F3F8EE"/>
          </a:solidFill>
          <a:ln w="38100">
            <a:solidFill>
              <a:srgbClr val="5E7E50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6664599" y="2813165"/>
            <a:ext cx="1691671" cy="1719966"/>
          </a:xfrm>
          <a:prstGeom prst="ellipse">
            <a:avLst/>
          </a:prstGeom>
          <a:solidFill>
            <a:srgbClr val="FFF4E8"/>
          </a:solidFill>
          <a:ln w="38100">
            <a:solidFill>
              <a:srgbClr val="D88B40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9347939" y="2835029"/>
            <a:ext cx="1691671" cy="1698102"/>
          </a:xfrm>
          <a:prstGeom prst="ellipse">
            <a:avLst/>
          </a:prstGeom>
          <a:solidFill>
            <a:srgbClr val="F4FAFF"/>
          </a:solidFill>
          <a:ln w="38100">
            <a:solidFill>
              <a:srgbClr val="5E88B2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2741673" y="5750225"/>
            <a:ext cx="6737516" cy="670495"/>
          </a:xfrm>
          <a:prstGeom prst="roundRect">
            <a:avLst>
              <a:gd name="adj" fmla="val 15217"/>
            </a:avLst>
          </a:prstGeom>
          <a:noFill/>
          <a:ln w="25400">
            <a:solidFill>
              <a:srgbClr val="A9CBE8"/>
            </a:solidFill>
            <a:prstDash val="dash"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816669" y="2835029"/>
            <a:ext cx="1852088" cy="1698102"/>
          </a:xfrm>
          <a:prstGeom prst="ellipse">
            <a:avLst/>
          </a:prstGeom>
          <a:noFill/>
          <a:ln w="12700">
            <a:solidFill>
              <a:srgbClr val="4C8FD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969138" y="4000451"/>
            <a:ext cx="327470" cy="327304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933481" y="3797189"/>
            <a:ext cx="585741" cy="585444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952513" y="3648587"/>
            <a:ext cx="734710" cy="734338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995898" y="3524327"/>
            <a:ext cx="834971" cy="834548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055325" y="3416100"/>
            <a:ext cx="903148" cy="902691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127440" y="3320555"/>
            <a:ext cx="945950" cy="945471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210492" y="3235941"/>
            <a:ext cx="966877" cy="966388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303753" y="3161531"/>
            <a:ext cx="967315" cy="966825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407295" y="3097396"/>
            <a:ext cx="947263" cy="946783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521701" y="3044121"/>
            <a:ext cx="905481" cy="905023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648650" y="3003381"/>
            <a:ext cx="838617" cy="838192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1791567" y="2978602"/>
            <a:ext cx="739887" cy="739512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958182" y="2977509"/>
            <a:ext cx="593616" cy="593315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176495" y="3028088"/>
            <a:ext cx="344022" cy="343847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3886467" y="2835029"/>
            <a:ext cx="1633337" cy="1698102"/>
          </a:xfrm>
          <a:prstGeom prst="ellipse">
            <a:avLst/>
          </a:prstGeom>
          <a:noFill/>
          <a:ln w="12700">
            <a:solidFill>
              <a:srgbClr val="5E7E5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4013270" y="3916494"/>
            <a:ext cx="471334" cy="471096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4006634" y="3742238"/>
            <a:ext cx="649106" cy="648777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4032374" y="3600341"/>
            <a:ext cx="762200" cy="761814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4077145" y="3477465"/>
            <a:ext cx="837158" cy="836734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4136062" y="3368728"/>
            <a:ext cx="883752" cy="883305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4207010" y="3272017"/>
            <a:ext cx="906429" cy="905970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4289041" y="3186383"/>
            <a:ext cx="906867" cy="906408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4382083" y="3111754"/>
            <a:ext cx="885283" cy="884835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4487156" y="3049150"/>
            <a:ext cx="839710" cy="839285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4606157" y="3000466"/>
            <a:ext cx="766137" cy="765749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4743969" y="2970585"/>
            <a:ext cx="655085" cy="654753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4913136" y="2972043"/>
            <a:ext cx="481251" cy="481007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6693766" y="2827741"/>
            <a:ext cx="1633337" cy="1698102"/>
          </a:xfrm>
          <a:prstGeom prst="ellipse">
            <a:avLst/>
          </a:prstGeom>
          <a:noFill/>
          <a:ln w="12700">
            <a:solidFill>
              <a:srgbClr val="D88B4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6820568" y="3909206"/>
            <a:ext cx="471334" cy="471096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6813933" y="3734950"/>
            <a:ext cx="649106" cy="648777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6839672" y="3593053"/>
            <a:ext cx="762200" cy="761814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6884443" y="3470177"/>
            <a:ext cx="837158" cy="836734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943360" y="3361440"/>
            <a:ext cx="883752" cy="883305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7014308" y="3264729"/>
            <a:ext cx="906429" cy="905970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7096340" y="3179095"/>
            <a:ext cx="906867" cy="906408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7189381" y="3104466"/>
            <a:ext cx="885283" cy="884835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7294455" y="3041862"/>
            <a:ext cx="839710" cy="839285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7413455" y="2993178"/>
            <a:ext cx="766137" cy="765749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7551268" y="2963297"/>
            <a:ext cx="655085" cy="654753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7720435" y="2964755"/>
            <a:ext cx="481251" cy="481007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9377105" y="2849605"/>
            <a:ext cx="1633337" cy="1676238"/>
          </a:xfrm>
          <a:prstGeom prst="ellipse">
            <a:avLst/>
          </a:prstGeom>
          <a:noFill/>
          <a:ln w="12700">
            <a:solidFill>
              <a:srgbClr val="5E88B2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9503616" y="3919846"/>
            <a:ext cx="458647" cy="458415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9496397" y="3745007"/>
            <a:ext cx="640064" cy="639740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9522647" y="3603620"/>
            <a:ext cx="754471" cy="754088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9568220" y="3481546"/>
            <a:ext cx="830231" cy="829811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9628158" y="3373830"/>
            <a:ext cx="877190" cy="876745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9700200" y="3278211"/>
            <a:ext cx="900013" cy="899557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9783471" y="3193817"/>
            <a:ext cx="900450" cy="899994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9877825" y="3120499"/>
            <a:ext cx="878648" cy="878203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9984211" y="3059207"/>
            <a:ext cx="832783" cy="832362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10104815" y="3012127"/>
            <a:ext cx="758481" cy="758097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10244451" y="2984068"/>
            <a:ext cx="646116" cy="645789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10416535" y="2988441"/>
            <a:ext cx="468855" cy="468618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1188544" y="4591435"/>
            <a:ext cx="1181253" cy="386264"/>
          </a:xfrm>
          <a:prstGeom prst="roundRect">
            <a:avLst>
              <a:gd name="adj" fmla="val 22642"/>
            </a:avLst>
          </a:prstGeom>
          <a:solidFill>
            <a:srgbClr val="F6FBFF"/>
          </a:solidFill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4141676" y="4591435"/>
            <a:ext cx="1188544" cy="386264"/>
          </a:xfrm>
          <a:prstGeom prst="roundRect">
            <a:avLst>
              <a:gd name="adj" fmla="val 22642"/>
            </a:avLst>
          </a:prstGeom>
          <a:solidFill>
            <a:srgbClr val="F7FBF4"/>
          </a:solidFill>
          <a:ln w="254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6817724" y="4591435"/>
            <a:ext cx="1188544" cy="386264"/>
          </a:xfrm>
          <a:prstGeom prst="roundRect">
            <a:avLst>
              <a:gd name="adj" fmla="val 22642"/>
            </a:avLst>
          </a:prstGeom>
          <a:solidFill>
            <a:srgbClr val="FFF7EE"/>
          </a:solidFill>
          <a:ln w="254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9610439" y="4598723"/>
            <a:ext cx="1465628" cy="378976"/>
          </a:xfrm>
          <a:prstGeom prst="roundRect">
            <a:avLst>
              <a:gd name="adj" fmla="val 23077"/>
            </a:avLst>
          </a:prstGeom>
          <a:solidFill>
            <a:srgbClr val="F6FBFF"/>
          </a:solidFill>
          <a:ln w="25400">
            <a:solidFill>
              <a:srgbClr val="4E82B6"/>
            </a:solidFill>
          </a:ln>
        </p:spPr>
        <p:txBody>
          <a:bodyPr/>
          <a:lstStyle/>
          <a:p/>
        </p:txBody>
      </p:sp>
      <p:sp>
        <p:nvSpPr>
          <p:cNvPr id="86" name="Roundrect 86"/>
          <p:cNvSpPr/>
          <p:nvPr/>
        </p:nvSpPr>
        <p:spPr>
          <a:xfrm>
            <a:off x="2945840" y="5895985"/>
            <a:ext cx="1742712" cy="371688"/>
          </a:xfrm>
          <a:prstGeom prst="roundRect">
            <a:avLst>
              <a:gd name="adj" fmla="val 27451"/>
            </a:avLst>
          </a:prstGeom>
          <a:solidFill>
            <a:srgbClr val="F3F9FF"/>
          </a:solidFill>
          <a:ln w="19050">
            <a:solidFill>
              <a:srgbClr val="BBD8F4"/>
            </a:solidFill>
          </a:ln>
        </p:spPr>
        <p:txBody>
          <a:bodyPr/>
          <a:lstStyle/>
          <a:p/>
        </p:txBody>
      </p:sp>
      <p:sp>
        <p:nvSpPr>
          <p:cNvPr id="87" name="Roundrect 87"/>
          <p:cNvSpPr/>
          <p:nvPr/>
        </p:nvSpPr>
        <p:spPr>
          <a:xfrm>
            <a:off x="5096887" y="5895985"/>
            <a:ext cx="1837504" cy="371688"/>
          </a:xfrm>
          <a:prstGeom prst="roundRect">
            <a:avLst>
              <a:gd name="adj" fmla="val 27451"/>
            </a:avLst>
          </a:prstGeom>
          <a:solidFill>
            <a:srgbClr val="F3FAEF"/>
          </a:solidFill>
          <a:ln w="19050">
            <a:solidFill>
              <a:srgbClr val="C2DDB8"/>
            </a:solidFill>
          </a:ln>
        </p:spPr>
        <p:txBody>
          <a:bodyPr/>
          <a:lstStyle/>
          <a:p/>
        </p:txBody>
      </p:sp>
      <p:sp>
        <p:nvSpPr>
          <p:cNvPr id="88" name="Roundrect 88"/>
          <p:cNvSpPr/>
          <p:nvPr/>
        </p:nvSpPr>
        <p:spPr>
          <a:xfrm>
            <a:off x="7335434" y="5895985"/>
            <a:ext cx="1946880" cy="371688"/>
          </a:xfrm>
          <a:prstGeom prst="roundRect">
            <a:avLst>
              <a:gd name="adj" fmla="val 27451"/>
            </a:avLst>
          </a:prstGeom>
          <a:solidFill>
            <a:srgbClr val="FFF5EB"/>
          </a:solidFill>
          <a:ln w="19050">
            <a:solidFill>
              <a:srgbClr val="F0C59F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2829173" y="3673148"/>
            <a:ext cx="918752" cy="0"/>
          </a:xfrm>
          <a:prstGeom prst="line">
            <a:avLst/>
          </a:prstGeom>
          <a:noFill/>
          <a:ln w="635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3594800" y="3541964"/>
            <a:ext cx="167709" cy="131184"/>
          </a:xfrm>
          <a:prstGeom prst="line">
            <a:avLst/>
          </a:prstGeom>
          <a:noFill/>
          <a:ln w="635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 flipV="1">
            <a:off x="3594800" y="3673148"/>
            <a:ext cx="167709" cy="131184"/>
          </a:xfrm>
          <a:prstGeom prst="line">
            <a:avLst/>
          </a:prstGeom>
          <a:noFill/>
          <a:ln w="635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5672930" y="3673148"/>
            <a:ext cx="787502" cy="0"/>
          </a:xfrm>
          <a:prstGeom prst="line">
            <a:avLst/>
          </a:prstGeom>
          <a:noFill/>
          <a:ln w="635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307306" y="3541964"/>
            <a:ext cx="167709" cy="131184"/>
          </a:xfrm>
          <a:prstGeom prst="line">
            <a:avLst/>
          </a:prstGeom>
          <a:noFill/>
          <a:ln w="635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V="1">
            <a:off x="6307306" y="3673148"/>
            <a:ext cx="167709" cy="131184"/>
          </a:xfrm>
          <a:prstGeom prst="line">
            <a:avLst/>
          </a:prstGeom>
          <a:noFill/>
          <a:ln w="635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8356270" y="3403492"/>
            <a:ext cx="977086" cy="0"/>
          </a:xfrm>
          <a:prstGeom prst="line">
            <a:avLst/>
          </a:prstGeom>
          <a:noFill/>
          <a:ln w="508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9180230" y="3272308"/>
            <a:ext cx="175000" cy="131184"/>
          </a:xfrm>
          <a:prstGeom prst="line">
            <a:avLst/>
          </a:prstGeom>
          <a:noFill/>
          <a:ln w="508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V="1">
            <a:off x="9180230" y="3403492"/>
            <a:ext cx="175000" cy="131184"/>
          </a:xfrm>
          <a:prstGeom prst="line">
            <a:avLst/>
          </a:prstGeom>
          <a:noFill/>
          <a:ln w="508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H="1">
            <a:off x="8334395" y="3782468"/>
            <a:ext cx="977086" cy="0"/>
          </a:xfrm>
          <a:prstGeom prst="line">
            <a:avLst/>
          </a:prstGeom>
          <a:noFill/>
          <a:ln w="508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>
            <a:off x="8319811" y="3651284"/>
            <a:ext cx="175000" cy="131184"/>
          </a:xfrm>
          <a:prstGeom prst="line">
            <a:avLst/>
          </a:prstGeom>
          <a:noFill/>
          <a:ln w="508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 flipV="1">
            <a:off x="8319811" y="3782468"/>
            <a:ext cx="175000" cy="131184"/>
          </a:xfrm>
          <a:prstGeom prst="line">
            <a:avLst/>
          </a:prstGeom>
          <a:noFill/>
          <a:ln w="508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V="1">
            <a:off x="6905224" y="3192140"/>
            <a:ext cx="473959" cy="262368"/>
          </a:xfrm>
          <a:prstGeom prst="line">
            <a:avLst/>
          </a:prstGeom>
          <a:noFill/>
          <a:ln w="381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7379184" y="3192140"/>
            <a:ext cx="481251" cy="262368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>
            <a:off x="7853143" y="3454508"/>
            <a:ext cx="7292" cy="510159"/>
          </a:xfrm>
          <a:prstGeom prst="line">
            <a:avLst/>
          </a:prstGeom>
          <a:noFill/>
          <a:ln w="381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7393767" y="3964667"/>
            <a:ext cx="459376" cy="276944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 flipV="1">
            <a:off x="6905224" y="3979243"/>
            <a:ext cx="488543" cy="262368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V="1">
            <a:off x="6905224" y="3454508"/>
            <a:ext cx="0" cy="524735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6905224" y="3454508"/>
            <a:ext cx="488543" cy="255080"/>
          </a:xfrm>
          <a:prstGeom prst="line">
            <a:avLst/>
          </a:prstGeom>
          <a:noFill/>
          <a:ln w="381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V="1">
            <a:off x="7393767" y="3454508"/>
            <a:ext cx="466668" cy="255080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7393767" y="3709588"/>
            <a:ext cx="0" cy="532023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6912516" y="3993819"/>
            <a:ext cx="481251" cy="262368"/>
          </a:xfrm>
          <a:prstGeom prst="line">
            <a:avLst/>
          </a:prstGeom>
          <a:noFill/>
          <a:ln w="12700">
            <a:solidFill>
              <a:srgbClr val="1F1F1F"/>
            </a:solidFill>
          </a:ln>
        </p:spPr>
        <p:txBody>
          <a:bodyPr/>
          <a:lstStyle/>
          <a:p/>
        </p:txBody>
      </p:sp>
      <p:pic>
        <p:nvPicPr>
          <p:cNvPr id="111" name="Discord logo drawing"/>
          <p:cNvPicPr/>
          <p:nvPr/>
        </p:nvPicPr>
        <p:blipFill>
          <a:blip r:embed="rId2"/>
          <a:stretch>
            <a:fillRect/>
          </a:stretch>
        </p:blipFill>
        <p:spPr>
          <a:xfrm>
            <a:off x="1071878" y="3090108"/>
            <a:ext cx="1312503" cy="1122351"/>
          </a:xfrm>
          <a:prstGeom prst="rect">
            <a:avLst/>
          </a:prstGeom>
        </p:spPr>
      </p:pic>
      <p:pic>
        <p:nvPicPr>
          <p:cNvPr id="112" name="Bridge icon drawing"/>
          <p:cNvPicPr/>
          <p:nvPr/>
        </p:nvPicPr>
        <p:blipFill>
          <a:blip r:embed="rId3"/>
          <a:stretch>
            <a:fillRect/>
          </a:stretch>
        </p:blipFill>
        <p:spPr>
          <a:xfrm>
            <a:off x="3995843" y="2973501"/>
            <a:ext cx="1370837" cy="1253535"/>
          </a:xfrm>
          <a:prstGeom prst="rect">
            <a:avLst/>
          </a:prstGeom>
        </p:spPr>
      </p:pic>
      <p:pic>
        <p:nvPicPr>
          <p:cNvPr id="113" name="Laptop icon drawing"/>
          <p:cNvPicPr/>
          <p:nvPr/>
        </p:nvPicPr>
        <p:blipFill>
          <a:blip r:embed="rId4"/>
          <a:stretch>
            <a:fillRect/>
          </a:stretch>
        </p:blipFill>
        <p:spPr>
          <a:xfrm>
            <a:off x="9566689" y="3228580"/>
            <a:ext cx="1312503" cy="1042183"/>
          </a:xfrm>
          <a:prstGeom prst="rect">
            <a:avLst/>
          </a:prstGeom>
        </p:spPr>
      </p:pic>
      <p:pic>
        <p:nvPicPr>
          <p:cNvPr id="114" name="Envelope icon drawing"/>
          <p:cNvPicPr/>
          <p:nvPr/>
        </p:nvPicPr>
        <p:blipFill>
          <a:blip r:embed="rId5"/>
          <a:stretch>
            <a:fillRect/>
          </a:stretch>
        </p:blipFill>
        <p:spPr>
          <a:xfrm>
            <a:off x="3069799" y="3891787"/>
            <a:ext cx="371876" cy="255080"/>
          </a:xfrm>
          <a:prstGeom prst="rect">
            <a:avLst/>
          </a:prstGeom>
        </p:spPr>
      </p:pic>
      <p:pic>
        <p:nvPicPr>
          <p:cNvPr id="115" name="Result imag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8472936" y="3935515"/>
            <a:ext cx="313542" cy="269656"/>
          </a:xfrm>
          <a:prstGeom prst="rect">
            <a:avLst/>
          </a:prstGeom>
        </p:spPr>
      </p:pic>
      <p:pic>
        <p:nvPicPr>
          <p:cNvPr id="116" name="Result file icon"/>
          <p:cNvPicPr/>
          <p:nvPr/>
        </p:nvPicPr>
        <p:blipFill>
          <a:blip r:embed="rId7"/>
          <a:stretch>
            <a:fillRect/>
          </a:stretch>
        </p:blipFill>
        <p:spPr>
          <a:xfrm>
            <a:off x="8917729" y="3920939"/>
            <a:ext cx="284376" cy="284232"/>
          </a:xfrm>
          <a:prstGeom prst="rect">
            <a:avLst/>
          </a:prstGeom>
        </p:spPr>
      </p:pic>
      <p:pic>
        <p:nvPicPr>
          <p:cNvPr id="117" name="Gear icon"/>
          <p:cNvPicPr/>
          <p:nvPr/>
        </p:nvPicPr>
        <p:blipFill>
          <a:blip r:embed="rId8"/>
          <a:stretch>
            <a:fillRect/>
          </a:stretch>
        </p:blipFill>
        <p:spPr>
          <a:xfrm>
            <a:off x="3069799" y="5925137"/>
            <a:ext cx="313542" cy="313384"/>
          </a:xfrm>
          <a:prstGeom prst="rect">
            <a:avLst/>
          </a:prstGeom>
        </p:spPr>
      </p:pic>
      <p:pic>
        <p:nvPicPr>
          <p:cNvPr id="118" name="Monitor icon"/>
          <p:cNvPicPr/>
          <p:nvPr/>
        </p:nvPicPr>
        <p:blipFill>
          <a:blip r:embed="rId9"/>
          <a:stretch>
            <a:fillRect/>
          </a:stretch>
        </p:blipFill>
        <p:spPr>
          <a:xfrm>
            <a:off x="5242721" y="5961577"/>
            <a:ext cx="320834" cy="233216"/>
          </a:xfrm>
          <a:prstGeom prst="rect">
            <a:avLst/>
          </a:prstGeom>
        </p:spPr>
      </p:pic>
      <p:pic>
        <p:nvPicPr>
          <p:cNvPr id="119" name="Imag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495851" y="5961577"/>
            <a:ext cx="306251" cy="247792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1509379" y="757951"/>
            <a:ext cx="9807315" cy="8745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400" b="1">
                <a:solidFill>
                  <a:srgbClr val="0B3E6B"/>
                </a:solidFill>
                <a:latin typeface="PingFang SC"/>
                <a:ea typeface="PingFang SC"/>
                <a:cs typeface="PingFang SC"/>
              </a:rPr>
              <a:t>Codex Discord Bridge 使用指南</a:t>
            </a:r>
            <a:endParaRPr lang="zh-CN" sz="5400"/>
          </a:p>
        </p:txBody>
      </p:sp>
      <p:sp>
        <p:nvSpPr>
          <p:cNvPr id="121" name="TextBox 121"/>
          <p:cNvSpPr txBox="1"/>
          <p:nvPr/>
        </p:nvSpPr>
        <p:spPr>
          <a:xfrm>
            <a:off x="2428131" y="2011486"/>
            <a:ext cx="1203128" cy="3789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00">
                <a:solidFill>
                  <a:srgbClr val="428DDE"/>
                </a:solidFill>
                <a:latin typeface="PingFang SC"/>
                <a:ea typeface="PingFang SC"/>
                <a:cs typeface="PingFang SC"/>
              </a:rPr>
              <a:t>Discord</a:t>
            </a:r>
            <a:endParaRPr lang="zh-CN" sz="2900"/>
          </a:p>
        </p:txBody>
      </p:sp>
      <p:sp>
        <p:nvSpPr>
          <p:cNvPr id="122" name="TextBox 122"/>
          <p:cNvSpPr txBox="1"/>
          <p:nvPr/>
        </p:nvSpPr>
        <p:spPr>
          <a:xfrm>
            <a:off x="3806259" y="2047926"/>
            <a:ext cx="1166669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发任务，</a:t>
            </a:r>
            <a:endParaRPr lang="zh-CN" sz="2500"/>
          </a:p>
        </p:txBody>
      </p:sp>
      <p:sp>
        <p:nvSpPr>
          <p:cNvPr id="123" name="TextBox 123"/>
          <p:cNvSpPr txBox="1"/>
          <p:nvPr/>
        </p:nvSpPr>
        <p:spPr>
          <a:xfrm>
            <a:off x="5198971" y="2047926"/>
            <a:ext cx="1691671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本机 Codex</a:t>
            </a:r>
            <a:endParaRPr lang="zh-CN" sz="2500"/>
          </a:p>
        </p:txBody>
      </p:sp>
      <p:sp>
        <p:nvSpPr>
          <p:cNvPr id="124" name="TextBox 124"/>
          <p:cNvSpPr txBox="1"/>
          <p:nvPr/>
        </p:nvSpPr>
        <p:spPr>
          <a:xfrm>
            <a:off x="7072933" y="2047926"/>
            <a:ext cx="845835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执行，</a:t>
            </a:r>
            <a:endParaRPr lang="zh-CN" sz="2500"/>
          </a:p>
        </p:txBody>
      </p:sp>
      <p:sp>
        <p:nvSpPr>
          <p:cNvPr id="125" name="TextBox 125"/>
          <p:cNvSpPr txBox="1"/>
          <p:nvPr/>
        </p:nvSpPr>
        <p:spPr>
          <a:xfrm>
            <a:off x="8152102" y="2047926"/>
            <a:ext cx="1837504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结果自动回传。</a:t>
            </a:r>
            <a:endParaRPr lang="zh-CN" sz="2500"/>
          </a:p>
        </p:txBody>
      </p:sp>
      <p:sp>
        <p:nvSpPr>
          <p:cNvPr id="126" name="TextBox 126"/>
          <p:cNvSpPr txBox="1"/>
          <p:nvPr/>
        </p:nvSpPr>
        <p:spPr>
          <a:xfrm>
            <a:off x="2909382" y="3199428"/>
            <a:ext cx="80208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F83D8"/>
                </a:solidFill>
                <a:latin typeface="PingFang SC"/>
                <a:ea typeface="PingFang SC"/>
                <a:cs typeface="PingFang SC"/>
              </a:rPr>
              <a:t>任务内容</a:t>
            </a:r>
            <a:endParaRPr lang="zh-CN" sz="1800"/>
          </a:p>
        </p:txBody>
      </p:sp>
      <p:sp>
        <p:nvSpPr>
          <p:cNvPr id="127" name="TextBox 127"/>
          <p:cNvSpPr txBox="1"/>
          <p:nvPr/>
        </p:nvSpPr>
        <p:spPr>
          <a:xfrm>
            <a:off x="5702097" y="3199428"/>
            <a:ext cx="80208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转发任务</a:t>
            </a:r>
            <a:endParaRPr lang="zh-CN" sz="1800"/>
          </a:p>
        </p:txBody>
      </p:sp>
      <p:sp>
        <p:nvSpPr>
          <p:cNvPr id="128" name="TextBox 128"/>
          <p:cNvSpPr txBox="1"/>
          <p:nvPr/>
        </p:nvSpPr>
        <p:spPr>
          <a:xfrm>
            <a:off x="8385436" y="3024516"/>
            <a:ext cx="838544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00">
                <a:solidFill>
                  <a:srgbClr val="C96A25"/>
                </a:solidFill>
                <a:latin typeface="PingFang SC"/>
                <a:ea typeface="PingFang SC"/>
                <a:cs typeface="PingFang SC"/>
              </a:rPr>
              <a:t>执行命令</a:t>
            </a:r>
            <a:endParaRPr lang="zh-CN" sz="1900"/>
          </a:p>
        </p:txBody>
      </p:sp>
      <p:sp>
        <p:nvSpPr>
          <p:cNvPr id="129" name="TextBox 129"/>
          <p:cNvSpPr txBox="1"/>
          <p:nvPr/>
        </p:nvSpPr>
        <p:spPr>
          <a:xfrm>
            <a:off x="8414603" y="4234323"/>
            <a:ext cx="875002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返回结果</a:t>
            </a:r>
            <a:endParaRPr lang="zh-CN" sz="1800"/>
          </a:p>
        </p:txBody>
      </p:sp>
      <p:sp>
        <p:nvSpPr>
          <p:cNvPr id="130" name="TextBox 130"/>
          <p:cNvSpPr txBox="1"/>
          <p:nvPr/>
        </p:nvSpPr>
        <p:spPr>
          <a:xfrm>
            <a:off x="5833347" y="3928227"/>
            <a:ext cx="46666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...</a:t>
            </a:r>
            <a:endParaRPr lang="zh-CN" sz="2100"/>
          </a:p>
        </p:txBody>
      </p:sp>
      <p:sp>
        <p:nvSpPr>
          <p:cNvPr id="131" name="TextBox 131"/>
          <p:cNvSpPr txBox="1"/>
          <p:nvPr/>
        </p:nvSpPr>
        <p:spPr>
          <a:xfrm>
            <a:off x="1392712" y="4715330"/>
            <a:ext cx="7875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0B3E6B"/>
                </a:solidFill>
                <a:latin typeface="PingFang SC"/>
                <a:ea typeface="PingFang SC"/>
                <a:cs typeface="PingFang SC"/>
              </a:rPr>
              <a:t>Discord</a:t>
            </a:r>
            <a:endParaRPr lang="zh-CN" sz="2000"/>
          </a:p>
        </p:txBody>
      </p:sp>
      <p:sp>
        <p:nvSpPr>
          <p:cNvPr id="132" name="TextBox 132"/>
          <p:cNvSpPr txBox="1"/>
          <p:nvPr/>
        </p:nvSpPr>
        <p:spPr>
          <a:xfrm>
            <a:off x="1385420" y="5079730"/>
            <a:ext cx="81666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发送任务</a:t>
            </a:r>
            <a:endParaRPr lang="zh-CN" sz="1800"/>
          </a:p>
        </p:txBody>
      </p:sp>
      <p:sp>
        <p:nvSpPr>
          <p:cNvPr id="133" name="TextBox 133"/>
          <p:cNvSpPr txBox="1"/>
          <p:nvPr/>
        </p:nvSpPr>
        <p:spPr>
          <a:xfrm>
            <a:off x="4367719" y="4715330"/>
            <a:ext cx="72916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Bridge</a:t>
            </a:r>
            <a:endParaRPr lang="zh-CN" sz="2000"/>
          </a:p>
        </p:txBody>
      </p:sp>
      <p:sp>
        <p:nvSpPr>
          <p:cNvPr id="134" name="TextBox 134"/>
          <p:cNvSpPr txBox="1"/>
          <p:nvPr/>
        </p:nvSpPr>
        <p:spPr>
          <a:xfrm>
            <a:off x="4287510" y="5079730"/>
            <a:ext cx="102083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中转与路由</a:t>
            </a:r>
            <a:endParaRPr lang="zh-CN" sz="1800"/>
          </a:p>
        </p:txBody>
      </p:sp>
      <p:sp>
        <p:nvSpPr>
          <p:cNvPr id="135" name="TextBox 135"/>
          <p:cNvSpPr txBox="1"/>
          <p:nvPr/>
        </p:nvSpPr>
        <p:spPr>
          <a:xfrm>
            <a:off x="7058350" y="4715330"/>
            <a:ext cx="7000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A24F18"/>
                </a:solidFill>
                <a:latin typeface="PingFang SC"/>
                <a:ea typeface="PingFang SC"/>
                <a:cs typeface="PingFang SC"/>
              </a:rPr>
              <a:t>Codex</a:t>
            </a:r>
            <a:endParaRPr lang="zh-CN" sz="2000"/>
          </a:p>
        </p:txBody>
      </p:sp>
      <p:sp>
        <p:nvSpPr>
          <p:cNvPr id="136" name="TextBox 136"/>
          <p:cNvSpPr txBox="1"/>
          <p:nvPr/>
        </p:nvSpPr>
        <p:spPr>
          <a:xfrm>
            <a:off x="6839599" y="5079730"/>
            <a:ext cx="113021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本机执行任务</a:t>
            </a:r>
            <a:endParaRPr lang="zh-CN" sz="1800"/>
          </a:p>
        </p:txBody>
      </p:sp>
      <p:sp>
        <p:nvSpPr>
          <p:cNvPr id="137" name="TextBox 137"/>
          <p:cNvSpPr txBox="1"/>
          <p:nvPr/>
        </p:nvSpPr>
        <p:spPr>
          <a:xfrm>
            <a:off x="9829190" y="4729906"/>
            <a:ext cx="103541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B3E6B"/>
                </a:solidFill>
                <a:latin typeface="PingFang SC"/>
                <a:ea typeface="PingFang SC"/>
                <a:cs typeface="PingFang SC"/>
              </a:rPr>
              <a:t>macOS 本机</a:t>
            </a:r>
            <a:endParaRPr lang="zh-CN" sz="1700"/>
          </a:p>
        </p:txBody>
      </p:sp>
      <p:sp>
        <p:nvSpPr>
          <p:cNvPr id="138" name="TextBox 138"/>
          <p:cNvSpPr txBox="1"/>
          <p:nvPr/>
        </p:nvSpPr>
        <p:spPr>
          <a:xfrm>
            <a:off x="9851065" y="5079730"/>
            <a:ext cx="962502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运行 Codex</a:t>
            </a:r>
            <a:endParaRPr lang="zh-CN" sz="1800"/>
          </a:p>
        </p:txBody>
      </p:sp>
      <p:sp>
        <p:nvSpPr>
          <p:cNvPr id="139" name="TextBox 139"/>
          <p:cNvSpPr txBox="1"/>
          <p:nvPr/>
        </p:nvSpPr>
        <p:spPr>
          <a:xfrm>
            <a:off x="3500008" y="6012593"/>
            <a:ext cx="875002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236FB7"/>
                </a:solidFill>
                <a:latin typeface="PingFang SC"/>
                <a:ea typeface="PingFang SC"/>
                <a:cs typeface="PingFang SC"/>
              </a:rPr>
              <a:t>默认 Codex</a:t>
            </a:r>
            <a:endParaRPr lang="zh-CN" sz="1700"/>
          </a:p>
        </p:txBody>
      </p:sp>
      <p:sp>
        <p:nvSpPr>
          <p:cNvPr id="140" name="TextBox 140"/>
          <p:cNvSpPr txBox="1"/>
          <p:nvPr/>
        </p:nvSpPr>
        <p:spPr>
          <a:xfrm>
            <a:off x="4841678" y="5968865"/>
            <a:ext cx="145834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6F5D46"/>
                </a:solidFill>
                <a:latin typeface="PingFang SC"/>
                <a:ea typeface="PingFang SC"/>
                <a:cs typeface="PingFang SC"/>
              </a:rPr>
              <a:t>•</a:t>
            </a:r>
            <a:endParaRPr lang="zh-CN" sz="1700"/>
          </a:p>
        </p:txBody>
      </p:sp>
      <p:sp>
        <p:nvSpPr>
          <p:cNvPr id="141" name="TextBox 141"/>
          <p:cNvSpPr txBox="1"/>
          <p:nvPr/>
        </p:nvSpPr>
        <p:spPr>
          <a:xfrm>
            <a:off x="5738555" y="6012593"/>
            <a:ext cx="93333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macOS 服务</a:t>
            </a:r>
            <a:endParaRPr lang="zh-CN" sz="1700"/>
          </a:p>
        </p:txBody>
      </p:sp>
      <p:sp>
        <p:nvSpPr>
          <p:cNvPr id="142" name="TextBox 142"/>
          <p:cNvSpPr txBox="1"/>
          <p:nvPr/>
        </p:nvSpPr>
        <p:spPr>
          <a:xfrm>
            <a:off x="7116683" y="5968865"/>
            <a:ext cx="145834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6F5D46"/>
                </a:solidFill>
                <a:latin typeface="PingFang SC"/>
                <a:ea typeface="PingFang SC"/>
                <a:cs typeface="PingFang SC"/>
              </a:rPr>
              <a:t>•</a:t>
            </a:r>
            <a:endParaRPr lang="zh-CN" sz="1700"/>
          </a:p>
        </p:txBody>
      </p:sp>
      <p:sp>
        <p:nvSpPr>
          <p:cNvPr id="143" name="TextBox 143"/>
          <p:cNvSpPr txBox="1"/>
          <p:nvPr/>
        </p:nvSpPr>
        <p:spPr>
          <a:xfrm>
            <a:off x="7955227" y="6012593"/>
            <a:ext cx="112291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B9541E"/>
                </a:solidFill>
                <a:latin typeface="PingFang SC"/>
                <a:ea typeface="PingFang SC"/>
                <a:cs typeface="PingFang SC"/>
              </a:rPr>
              <a:t>图片/文件回传</a:t>
            </a:r>
            <a:endParaRPr lang="zh-CN" sz="1700"/>
          </a:p>
        </p:txBody>
      </p:sp>
      <p:sp>
        <p:nvSpPr>
          <p:cNvPr id="144" name="TextBox 144"/>
          <p:cNvSpPr txBox="1"/>
          <p:nvPr/>
        </p:nvSpPr>
        <p:spPr>
          <a:xfrm>
            <a:off x="7583351" y="3709588"/>
            <a:ext cx="277084" cy="33524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C</a:t>
            </a:r>
            <a:endParaRPr lang="zh-CN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9027104" y="1821998"/>
            <a:ext cx="2515631" cy="685071"/>
          </a:xfrm>
          <a:prstGeom prst="roundRect">
            <a:avLst>
              <a:gd name="adj" fmla="val 21277"/>
            </a:avLst>
          </a:prstGeom>
          <a:solidFill>
            <a:srgbClr val="FFF7EB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3806259" y="524735"/>
            <a:ext cx="29167" cy="29152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3689592" y="685071"/>
            <a:ext cx="269792" cy="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3747925" y="590327"/>
            <a:ext cx="153125" cy="174912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 flipH="1">
            <a:off x="3747925" y="590327"/>
            <a:ext cx="153125" cy="174912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3762509" y="991167"/>
            <a:ext cx="189584" cy="3644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3798967" y="1122351"/>
            <a:ext cx="153125" cy="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 flipH="1">
            <a:off x="8341686" y="444567"/>
            <a:ext cx="131250" cy="255080"/>
          </a:xfrm>
          <a:prstGeom prst="line">
            <a:avLst/>
          </a:prstGeom>
          <a:noFill/>
          <a:ln w="50800">
            <a:solidFill>
              <a:srgbClr val="2E7D38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 flipH="1">
            <a:off x="8443770" y="641343"/>
            <a:ext cx="211459" cy="138472"/>
          </a:xfrm>
          <a:prstGeom prst="line">
            <a:avLst/>
          </a:prstGeom>
          <a:noFill/>
          <a:ln w="38100">
            <a:solidFill>
              <a:srgbClr val="2E7D38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8502103" y="874559"/>
            <a:ext cx="226042" cy="51016"/>
          </a:xfrm>
          <a:prstGeom prst="line">
            <a:avLst/>
          </a:prstGeom>
          <a:noFill/>
          <a:ln w="38100">
            <a:solidFill>
              <a:srgbClr val="2E7D38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V="1">
            <a:off x="3901051" y="1370142"/>
            <a:ext cx="4404177" cy="72880"/>
          </a:xfrm>
          <a:prstGeom prst="line">
            <a:avLst/>
          </a:prstGeom>
          <a:noFill/>
          <a:ln w="38100">
            <a:solidFill>
              <a:srgbClr val="5B8FD3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V="1">
            <a:off x="4338552" y="1428446"/>
            <a:ext cx="4178135" cy="43728"/>
          </a:xfrm>
          <a:prstGeom prst="line">
            <a:avLst/>
          </a:prstGeom>
          <a:noFill/>
          <a:ln w="25400">
            <a:solidFill>
              <a:srgbClr val="5B8FD3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97918" y="1865726"/>
            <a:ext cx="2435422" cy="2725709"/>
          </a:xfrm>
          <a:prstGeom prst="roundRect">
            <a:avLst>
              <a:gd name="adj" fmla="val 8982"/>
            </a:avLst>
          </a:prstGeom>
          <a:solidFill>
            <a:srgbClr val="FFFFFF"/>
          </a:solidFill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3179174" y="3141124"/>
            <a:ext cx="707293" cy="7288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H="1" flipV="1">
            <a:off x="3718759" y="2988077"/>
            <a:ext cx="167709" cy="160336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H="1">
            <a:off x="3718759" y="3148412"/>
            <a:ext cx="167709" cy="160336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105218" y="2339445"/>
            <a:ext cx="4134385" cy="1778270"/>
          </a:xfrm>
          <a:prstGeom prst="roundRect">
            <a:avLst>
              <a:gd name="adj" fmla="val 8197"/>
            </a:avLst>
          </a:prstGeom>
          <a:solidFill>
            <a:srgbClr val="FBFFF8"/>
          </a:solidFill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370853" y="3148412"/>
            <a:ext cx="510418" cy="0"/>
          </a:xfrm>
          <a:prstGeom prst="line">
            <a:avLst/>
          </a:prstGeom>
          <a:noFill/>
          <a:ln w="50800">
            <a:solidFill>
              <a:srgbClr val="2F7F39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 flipV="1">
            <a:off x="8706270" y="3017228"/>
            <a:ext cx="175000" cy="131184"/>
          </a:xfrm>
          <a:prstGeom prst="line">
            <a:avLst/>
          </a:prstGeom>
          <a:noFill/>
          <a:ln w="50800">
            <a:solidFill>
              <a:srgbClr val="2F7F39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8706270" y="3148412"/>
            <a:ext cx="175000" cy="167624"/>
          </a:xfrm>
          <a:prstGeom prst="line">
            <a:avLst/>
          </a:prstGeom>
          <a:noFill/>
          <a:ln w="50800">
            <a:solidFill>
              <a:srgbClr val="2F7F39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027104" y="2208261"/>
            <a:ext cx="2515631" cy="2507069"/>
          </a:xfrm>
          <a:prstGeom prst="roundRect">
            <a:avLst>
              <a:gd name="adj" fmla="val 5233"/>
            </a:avLst>
          </a:prstGeom>
          <a:solidFill>
            <a:srgbClr val="FFFDF9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3419800" y="4606011"/>
            <a:ext cx="1516670" cy="502871"/>
          </a:xfrm>
          <a:prstGeom prst="roundRect">
            <a:avLst>
              <a:gd name="adj" fmla="val 24638"/>
            </a:avLst>
          </a:prstGeom>
          <a:solidFill>
            <a:srgbClr val="F3F8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118762" y="4606011"/>
            <a:ext cx="1735421" cy="502871"/>
          </a:xfrm>
          <a:prstGeom prst="roundRect">
            <a:avLst>
              <a:gd name="adj" fmla="val 24638"/>
            </a:avLst>
          </a:prstGeom>
          <a:solidFill>
            <a:srgbClr val="F6FBF2"/>
          </a:solidFill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7029183" y="4606011"/>
            <a:ext cx="1494795" cy="502871"/>
          </a:xfrm>
          <a:prstGeom prst="roundRect">
            <a:avLst>
              <a:gd name="adj" fmla="val 24638"/>
            </a:avLst>
          </a:prstGeom>
          <a:solidFill>
            <a:srgbClr val="FFF8EF"/>
          </a:solidFill>
          <a:ln w="254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2253130" y="5589889"/>
            <a:ext cx="7503143" cy="87455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9FC4EF"/>
            </a:solidFill>
            <a:prstDash val="dash"/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618754" y="4591435"/>
            <a:ext cx="0" cy="160336"/>
          </a:xfrm>
          <a:prstGeom prst="line">
            <a:avLst/>
          </a:prstGeom>
          <a:noFill/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V="1">
            <a:off x="1618754" y="4584147"/>
            <a:ext cx="240626" cy="167624"/>
          </a:xfrm>
          <a:prstGeom prst="line">
            <a:avLst/>
          </a:prstGeom>
          <a:noFill/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V="1">
            <a:off x="4251052" y="2492493"/>
            <a:ext cx="1946880" cy="1464886"/>
          </a:xfrm>
          <a:prstGeom prst="line">
            <a:avLst/>
          </a:prstGeom>
          <a:noFill/>
          <a:ln w="12700">
            <a:solidFill>
              <a:srgbClr val="E7F0E3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V="1">
            <a:off x="4725011" y="2441477"/>
            <a:ext cx="2158338" cy="1559630"/>
          </a:xfrm>
          <a:prstGeom prst="line">
            <a:avLst/>
          </a:prstGeom>
          <a:noFill/>
          <a:ln w="12700">
            <a:solidFill>
              <a:srgbClr val="E7F0E3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V="1">
            <a:off x="5454179" y="2456053"/>
            <a:ext cx="2158338" cy="1537766"/>
          </a:xfrm>
          <a:prstGeom prst="line">
            <a:avLst/>
          </a:prstGeom>
          <a:noFill/>
          <a:ln w="12700">
            <a:solidFill>
              <a:srgbClr val="E7F0E3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V="1">
            <a:off x="9129188" y="2281141"/>
            <a:ext cx="1626045" cy="2266565"/>
          </a:xfrm>
          <a:prstGeom prst="line">
            <a:avLst/>
          </a:prstGeom>
          <a:noFill/>
          <a:ln w="12700">
            <a:solidFill>
              <a:srgbClr val="F5EAD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V="1">
            <a:off x="9625023" y="2317581"/>
            <a:ext cx="1662504" cy="2288429"/>
          </a:xfrm>
          <a:prstGeom prst="line">
            <a:avLst/>
          </a:prstGeom>
          <a:noFill/>
          <a:ln w="12700">
            <a:solidFill>
              <a:srgbClr val="F5EADB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 flipV="1">
            <a:off x="9114605" y="2273853"/>
            <a:ext cx="1166669" cy="1406582"/>
          </a:xfrm>
          <a:prstGeom prst="line">
            <a:avLst/>
          </a:prstGeom>
          <a:noFill/>
          <a:ln w="12700">
            <a:solidFill>
              <a:srgbClr val="F5EADB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254170" y="3381628"/>
            <a:ext cx="1487503" cy="0"/>
          </a:xfrm>
          <a:prstGeom prst="line">
            <a:avLst/>
          </a:prstGeom>
          <a:noFill/>
          <a:ln w="25400">
            <a:solidFill>
              <a:srgbClr val="BFBFBF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254170" y="3527388"/>
            <a:ext cx="1181253" cy="0"/>
          </a:xfrm>
          <a:prstGeom prst="line">
            <a:avLst/>
          </a:prstGeom>
          <a:noFill/>
          <a:ln w="25400">
            <a:solidFill>
              <a:srgbClr val="C8C8C8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254170" y="3964667"/>
            <a:ext cx="1487503" cy="0"/>
          </a:xfrm>
          <a:prstGeom prst="line">
            <a:avLst/>
          </a:prstGeom>
          <a:noFill/>
          <a:ln w="25400">
            <a:solidFill>
              <a:srgbClr val="BFBFBF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254170" y="4103139"/>
            <a:ext cx="1181253" cy="0"/>
          </a:xfrm>
          <a:prstGeom prst="line">
            <a:avLst/>
          </a:prstGeom>
          <a:noFill/>
          <a:ln w="25400">
            <a:solidFill>
              <a:srgbClr val="C8C8C8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794794" y="2011486"/>
            <a:ext cx="561460" cy="561175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H="1">
            <a:off x="889585" y="2711133"/>
            <a:ext cx="51042" cy="240504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H="1">
            <a:off x="1006252" y="2711133"/>
            <a:ext cx="51042" cy="240504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31252" y="2791301"/>
            <a:ext cx="284376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16669" y="2878757"/>
            <a:ext cx="284376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809377" y="3155700"/>
            <a:ext cx="320834" cy="320672"/>
          </a:xfrm>
          <a:prstGeom prst="ellipse">
            <a:avLst/>
          </a:prstGeom>
          <a:solidFill>
            <a:srgbClr val="E8F1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809377" y="3767892"/>
            <a:ext cx="320834" cy="320672"/>
          </a:xfrm>
          <a:prstGeom prst="ellipse">
            <a:avLst/>
          </a:prstGeom>
          <a:solidFill>
            <a:srgbClr val="FFF1DF"/>
          </a:solidFill>
          <a:ln w="25400">
            <a:solidFill>
              <a:srgbClr val="F28A22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V="1">
            <a:off x="3631258" y="4744482"/>
            <a:ext cx="138542" cy="138472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V="1">
            <a:off x="3726050" y="4817362"/>
            <a:ext cx="138542" cy="138472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5279179" y="4737194"/>
            <a:ext cx="277084" cy="276944"/>
          </a:xfrm>
          <a:prstGeom prst="rect">
            <a:avLst/>
          </a:prstGeom>
          <a:solidFill>
            <a:srgbClr val="EDF7E9"/>
          </a:solidFill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7218767" y="4817362"/>
            <a:ext cx="320834" cy="182200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7233350" y="4744482"/>
            <a:ext cx="189584" cy="94744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2661465" y="5910561"/>
            <a:ext cx="240626" cy="306096"/>
          </a:xfrm>
          <a:prstGeom prst="ellipse">
            <a:avLst/>
          </a:prstGeom>
          <a:solidFill>
            <a:srgbClr val="FFFEF4"/>
          </a:solidFill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2712506" y="6216657"/>
            <a:ext cx="145834" cy="87456"/>
          </a:xfrm>
          <a:prstGeom prst="rect">
            <a:avLst/>
          </a:prstGeom>
          <a:solidFill>
            <a:srgbClr val="FFFEF4"/>
          </a:solidFill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792715" y="5750225"/>
            <a:ext cx="0" cy="102032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>
            <a:off x="2479172" y="5990729"/>
            <a:ext cx="94792" cy="0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2989590" y="5990729"/>
            <a:ext cx="94792" cy="0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918752" y="2186397"/>
            <a:ext cx="320834" cy="182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911460" y="3221292"/>
            <a:ext cx="116667" cy="116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67710" y="3323324"/>
            <a:ext cx="204167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911460" y="3833484"/>
            <a:ext cx="116667" cy="116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A22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867710" y="3935515"/>
            <a:ext cx="204167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A22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4367719" y="2579949"/>
            <a:ext cx="138542" cy="131184"/>
          </a:xfrm>
          <a:prstGeom prst="line">
            <a:avLst/>
          </a:prstGeom>
          <a:noFill/>
          <a:ln w="635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H="1">
            <a:off x="4375010" y="2711133"/>
            <a:ext cx="131250" cy="123896"/>
          </a:xfrm>
          <a:prstGeom prst="line">
            <a:avLst/>
          </a:prstGeom>
          <a:noFill/>
          <a:ln w="635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4550011" y="2813165"/>
            <a:ext cx="153125" cy="0"/>
          </a:xfrm>
          <a:prstGeom prst="line">
            <a:avLst/>
          </a:prstGeom>
          <a:noFill/>
          <a:ln w="508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7802102" y="2565373"/>
            <a:ext cx="29167" cy="94744"/>
          </a:xfrm>
          <a:prstGeom prst="line">
            <a:avLst/>
          </a:prstGeom>
          <a:noFill/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7904185" y="2550797"/>
            <a:ext cx="14583" cy="123896"/>
          </a:xfrm>
          <a:prstGeom prst="line">
            <a:avLst/>
          </a:prstGeom>
          <a:noFill/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>
            <a:off x="7947935" y="2587237"/>
            <a:ext cx="51042" cy="123896"/>
          </a:xfrm>
          <a:prstGeom prst="line">
            <a:avLst/>
          </a:prstGeom>
          <a:noFill/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9238563" y="2820453"/>
            <a:ext cx="350001" cy="240504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9253147" y="2754861"/>
            <a:ext cx="196875" cy="102032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9333355" y="3367052"/>
            <a:ext cx="153125" cy="160336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9333355" y="3643996"/>
            <a:ext cx="153125" cy="160336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9333355" y="3906363"/>
            <a:ext cx="145834" cy="174912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9333355" y="4183307"/>
            <a:ext cx="145834" cy="174912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V="1">
            <a:off x="5279179" y="4671603"/>
            <a:ext cx="145834" cy="65592"/>
          </a:xfrm>
          <a:prstGeom prst="line">
            <a:avLst/>
          </a:prstGeom>
          <a:noFill/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H="1" flipV="1">
            <a:off x="5425013" y="4671603"/>
            <a:ext cx="131250" cy="65592"/>
          </a:xfrm>
          <a:prstGeom prst="line">
            <a:avLst/>
          </a:prstGeom>
          <a:noFill/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5425013" y="4671603"/>
            <a:ext cx="0" cy="284232"/>
          </a:xfrm>
          <a:prstGeom prst="line">
            <a:avLst/>
          </a:prstGeom>
          <a:noFill/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977086" y="2251989"/>
            <a:ext cx="58333" cy="58304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1137503" y="2251989"/>
            <a:ext cx="58333" cy="58304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9369814" y="3964667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9369814" y="4008395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9369814" y="4241611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9369814" y="4285339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82" name="TextBox 82"/>
          <p:cNvSpPr txBox="1"/>
          <p:nvPr/>
        </p:nvSpPr>
        <p:spPr>
          <a:xfrm>
            <a:off x="4200010" y="400840"/>
            <a:ext cx="3864592" cy="8745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4500" b="1">
                <a:solidFill>
                  <a:srgbClr val="07295F"/>
                </a:solidFill>
                <a:latin typeface="Songti SC"/>
                <a:ea typeface="Songti SC"/>
                <a:cs typeface="Songti SC"/>
              </a:rPr>
              <a:t>先绑定项目</a:t>
            </a:r>
            <a:endParaRPr lang="zh-CN" sz="4500"/>
          </a:p>
        </p:txBody>
      </p:sp>
      <p:sp>
        <p:nvSpPr>
          <p:cNvPr id="83" name="TextBox 83"/>
          <p:cNvSpPr txBox="1"/>
          <p:nvPr/>
        </p:nvSpPr>
        <p:spPr>
          <a:xfrm>
            <a:off x="1458337" y="2142670"/>
            <a:ext cx="875002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>
                <a:solidFill>
                  <a:srgbClr val="0756BD"/>
                </a:solidFill>
                <a:latin typeface="Comic Sans MS"/>
                <a:ea typeface="Comic Sans MS"/>
                <a:cs typeface="Comic Sans MS"/>
              </a:rPr>
              <a:t>Discord</a:t>
            </a:r>
            <a:endParaRPr lang="zh-CN" sz="2100"/>
          </a:p>
        </p:txBody>
      </p:sp>
      <p:sp>
        <p:nvSpPr>
          <p:cNvPr id="84" name="TextBox 84"/>
          <p:cNvSpPr txBox="1"/>
          <p:nvPr/>
        </p:nvSpPr>
        <p:spPr>
          <a:xfrm>
            <a:off x="1166669" y="2703845"/>
            <a:ext cx="984377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api-项目</a:t>
            </a:r>
            <a:endParaRPr lang="zh-CN" sz="1800"/>
          </a:p>
        </p:txBody>
      </p:sp>
      <p:sp>
        <p:nvSpPr>
          <p:cNvPr id="85" name="TextBox 85"/>
          <p:cNvSpPr txBox="1"/>
          <p:nvPr/>
        </p:nvSpPr>
        <p:spPr>
          <a:xfrm>
            <a:off x="1239586" y="3141124"/>
            <a:ext cx="56875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用户A</a:t>
            </a:r>
            <a:endParaRPr lang="zh-CN" sz="1300"/>
          </a:p>
        </p:txBody>
      </p:sp>
      <p:sp>
        <p:nvSpPr>
          <p:cNvPr id="86" name="TextBox 86"/>
          <p:cNvSpPr txBox="1"/>
          <p:nvPr/>
        </p:nvSpPr>
        <p:spPr>
          <a:xfrm>
            <a:off x="1239586" y="3753316"/>
            <a:ext cx="56875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用户B</a:t>
            </a:r>
            <a:endParaRPr lang="zh-CN" sz="1300"/>
          </a:p>
        </p:txBody>
      </p:sp>
      <p:sp>
        <p:nvSpPr>
          <p:cNvPr id="87" name="TextBox 87"/>
          <p:cNvSpPr txBox="1"/>
          <p:nvPr/>
        </p:nvSpPr>
        <p:spPr>
          <a:xfrm>
            <a:off x="1604170" y="4299915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6F7780"/>
                </a:solidFill>
                <a:latin typeface="STHeiti"/>
                <a:ea typeface="STHeiti"/>
                <a:cs typeface="STHeiti"/>
              </a:rPr>
              <a:t>···</a:t>
            </a:r>
            <a:endParaRPr lang="zh-CN" sz="1600"/>
          </a:p>
        </p:txBody>
      </p:sp>
      <p:sp>
        <p:nvSpPr>
          <p:cNvPr id="88" name="TextBox 88"/>
          <p:cNvSpPr txBox="1"/>
          <p:nvPr/>
        </p:nvSpPr>
        <p:spPr>
          <a:xfrm>
            <a:off x="1042711" y="4933970"/>
            <a:ext cx="1604170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00">
                <a:solidFill>
                  <a:srgbClr val="0756BD"/>
                </a:solidFill>
                <a:latin typeface="STHeiti"/>
                <a:ea typeface="STHeiti"/>
                <a:cs typeface="STHeiti"/>
              </a:rPr>
              <a:t>Discord 频道</a:t>
            </a:r>
            <a:endParaRPr lang="zh-CN" sz="2300"/>
          </a:p>
        </p:txBody>
      </p:sp>
      <p:sp>
        <p:nvSpPr>
          <p:cNvPr id="89" name="TextBox 89"/>
          <p:cNvSpPr txBox="1"/>
          <p:nvPr/>
        </p:nvSpPr>
        <p:spPr>
          <a:xfrm>
            <a:off x="4921887" y="2550797"/>
            <a:ext cx="1057294" cy="3060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00">
                <a:solidFill>
                  <a:srgbClr val="2E6B35"/>
                </a:solidFill>
                <a:latin typeface="STHeiti"/>
                <a:ea typeface="STHeiti"/>
                <a:cs typeface="STHeiti"/>
              </a:rPr>
              <a:t>绑定命令</a:t>
            </a:r>
            <a:endParaRPr lang="zh-CN" sz="1900"/>
          </a:p>
        </p:txBody>
      </p:sp>
      <p:sp>
        <p:nvSpPr>
          <p:cNvPr id="90" name="TextBox 90"/>
          <p:cNvSpPr txBox="1"/>
          <p:nvPr/>
        </p:nvSpPr>
        <p:spPr>
          <a:xfrm>
            <a:off x="4375010" y="3119260"/>
            <a:ext cx="3791676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0756BD"/>
                </a:solidFill>
                <a:latin typeface="Courier New"/>
                <a:ea typeface="Courier New"/>
                <a:cs typeface="Courier New"/>
              </a:rPr>
              <a:t>!bind</a:t>
            </a:r>
            <a:r>
              <a:rPr lang="zh-CN" sz="18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api "/path/to/workspaces/api"</a:t>
            </a:r>
            <a:endParaRPr lang="zh-CN" sz="1800"/>
          </a:p>
        </p:txBody>
      </p:sp>
      <p:sp>
        <p:nvSpPr>
          <p:cNvPr id="91" name="TextBox 91"/>
          <p:cNvSpPr txBox="1"/>
          <p:nvPr/>
        </p:nvSpPr>
        <p:spPr>
          <a:xfrm>
            <a:off x="4447927" y="3520100"/>
            <a:ext cx="2406256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--engine </a:t>
            </a:r>
            <a:r>
              <a:rPr lang="zh-CN" sz="1800">
                <a:solidFill>
                  <a:srgbClr val="2E6B35"/>
                </a:solidFill>
                <a:latin typeface="Courier New"/>
                <a:ea typeface="Courier New"/>
                <a:cs typeface="Courier New"/>
              </a:rPr>
              <a:t>codex</a:t>
            </a:r>
            <a:endParaRPr lang="zh-CN" sz="1800"/>
          </a:p>
        </p:txBody>
      </p:sp>
      <p:sp>
        <p:nvSpPr>
          <p:cNvPr id="92" name="TextBox 92"/>
          <p:cNvSpPr txBox="1"/>
          <p:nvPr/>
        </p:nvSpPr>
        <p:spPr>
          <a:xfrm>
            <a:off x="3995843" y="4729906"/>
            <a:ext cx="838544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0756BD"/>
                </a:solidFill>
                <a:latin typeface="STHeiti"/>
                <a:ea typeface="STHeiti"/>
                <a:cs typeface="STHeiti"/>
              </a:rPr>
              <a:t>频道绑定</a:t>
            </a:r>
            <a:endParaRPr lang="zh-CN" sz="1600"/>
          </a:p>
        </p:txBody>
      </p:sp>
      <p:sp>
        <p:nvSpPr>
          <p:cNvPr id="93" name="TextBox 93"/>
          <p:cNvSpPr txBox="1"/>
          <p:nvPr/>
        </p:nvSpPr>
        <p:spPr>
          <a:xfrm>
            <a:off x="5731263" y="4715330"/>
            <a:ext cx="1093753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2E6B35"/>
                </a:solidFill>
                <a:latin typeface="STHeiti"/>
                <a:ea typeface="STHeiti"/>
                <a:cs typeface="STHeiti"/>
              </a:rPr>
              <a:t>默认 Codex</a:t>
            </a:r>
            <a:endParaRPr lang="zh-CN" sz="1600"/>
          </a:p>
        </p:txBody>
      </p:sp>
      <p:sp>
        <p:nvSpPr>
          <p:cNvPr id="94" name="TextBox 94"/>
          <p:cNvSpPr txBox="1"/>
          <p:nvPr/>
        </p:nvSpPr>
        <p:spPr>
          <a:xfrm>
            <a:off x="7670851" y="4722618"/>
            <a:ext cx="802085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D95F04"/>
                </a:solidFill>
                <a:latin typeface="STHeiti"/>
                <a:ea typeface="STHeiti"/>
                <a:cs typeface="STHeiti"/>
              </a:rPr>
              <a:t>工作目录</a:t>
            </a:r>
            <a:endParaRPr lang="zh-CN" sz="1600"/>
          </a:p>
        </p:txBody>
      </p:sp>
      <p:sp>
        <p:nvSpPr>
          <p:cNvPr id="95" name="TextBox 95"/>
          <p:cNvSpPr txBox="1"/>
          <p:nvPr/>
        </p:nvSpPr>
        <p:spPr>
          <a:xfrm>
            <a:off x="9260438" y="2346733"/>
            <a:ext cx="1385420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本机项目目录</a:t>
            </a:r>
            <a:endParaRPr lang="zh-CN" sz="1600"/>
          </a:p>
        </p:txBody>
      </p:sp>
      <p:sp>
        <p:nvSpPr>
          <p:cNvPr id="96" name="TextBox 96"/>
          <p:cNvSpPr txBox="1"/>
          <p:nvPr/>
        </p:nvSpPr>
        <p:spPr>
          <a:xfrm>
            <a:off x="9756273" y="2754861"/>
            <a:ext cx="437501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api</a:t>
            </a:r>
            <a:endParaRPr lang="zh-CN" sz="1600"/>
          </a:p>
        </p:txBody>
      </p:sp>
      <p:sp>
        <p:nvSpPr>
          <p:cNvPr id="97" name="TextBox 97"/>
          <p:cNvSpPr txBox="1"/>
          <p:nvPr/>
        </p:nvSpPr>
        <p:spPr>
          <a:xfrm>
            <a:off x="9756273" y="3046380"/>
            <a:ext cx="175000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/path/to/workspaces/api</a:t>
            </a:r>
            <a:endParaRPr lang="zh-CN" sz="1100"/>
          </a:p>
        </p:txBody>
      </p:sp>
      <p:sp>
        <p:nvSpPr>
          <p:cNvPr id="98" name="TextBox 98"/>
          <p:cNvSpPr txBox="1"/>
          <p:nvPr/>
        </p:nvSpPr>
        <p:spPr>
          <a:xfrm>
            <a:off x="9603147" y="3396204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src/</a:t>
            </a:r>
            <a:endParaRPr lang="zh-CN" sz="1100"/>
          </a:p>
        </p:txBody>
      </p:sp>
      <p:sp>
        <p:nvSpPr>
          <p:cNvPr id="99" name="TextBox 99"/>
          <p:cNvSpPr txBox="1"/>
          <p:nvPr/>
        </p:nvSpPr>
        <p:spPr>
          <a:xfrm>
            <a:off x="9603147" y="3673148"/>
            <a:ext cx="583335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tests/</a:t>
            </a:r>
            <a:endParaRPr lang="zh-CN" sz="1100"/>
          </a:p>
        </p:txBody>
      </p:sp>
      <p:sp>
        <p:nvSpPr>
          <p:cNvPr id="100" name="TextBox 100"/>
          <p:cNvSpPr txBox="1"/>
          <p:nvPr/>
        </p:nvSpPr>
        <p:spPr>
          <a:xfrm>
            <a:off x="9603147" y="3950091"/>
            <a:ext cx="947919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README.md</a:t>
            </a:r>
            <a:endParaRPr lang="zh-CN" sz="1100"/>
          </a:p>
        </p:txBody>
      </p:sp>
      <p:sp>
        <p:nvSpPr>
          <p:cNvPr id="101" name="TextBox 101"/>
          <p:cNvSpPr txBox="1"/>
          <p:nvPr/>
        </p:nvSpPr>
        <p:spPr>
          <a:xfrm>
            <a:off x="9603147" y="4227035"/>
            <a:ext cx="1093753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pyproject.toml</a:t>
            </a:r>
            <a:endParaRPr lang="zh-CN" sz="1100"/>
          </a:p>
        </p:txBody>
      </p:sp>
      <p:sp>
        <p:nvSpPr>
          <p:cNvPr id="102" name="TextBox 102"/>
          <p:cNvSpPr txBox="1"/>
          <p:nvPr/>
        </p:nvSpPr>
        <p:spPr>
          <a:xfrm>
            <a:off x="9945857" y="4474827"/>
            <a:ext cx="47395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</a:t>
            </a:r>
            <a:endParaRPr lang="zh-CN" sz="1700"/>
          </a:p>
        </p:txBody>
      </p:sp>
      <p:sp>
        <p:nvSpPr>
          <p:cNvPr id="103" name="TextBox 103"/>
          <p:cNvSpPr txBox="1"/>
          <p:nvPr/>
        </p:nvSpPr>
        <p:spPr>
          <a:xfrm>
            <a:off x="9326063" y="4919394"/>
            <a:ext cx="1895838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D95F04"/>
                </a:solidFill>
                <a:latin typeface="STHeiti"/>
                <a:ea typeface="STHeiti"/>
                <a:cs typeface="STHeiti"/>
              </a:rPr>
              <a:t>本机项目（工作目录）</a:t>
            </a:r>
            <a:endParaRPr lang="zh-CN" sz="2000"/>
          </a:p>
        </p:txBody>
      </p:sp>
      <p:sp>
        <p:nvSpPr>
          <p:cNvPr id="104" name="TextBox 104"/>
          <p:cNvSpPr txBox="1"/>
          <p:nvPr/>
        </p:nvSpPr>
        <p:spPr>
          <a:xfrm>
            <a:off x="3303133" y="5808529"/>
            <a:ext cx="4447927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绑定后，频道就成为这个项目的</a:t>
            </a:r>
            <a:endParaRPr lang="zh-CN" sz="2400"/>
          </a:p>
        </p:txBody>
      </p:sp>
      <p:sp>
        <p:nvSpPr>
          <p:cNvPr id="105" name="TextBox 105"/>
          <p:cNvSpPr txBox="1"/>
          <p:nvPr/>
        </p:nvSpPr>
        <p:spPr>
          <a:xfrm>
            <a:off x="7845852" y="5808529"/>
            <a:ext cx="1385420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0756BD"/>
                </a:solidFill>
                <a:latin typeface="STHeiti"/>
                <a:ea typeface="STHeiti"/>
                <a:cs typeface="STHeiti"/>
              </a:rPr>
              <a:t>远程入口</a:t>
            </a:r>
            <a:endParaRPr lang="zh-CN" sz="2400"/>
          </a:p>
        </p:txBody>
      </p:sp>
      <p:sp>
        <p:nvSpPr>
          <p:cNvPr id="106" name="TextBox 106"/>
          <p:cNvSpPr txBox="1"/>
          <p:nvPr/>
        </p:nvSpPr>
        <p:spPr>
          <a:xfrm>
            <a:off x="9216688" y="5808529"/>
            <a:ext cx="291667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。</a:t>
            </a:r>
            <a:endParaRPr lang="zh-CN" sz="2400"/>
          </a:p>
        </p:txBody>
      </p:sp>
      <p:sp>
        <p:nvSpPr>
          <p:cNvPr id="107" name="Line 107"/>
          <p:cNvSpPr/>
          <p:nvPr/>
        </p:nvSpPr>
        <p:spPr>
          <a:xfrm>
            <a:off x="7926060" y="6231233"/>
            <a:ext cx="1195836" cy="14576"/>
          </a:xfrm>
          <a:prstGeom prst="line">
            <a:avLst/>
          </a:prstGeom>
          <a:noFill/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V="1">
            <a:off x="7802102" y="6253097"/>
            <a:ext cx="1677087" cy="72880"/>
          </a:xfrm>
          <a:prstGeom prst="line">
            <a:avLst/>
          </a:prstGeom>
          <a:noFill/>
          <a:ln w="25400">
            <a:solidFill>
              <a:srgbClr val="2B72C9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331260" y="1982334"/>
            <a:ext cx="3026049" cy="3192140"/>
          </a:xfrm>
          <a:prstGeom prst="roundRect">
            <a:avLst>
              <a:gd name="adj" fmla="val 6747"/>
            </a:avLst>
          </a:prstGeom>
          <a:solidFill>
            <a:srgbClr val="F4F8EF"/>
          </a:solidFill>
          <a:ln w="2794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8064602" y="2157245"/>
            <a:ext cx="3543758" cy="3024516"/>
          </a:xfrm>
          <a:prstGeom prst="roundRect">
            <a:avLst>
              <a:gd name="adj" fmla="val 7711"/>
            </a:avLst>
          </a:prstGeom>
          <a:solidFill>
            <a:srgbClr val="FFFEFA"/>
          </a:solidFill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27085" y="1982334"/>
            <a:ext cx="2741673" cy="925575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2794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627085" y="3046380"/>
            <a:ext cx="2741673" cy="1056759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2794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27085" y="4219747"/>
            <a:ext cx="2741673" cy="98387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794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377089" y="5363962"/>
            <a:ext cx="2165630" cy="422704"/>
          </a:xfrm>
          <a:prstGeom prst="roundRect">
            <a:avLst>
              <a:gd name="adj" fmla="val 27586"/>
            </a:avLst>
          </a:prstGeom>
          <a:solidFill>
            <a:srgbClr val="F7FBFF"/>
          </a:solidFill>
          <a:ln w="2286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776053" y="5363962"/>
            <a:ext cx="1881254" cy="422704"/>
          </a:xfrm>
          <a:prstGeom prst="roundRect">
            <a:avLst>
              <a:gd name="adj" fmla="val 27586"/>
            </a:avLst>
          </a:prstGeom>
          <a:solidFill>
            <a:srgbClr val="F8FFF6"/>
          </a:solidFill>
          <a:ln w="2286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890641" y="5363962"/>
            <a:ext cx="2902090" cy="422704"/>
          </a:xfrm>
          <a:prstGeom prst="roundRect">
            <a:avLst>
              <a:gd name="adj" fmla="val 27586"/>
            </a:avLst>
          </a:prstGeom>
          <a:solidFill>
            <a:srgbClr val="FFFDF8"/>
          </a:solidFill>
          <a:ln w="2286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1895838" y="5939713"/>
            <a:ext cx="8283353" cy="736087"/>
          </a:xfrm>
          <a:prstGeom prst="roundRect">
            <a:avLst>
              <a:gd name="adj" fmla="val 17822"/>
            </a:avLst>
          </a:prstGeom>
          <a:noFill/>
          <a:ln w="27940">
            <a:solidFill>
              <a:srgbClr val="9CC4F5"/>
            </a:solidFill>
            <a:prstDash val="dash"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477094" y="2259277"/>
            <a:ext cx="2727090" cy="655919"/>
          </a:xfrm>
          <a:prstGeom prst="roundRect">
            <a:avLst>
              <a:gd name="adj" fmla="val 17778"/>
            </a:avLst>
          </a:prstGeom>
          <a:solidFill>
            <a:srgbClr val="FBFFF8"/>
          </a:solidFill>
          <a:ln w="22860">
            <a:solidFill>
              <a:srgbClr val="90BA78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477094" y="3170276"/>
            <a:ext cx="2727090" cy="714223"/>
          </a:xfrm>
          <a:prstGeom prst="roundRect">
            <a:avLst>
              <a:gd name="adj" fmla="val 16327"/>
            </a:avLst>
          </a:prstGeom>
          <a:solidFill>
            <a:srgbClr val="FBFFF8"/>
          </a:solidFill>
          <a:ln w="22860">
            <a:solidFill>
              <a:srgbClr val="90BA78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477094" y="4095851"/>
            <a:ext cx="2727090" cy="765239"/>
          </a:xfrm>
          <a:prstGeom prst="roundRect">
            <a:avLst>
              <a:gd name="adj" fmla="val 15238"/>
            </a:avLst>
          </a:prstGeom>
          <a:solidFill>
            <a:srgbClr val="FBFFF8"/>
          </a:solidFill>
          <a:ln w="22860">
            <a:solidFill>
              <a:srgbClr val="90BA78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5782305" y="2915197"/>
            <a:ext cx="0" cy="255080"/>
          </a:xfrm>
          <a:prstGeom prst="line">
            <a:avLst/>
          </a:prstGeom>
          <a:noFill/>
          <a:ln w="25400">
            <a:solidFill>
              <a:srgbClr val="7FAF75"/>
            </a:solidFill>
            <a:prstDash val="dash"/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5782305" y="3884499"/>
            <a:ext cx="0" cy="211352"/>
          </a:xfrm>
          <a:prstGeom prst="line">
            <a:avLst/>
          </a:prstGeom>
          <a:noFill/>
          <a:ln w="25400">
            <a:solidFill>
              <a:srgbClr val="7FAF75"/>
            </a:solidFill>
            <a:prstDash val="dash"/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3091674" y="1122351"/>
            <a:ext cx="6300015" cy="87456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3543758" y="1180655"/>
            <a:ext cx="5293762" cy="65592"/>
          </a:xfrm>
          <a:prstGeom prst="line">
            <a:avLst/>
          </a:prstGeom>
          <a:noFill/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2814590" y="378976"/>
            <a:ext cx="58333" cy="174912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872923" y="553887"/>
            <a:ext cx="160417" cy="72880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2792715" y="553887"/>
            <a:ext cx="80209" cy="167624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 flipV="1">
            <a:off x="2705215" y="495583"/>
            <a:ext cx="167709" cy="58304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2829173" y="808967"/>
            <a:ext cx="102084" cy="36440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2858340" y="932863"/>
            <a:ext cx="80209" cy="43728"/>
          </a:xfrm>
          <a:prstGeom prst="line">
            <a:avLst/>
          </a:prstGeom>
          <a:noFill/>
          <a:ln w="381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V="1">
            <a:off x="9559397" y="131184"/>
            <a:ext cx="123959" cy="189488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9697939" y="604903"/>
            <a:ext cx="160417" cy="58304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9676064" y="736087"/>
            <a:ext cx="145834" cy="80168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627085" y="1413870"/>
            <a:ext cx="452084" cy="451855"/>
          </a:xfrm>
          <a:prstGeom prst="ellipse">
            <a:avLst/>
          </a:prstGeom>
          <a:solidFill>
            <a:srgbClr val="5D72F2"/>
          </a:solidFill>
          <a:ln w="25400">
            <a:solidFill>
              <a:srgbClr val="4967E8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772918" y="2128094"/>
            <a:ext cx="357293" cy="357112"/>
          </a:xfrm>
          <a:prstGeom prst="ellipse">
            <a:avLst/>
          </a:prstGeom>
          <a:solidFill>
            <a:srgbClr val="DCEEFF"/>
          </a:solidFill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772918" y="3170276"/>
            <a:ext cx="357293" cy="357112"/>
          </a:xfrm>
          <a:prstGeom prst="ellipse">
            <a:avLst/>
          </a:prstGeom>
          <a:solidFill>
            <a:srgbClr val="DCEEFF"/>
          </a:solidFill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772918" y="4336355"/>
            <a:ext cx="357293" cy="357112"/>
          </a:xfrm>
          <a:prstGeom prst="ellipse">
            <a:avLst/>
          </a:prstGeom>
          <a:solidFill>
            <a:srgbClr val="DCEEFF"/>
          </a:solidFill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469802" y="1800134"/>
            <a:ext cx="904169" cy="0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4528136" y="1690814"/>
            <a:ext cx="787502" cy="0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63021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71771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510417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5191679" y="1421158"/>
            <a:ext cx="0" cy="473719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 flipV="1">
            <a:off x="4404177" y="1428446"/>
            <a:ext cx="262501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4666678" y="1428446"/>
            <a:ext cx="262501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 flipV="1">
            <a:off x="4929178" y="1428446"/>
            <a:ext cx="218751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147929" y="1428446"/>
            <a:ext cx="247917" cy="28423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V="1">
            <a:off x="8152102" y="1392006"/>
            <a:ext cx="240626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392728" y="1392006"/>
            <a:ext cx="233334" cy="131184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152102" y="1530478"/>
            <a:ext cx="240626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H="1">
            <a:off x="8392728" y="1523190"/>
            <a:ext cx="233334" cy="145760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8152102" y="1530478"/>
            <a:ext cx="0" cy="276944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8392728" y="1668950"/>
            <a:ext cx="0" cy="276944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626062" y="1523190"/>
            <a:ext cx="0" cy="28423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8152102" y="1807422"/>
            <a:ext cx="240626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8392728" y="1807422"/>
            <a:ext cx="233334" cy="138472"/>
          </a:xfrm>
          <a:prstGeom prst="line">
            <a:avLst/>
          </a:prstGeom>
          <a:noFill/>
          <a:ln w="317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246894" y="2062502"/>
            <a:ext cx="3186466" cy="0"/>
          </a:xfrm>
          <a:prstGeom prst="line">
            <a:avLst/>
          </a:prstGeom>
          <a:noFill/>
          <a:ln w="3048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8290644" y="2645541"/>
            <a:ext cx="3120841" cy="0"/>
          </a:xfrm>
          <a:prstGeom prst="line">
            <a:avLst/>
          </a:prstGeom>
          <a:noFill/>
          <a:ln w="25400">
            <a:solidFill>
              <a:srgbClr val="8E8178"/>
            </a:solidFill>
            <a:prstDash val="dash"/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8385436" y="3097396"/>
            <a:ext cx="0" cy="313384"/>
          </a:xfrm>
          <a:prstGeom prst="line">
            <a:avLst/>
          </a:prstGeom>
          <a:noFill/>
          <a:ln w="38100">
            <a:solidFill>
              <a:srgbClr val="D0B197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8305228" y="3316036"/>
            <a:ext cx="80209" cy="102032"/>
          </a:xfrm>
          <a:prstGeom prst="line">
            <a:avLst/>
          </a:prstGeom>
          <a:noFill/>
          <a:ln w="38100">
            <a:solidFill>
              <a:srgbClr val="D0B197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>
            <a:off x="8385436" y="3316036"/>
            <a:ext cx="80209" cy="102032"/>
          </a:xfrm>
          <a:prstGeom prst="line">
            <a:avLst/>
          </a:prstGeom>
          <a:noFill/>
          <a:ln w="38100">
            <a:solidFill>
              <a:srgbClr val="D0B197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8385436" y="3855348"/>
            <a:ext cx="0" cy="313384"/>
          </a:xfrm>
          <a:prstGeom prst="line">
            <a:avLst/>
          </a:prstGeom>
          <a:noFill/>
          <a:ln w="381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8305228" y="4073987"/>
            <a:ext cx="80209" cy="102032"/>
          </a:xfrm>
          <a:prstGeom prst="line">
            <a:avLst/>
          </a:prstGeom>
          <a:noFill/>
          <a:ln w="381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H="1">
            <a:off x="8385436" y="4073987"/>
            <a:ext cx="80209" cy="102032"/>
          </a:xfrm>
          <a:prstGeom prst="line">
            <a:avLst/>
          </a:prstGeom>
          <a:noFill/>
          <a:ln w="381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8560437" y="3432644"/>
            <a:ext cx="2836465" cy="0"/>
          </a:xfrm>
          <a:prstGeom prst="line">
            <a:avLst/>
          </a:prstGeom>
          <a:noFill/>
          <a:ln w="19050">
            <a:solidFill>
              <a:srgbClr val="F5A062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8560437" y="4183307"/>
            <a:ext cx="2836465" cy="0"/>
          </a:xfrm>
          <a:prstGeom prst="line">
            <a:avLst/>
          </a:prstGeom>
          <a:noFill/>
          <a:ln w="19050">
            <a:solidFill>
              <a:srgbClr val="F5A062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2537506" y="5473282"/>
            <a:ext cx="262501" cy="204064"/>
          </a:xfrm>
          <a:prstGeom prst="ellipse">
            <a:avLst/>
          </a:prstGeom>
          <a:noFill/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 flipH="1">
            <a:off x="2595839" y="5670057"/>
            <a:ext cx="51042" cy="72880"/>
          </a:xfrm>
          <a:prstGeom prst="line">
            <a:avLst/>
          </a:prstGeom>
          <a:noFill/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7029183" y="5480570"/>
            <a:ext cx="240626" cy="189488"/>
          </a:xfrm>
          <a:prstGeom prst="rect">
            <a:avLst/>
          </a:prstGeom>
          <a:noFill/>
          <a:ln w="2540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2223964" y="6151065"/>
            <a:ext cx="284376" cy="284232"/>
          </a:xfrm>
          <a:prstGeom prst="ellips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2311464" y="6442584"/>
            <a:ext cx="131250" cy="0"/>
          </a:xfrm>
          <a:prstGeom prst="lin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2318755" y="6493600"/>
            <a:ext cx="116667" cy="0"/>
          </a:xfrm>
          <a:prstGeom prst="lin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2355214" y="6537328"/>
            <a:ext cx="51042" cy="0"/>
          </a:xfrm>
          <a:prstGeom prst="line">
            <a:avLst/>
          </a:prstGeom>
          <a:noFill/>
          <a:ln w="3048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2355214" y="5968865"/>
            <a:ext cx="0" cy="102032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 flipV="1">
            <a:off x="2501048" y="6070897"/>
            <a:ext cx="80209" cy="65592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H="1" flipV="1">
            <a:off x="2121880" y="6070897"/>
            <a:ext cx="87500" cy="65592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2537506" y="6289537"/>
            <a:ext cx="102084" cy="21864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2078130" y="6296825"/>
            <a:ext cx="102084" cy="21864"/>
          </a:xfrm>
          <a:prstGeom prst="line">
            <a:avLst/>
          </a:prstGeom>
          <a:noFill/>
          <a:ln w="29209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V="1">
            <a:off x="8341686" y="6428009"/>
            <a:ext cx="977086" cy="65592"/>
          </a:xfrm>
          <a:prstGeom prst="line">
            <a:avLst/>
          </a:prstGeom>
          <a:noFill/>
          <a:ln w="317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>
            <a:off x="9595856" y="6078185"/>
            <a:ext cx="43750" cy="17491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V="1">
            <a:off x="9778148" y="6092761"/>
            <a:ext cx="94792" cy="65592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9734398" y="6282249"/>
            <a:ext cx="138542" cy="43728"/>
          </a:xfrm>
          <a:prstGeom prst="line">
            <a:avLst/>
          </a:prstGeom>
          <a:noFill/>
          <a:ln w="381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2610423" y="5553450"/>
            <a:ext cx="21875" cy="21864"/>
          </a:xfrm>
          <a:prstGeom prst="ellipse">
            <a:avLst/>
          </a:prstGeom>
          <a:solidFill>
            <a:srgbClr val="1F72DD"/>
          </a:solidFill>
          <a:ln w="127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2668756" y="5553450"/>
            <a:ext cx="21875" cy="21864"/>
          </a:xfrm>
          <a:prstGeom prst="ellipse">
            <a:avLst/>
          </a:prstGeom>
          <a:solidFill>
            <a:srgbClr val="1F72DD"/>
          </a:solidFill>
          <a:ln w="127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2727090" y="5553450"/>
            <a:ext cx="21875" cy="21864"/>
          </a:xfrm>
          <a:prstGeom prst="ellipse">
            <a:avLst/>
          </a:prstGeom>
          <a:solidFill>
            <a:srgbClr val="1F72DD"/>
          </a:solidFill>
          <a:ln w="127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758335" y="1581494"/>
            <a:ext cx="72917" cy="7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911460" y="1581494"/>
            <a:ext cx="72917" cy="7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787502" y="1741830"/>
            <a:ext cx="175000" cy="0"/>
          </a:xfrm>
          <a:prstGeom prst="line">
            <a:avLst/>
          </a:prstGeom>
          <a:noFill/>
          <a:ln w="508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882294" y="2186397"/>
            <a:ext cx="123959" cy="123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831252" y="2324869"/>
            <a:ext cx="226042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882294" y="3228580"/>
            <a:ext cx="123959" cy="123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831252" y="3367052"/>
            <a:ext cx="226042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882294" y="4394659"/>
            <a:ext cx="123959" cy="123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831252" y="4533131"/>
            <a:ext cx="226042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3485425" y="2507069"/>
            <a:ext cx="685418" cy="0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3995843" y="2398624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3995843" y="2507069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3485425" y="3505524"/>
            <a:ext cx="685418" cy="0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3995843" y="3397079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V="1">
            <a:off x="3995843" y="3505524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3485425" y="4606011"/>
            <a:ext cx="685418" cy="0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3995843" y="4497565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V="1">
            <a:off x="3995843" y="4606011"/>
            <a:ext cx="175000" cy="108445"/>
          </a:xfrm>
          <a:prstGeom prst="line">
            <a:avLst/>
          </a:prstGeom>
          <a:noFill/>
          <a:ln w="57150">
            <a:solidFill>
              <a:srgbClr val="1F72DD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7481268" y="3425356"/>
            <a:ext cx="488543" cy="0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7802102" y="3321429"/>
            <a:ext cx="167709" cy="103927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V="1">
            <a:off x="7802102" y="3425356"/>
            <a:ext cx="167709" cy="103927"/>
          </a:xfrm>
          <a:prstGeom prst="line">
            <a:avLst/>
          </a:prstGeom>
          <a:noFill/>
          <a:ln w="50800">
            <a:solidFill>
              <a:srgbClr val="2D743B"/>
            </a:solidFill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8268769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8319811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8582312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8633354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8881271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8932313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9180230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9231272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9464605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9515647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9763565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9814606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10047940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10098982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10339608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0390649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10631275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0682317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10922942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0973984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11214610" y="1967758"/>
            <a:ext cx="102084" cy="196776"/>
          </a:xfrm>
          <a:prstGeom prst="ellips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1265651" y="2062502"/>
            <a:ext cx="0" cy="109320"/>
          </a:xfrm>
          <a:prstGeom prst="line">
            <a:avLst/>
          </a:prstGeom>
          <a:noFill/>
          <a:ln w="2794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4593761" y="2375885"/>
            <a:ext cx="211459" cy="211352"/>
          </a:xfrm>
          <a:prstGeom prst="ellipse">
            <a:avLst/>
          </a:prstGeom>
          <a:solidFill>
            <a:srgbClr val="4C8F44"/>
          </a:solidFill>
          <a:ln w="19050">
            <a:solidFill>
              <a:srgbClr val="438744"/>
            </a:solidFill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4593761" y="3192140"/>
            <a:ext cx="211459" cy="211352"/>
          </a:xfrm>
          <a:prstGeom prst="ellipse">
            <a:avLst/>
          </a:prstGeom>
          <a:solidFill>
            <a:srgbClr val="4C8F44"/>
          </a:solidFill>
          <a:ln w="19050">
            <a:solidFill>
              <a:srgbClr val="438744"/>
            </a:solidFill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4593761" y="4176019"/>
            <a:ext cx="211459" cy="211352"/>
          </a:xfrm>
          <a:prstGeom prst="ellipse">
            <a:avLst/>
          </a:prstGeom>
          <a:solidFill>
            <a:srgbClr val="4C8F44"/>
          </a:solidFill>
          <a:ln w="19050">
            <a:solidFill>
              <a:srgbClr val="438744"/>
            </a:solidFill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8283353" y="2805877"/>
            <a:ext cx="218751" cy="218640"/>
          </a:xfrm>
          <a:prstGeom prst="ellipse">
            <a:avLst/>
          </a:prstGeom>
          <a:solidFill>
            <a:srgbClr val="F36A18"/>
          </a:solidFill>
          <a:ln w="190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8283353" y="3563828"/>
            <a:ext cx="218751" cy="218640"/>
          </a:xfrm>
          <a:prstGeom prst="ellipse">
            <a:avLst/>
          </a:prstGeom>
          <a:solidFill>
            <a:srgbClr val="F36A18"/>
          </a:solidFill>
          <a:ln w="190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8283353" y="4314491"/>
            <a:ext cx="218751" cy="218640"/>
          </a:xfrm>
          <a:prstGeom prst="ellipse">
            <a:avLst/>
          </a:prstGeom>
          <a:solidFill>
            <a:srgbClr val="F36A18"/>
          </a:solidFill>
          <a:ln w="19050">
            <a:solidFill>
              <a:srgbClr val="F36A18"/>
            </a:solidFill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9158355" y="3053668"/>
            <a:ext cx="196875" cy="196776"/>
          </a:xfrm>
          <a:prstGeom prst="ellipse">
            <a:avLst/>
          </a:prstGeom>
          <a:noFill/>
          <a:ln w="27940">
            <a:solidFill>
              <a:srgbClr val="2E9B44"/>
            </a:solidFill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9158355" y="3811620"/>
            <a:ext cx="196875" cy="196776"/>
          </a:xfrm>
          <a:prstGeom prst="ellipse">
            <a:avLst/>
          </a:prstGeom>
          <a:noFill/>
          <a:ln w="27940">
            <a:solidFill>
              <a:srgbClr val="2E9B44"/>
            </a:solidFill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9158355" y="4562283"/>
            <a:ext cx="196875" cy="196776"/>
          </a:xfrm>
          <a:prstGeom prst="ellipse">
            <a:avLst/>
          </a:prstGeom>
          <a:noFill/>
          <a:ln w="27940">
            <a:solidFill>
              <a:srgbClr val="2E9B44"/>
            </a:solidFill>
          </a:ln>
        </p:spPr>
        <p:txBody>
          <a:bodyPr/>
          <a:lstStyle/>
          <a:p/>
        </p:txBody>
      </p:sp>
      <p:sp>
        <p:nvSpPr>
          <p:cNvPr id="131" name="TextBox 131"/>
          <p:cNvSpPr txBox="1"/>
          <p:nvPr/>
        </p:nvSpPr>
        <p:spPr>
          <a:xfrm>
            <a:off x="3208341" y="349824"/>
            <a:ext cx="5760430" cy="67049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300" b="1">
                <a:solidFill>
                  <a:srgbClr val="001F5B"/>
                </a:solidFill>
                <a:latin typeface="Hannotate SC"/>
                <a:ea typeface="Hannotate SC"/>
                <a:cs typeface="Hannotate SC"/>
              </a:rPr>
              <a:t>日常提问与会话续接</a:t>
            </a:r>
            <a:endParaRPr lang="zh-CN" sz="4300"/>
          </a:p>
        </p:txBody>
      </p:sp>
      <p:sp>
        <p:nvSpPr>
          <p:cNvPr id="132" name="TextBox 132"/>
          <p:cNvSpPr txBox="1"/>
          <p:nvPr/>
        </p:nvSpPr>
        <p:spPr>
          <a:xfrm>
            <a:off x="1210419" y="1537766"/>
            <a:ext cx="2260422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Discord 频道 # </a:t>
            </a:r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api-项目</a:t>
            </a:r>
            <a:endParaRPr lang="zh-CN" sz="1800"/>
          </a:p>
        </p:txBody>
      </p:sp>
      <p:sp>
        <p:nvSpPr>
          <p:cNvPr id="133" name="TextBox 133"/>
          <p:cNvSpPr txBox="1"/>
          <p:nvPr/>
        </p:nvSpPr>
        <p:spPr>
          <a:xfrm>
            <a:off x="1283336" y="2149957"/>
            <a:ext cx="510418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用户 A</a:t>
            </a:r>
            <a:endParaRPr lang="zh-CN" sz="1400"/>
          </a:p>
        </p:txBody>
      </p:sp>
      <p:sp>
        <p:nvSpPr>
          <p:cNvPr id="134" name="TextBox 134"/>
          <p:cNvSpPr txBox="1"/>
          <p:nvPr/>
        </p:nvSpPr>
        <p:spPr>
          <a:xfrm>
            <a:off x="1852088" y="2179109"/>
            <a:ext cx="48125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5F6468"/>
                </a:solidFill>
                <a:latin typeface="Hannotate SC"/>
                <a:ea typeface="Hannotate SC"/>
                <a:cs typeface="Hannotate SC"/>
              </a:rPr>
              <a:t>10:15</a:t>
            </a:r>
            <a:endParaRPr lang="zh-CN" sz="1300"/>
          </a:p>
        </p:txBody>
      </p:sp>
      <p:sp>
        <p:nvSpPr>
          <p:cNvPr id="135" name="TextBox 135"/>
          <p:cNvSpPr txBox="1"/>
          <p:nvPr/>
        </p:nvSpPr>
        <p:spPr>
          <a:xfrm>
            <a:off x="1283336" y="2397749"/>
            <a:ext cx="2005213" cy="24050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请帮我实现用户登录接口。</a:t>
            </a:r>
            <a:endParaRPr lang="zh-CN" sz="1500"/>
          </a:p>
        </p:txBody>
      </p:sp>
      <p:sp>
        <p:nvSpPr>
          <p:cNvPr id="136" name="TextBox 136"/>
          <p:cNvSpPr txBox="1"/>
          <p:nvPr/>
        </p:nvSpPr>
        <p:spPr>
          <a:xfrm>
            <a:off x="1341670" y="2689269"/>
            <a:ext cx="5833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.....</a:t>
            </a:r>
            <a:endParaRPr lang="zh-CN" sz="1400"/>
          </a:p>
        </p:txBody>
      </p:sp>
      <p:sp>
        <p:nvSpPr>
          <p:cNvPr id="137" name="TextBox 137"/>
          <p:cNvSpPr txBox="1"/>
          <p:nvPr/>
        </p:nvSpPr>
        <p:spPr>
          <a:xfrm>
            <a:off x="1283336" y="3192140"/>
            <a:ext cx="510418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用户 A</a:t>
            </a:r>
            <a:endParaRPr lang="zh-CN" sz="1400"/>
          </a:p>
        </p:txBody>
      </p:sp>
      <p:sp>
        <p:nvSpPr>
          <p:cNvPr id="138" name="TextBox 138"/>
          <p:cNvSpPr txBox="1"/>
          <p:nvPr/>
        </p:nvSpPr>
        <p:spPr>
          <a:xfrm>
            <a:off x="1852088" y="3228580"/>
            <a:ext cx="48125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5F6468"/>
                </a:solidFill>
                <a:latin typeface="Hannotate SC"/>
                <a:ea typeface="Hannotate SC"/>
                <a:cs typeface="Hannotate SC"/>
              </a:rPr>
              <a:t>10:18</a:t>
            </a:r>
            <a:endParaRPr lang="zh-CN" sz="1300"/>
          </a:p>
        </p:txBody>
      </p:sp>
      <p:sp>
        <p:nvSpPr>
          <p:cNvPr id="139" name="TextBox 139"/>
          <p:cNvSpPr txBox="1"/>
          <p:nvPr/>
        </p:nvSpPr>
        <p:spPr>
          <a:xfrm>
            <a:off x="1283336" y="3461796"/>
            <a:ext cx="2187505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登录后需要返回用户信息，</a:t>
            </a:r>
            <a:endParaRPr lang="zh-CN" sz="1500"/>
          </a:p>
        </p:txBody>
      </p:sp>
      <p:sp>
        <p:nvSpPr>
          <p:cNvPr id="140" name="TextBox 140"/>
          <p:cNvSpPr txBox="1"/>
          <p:nvPr/>
        </p:nvSpPr>
        <p:spPr>
          <a:xfrm>
            <a:off x="1283336" y="3731452"/>
            <a:ext cx="109375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并生成 JWT。</a:t>
            </a:r>
            <a:endParaRPr lang="zh-CN" sz="1500"/>
          </a:p>
        </p:txBody>
      </p:sp>
      <p:sp>
        <p:nvSpPr>
          <p:cNvPr id="141" name="TextBox 141"/>
          <p:cNvSpPr txBox="1"/>
          <p:nvPr/>
        </p:nvSpPr>
        <p:spPr>
          <a:xfrm>
            <a:off x="1341670" y="3986531"/>
            <a:ext cx="5833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.....</a:t>
            </a:r>
            <a:endParaRPr lang="zh-CN" sz="1400"/>
          </a:p>
        </p:txBody>
      </p:sp>
      <p:sp>
        <p:nvSpPr>
          <p:cNvPr id="142" name="TextBox 142"/>
          <p:cNvSpPr txBox="1"/>
          <p:nvPr/>
        </p:nvSpPr>
        <p:spPr>
          <a:xfrm>
            <a:off x="1283336" y="4365507"/>
            <a:ext cx="510418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用户 A</a:t>
            </a:r>
            <a:endParaRPr lang="zh-CN" sz="1400"/>
          </a:p>
        </p:txBody>
      </p:sp>
      <p:sp>
        <p:nvSpPr>
          <p:cNvPr id="143" name="TextBox 143"/>
          <p:cNvSpPr txBox="1"/>
          <p:nvPr/>
        </p:nvSpPr>
        <p:spPr>
          <a:xfrm>
            <a:off x="1852088" y="4401947"/>
            <a:ext cx="48125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5F6468"/>
                </a:solidFill>
                <a:latin typeface="Hannotate SC"/>
                <a:ea typeface="Hannotate SC"/>
                <a:cs typeface="Hannotate SC"/>
              </a:rPr>
              <a:t>10:25</a:t>
            </a:r>
            <a:endParaRPr lang="zh-CN" sz="1300"/>
          </a:p>
        </p:txBody>
      </p:sp>
      <p:sp>
        <p:nvSpPr>
          <p:cNvPr id="144" name="TextBox 144"/>
          <p:cNvSpPr txBox="1"/>
          <p:nvPr/>
        </p:nvSpPr>
        <p:spPr>
          <a:xfrm>
            <a:off x="1283336" y="4635163"/>
            <a:ext cx="200521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再帮我写一个登录接口的</a:t>
            </a:r>
            <a:endParaRPr lang="zh-CN" sz="1500"/>
          </a:p>
        </p:txBody>
      </p:sp>
      <p:sp>
        <p:nvSpPr>
          <p:cNvPr id="145" name="TextBox 145"/>
          <p:cNvSpPr txBox="1"/>
          <p:nvPr/>
        </p:nvSpPr>
        <p:spPr>
          <a:xfrm>
            <a:off x="1283336" y="4904818"/>
            <a:ext cx="102083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单元测试。</a:t>
            </a:r>
            <a:endParaRPr lang="zh-CN" sz="1500"/>
          </a:p>
        </p:txBody>
      </p:sp>
      <p:sp>
        <p:nvSpPr>
          <p:cNvPr id="146" name="TextBox 146"/>
          <p:cNvSpPr txBox="1"/>
          <p:nvPr/>
        </p:nvSpPr>
        <p:spPr>
          <a:xfrm>
            <a:off x="1341670" y="5130746"/>
            <a:ext cx="5833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.....</a:t>
            </a:r>
            <a:endParaRPr lang="zh-CN" sz="1400"/>
          </a:p>
        </p:txBody>
      </p:sp>
      <p:sp>
        <p:nvSpPr>
          <p:cNvPr id="147" name="TextBox 147"/>
          <p:cNvSpPr txBox="1"/>
          <p:nvPr/>
        </p:nvSpPr>
        <p:spPr>
          <a:xfrm>
            <a:off x="5505221" y="1574206"/>
            <a:ext cx="1166669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D743B"/>
                </a:solidFill>
                <a:latin typeface="Hannotate SC"/>
                <a:ea typeface="Hannotate SC"/>
                <a:cs typeface="Hannotate SC"/>
              </a:rPr>
              <a:t>Bridge 队列</a:t>
            </a:r>
            <a:endParaRPr lang="zh-CN" sz="1800"/>
          </a:p>
        </p:txBody>
      </p:sp>
      <p:sp>
        <p:nvSpPr>
          <p:cNvPr id="148" name="TextBox 148"/>
          <p:cNvSpPr txBox="1"/>
          <p:nvPr/>
        </p:nvSpPr>
        <p:spPr>
          <a:xfrm>
            <a:off x="4892720" y="2405037"/>
            <a:ext cx="422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10:15</a:t>
            </a:r>
            <a:endParaRPr lang="zh-CN" sz="1300"/>
          </a:p>
        </p:txBody>
      </p:sp>
      <p:sp>
        <p:nvSpPr>
          <p:cNvPr id="149" name="TextBox 149"/>
          <p:cNvSpPr txBox="1"/>
          <p:nvPr/>
        </p:nvSpPr>
        <p:spPr>
          <a:xfrm>
            <a:off x="5410429" y="2405037"/>
            <a:ext cx="173542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请帮我实现用户登录接口。</a:t>
            </a:r>
            <a:endParaRPr lang="zh-CN" sz="1500"/>
          </a:p>
        </p:txBody>
      </p:sp>
      <p:sp>
        <p:nvSpPr>
          <p:cNvPr id="150" name="TextBox 150"/>
          <p:cNvSpPr txBox="1"/>
          <p:nvPr/>
        </p:nvSpPr>
        <p:spPr>
          <a:xfrm>
            <a:off x="5410429" y="2660117"/>
            <a:ext cx="1093753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状态：待处理</a:t>
            </a:r>
            <a:endParaRPr lang="zh-CN" sz="1380"/>
          </a:p>
        </p:txBody>
      </p:sp>
      <p:sp>
        <p:nvSpPr>
          <p:cNvPr id="151" name="TextBox 151"/>
          <p:cNvSpPr txBox="1"/>
          <p:nvPr/>
        </p:nvSpPr>
        <p:spPr>
          <a:xfrm>
            <a:off x="4892720" y="3214004"/>
            <a:ext cx="422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10:18</a:t>
            </a:r>
            <a:endParaRPr lang="zh-CN" sz="1300"/>
          </a:p>
        </p:txBody>
      </p:sp>
      <p:sp>
        <p:nvSpPr>
          <p:cNvPr id="152" name="TextBox 152"/>
          <p:cNvSpPr txBox="1"/>
          <p:nvPr/>
        </p:nvSpPr>
        <p:spPr>
          <a:xfrm>
            <a:off x="5410429" y="3214004"/>
            <a:ext cx="172083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登录后需要返回用户信息，</a:t>
            </a:r>
            <a:endParaRPr lang="zh-CN" sz="1500"/>
          </a:p>
        </p:txBody>
      </p:sp>
      <p:sp>
        <p:nvSpPr>
          <p:cNvPr id="153" name="TextBox 153"/>
          <p:cNvSpPr txBox="1"/>
          <p:nvPr/>
        </p:nvSpPr>
        <p:spPr>
          <a:xfrm>
            <a:off x="5410429" y="3447220"/>
            <a:ext cx="105729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并生成 JWT。</a:t>
            </a:r>
            <a:endParaRPr lang="zh-CN" sz="1500"/>
          </a:p>
        </p:txBody>
      </p:sp>
      <p:sp>
        <p:nvSpPr>
          <p:cNvPr id="154" name="TextBox 154"/>
          <p:cNvSpPr txBox="1"/>
          <p:nvPr/>
        </p:nvSpPr>
        <p:spPr>
          <a:xfrm>
            <a:off x="5410429" y="3687724"/>
            <a:ext cx="1093753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状态：待处理</a:t>
            </a:r>
            <a:endParaRPr lang="zh-CN" sz="1380"/>
          </a:p>
        </p:txBody>
      </p:sp>
      <p:sp>
        <p:nvSpPr>
          <p:cNvPr id="155" name="TextBox 155"/>
          <p:cNvSpPr txBox="1"/>
          <p:nvPr/>
        </p:nvSpPr>
        <p:spPr>
          <a:xfrm>
            <a:off x="4892720" y="4227035"/>
            <a:ext cx="422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10:25</a:t>
            </a:r>
            <a:endParaRPr lang="zh-CN" sz="1300"/>
          </a:p>
        </p:txBody>
      </p:sp>
      <p:sp>
        <p:nvSpPr>
          <p:cNvPr id="156" name="TextBox 156"/>
          <p:cNvSpPr txBox="1"/>
          <p:nvPr/>
        </p:nvSpPr>
        <p:spPr>
          <a:xfrm>
            <a:off x="5410429" y="4219747"/>
            <a:ext cx="173542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再帮我写一个登录接口的</a:t>
            </a:r>
            <a:endParaRPr lang="zh-CN" sz="1500"/>
          </a:p>
        </p:txBody>
      </p:sp>
      <p:sp>
        <p:nvSpPr>
          <p:cNvPr id="157" name="TextBox 157"/>
          <p:cNvSpPr txBox="1"/>
          <p:nvPr/>
        </p:nvSpPr>
        <p:spPr>
          <a:xfrm>
            <a:off x="5410429" y="4460251"/>
            <a:ext cx="91146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单元测试。</a:t>
            </a:r>
            <a:endParaRPr lang="zh-CN" sz="1400"/>
          </a:p>
        </p:txBody>
      </p:sp>
      <p:sp>
        <p:nvSpPr>
          <p:cNvPr id="158" name="TextBox 158"/>
          <p:cNvSpPr txBox="1"/>
          <p:nvPr/>
        </p:nvSpPr>
        <p:spPr>
          <a:xfrm>
            <a:off x="5410429" y="4700755"/>
            <a:ext cx="1093753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状态：待处理</a:t>
            </a:r>
            <a:endParaRPr lang="zh-CN" sz="1380"/>
          </a:p>
        </p:txBody>
      </p:sp>
      <p:sp>
        <p:nvSpPr>
          <p:cNvPr id="159" name="TextBox 159"/>
          <p:cNvSpPr txBox="1"/>
          <p:nvPr/>
        </p:nvSpPr>
        <p:spPr>
          <a:xfrm>
            <a:off x="8443770" y="1639798"/>
            <a:ext cx="20416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 b="1">
                <a:solidFill>
                  <a:srgbClr val="F36A18"/>
                </a:solidFill>
                <a:latin typeface="Hannotate SC"/>
                <a:ea typeface="Hannotate SC"/>
                <a:cs typeface="Hannotate SC"/>
              </a:rPr>
              <a:t>C</a:t>
            </a:r>
            <a:endParaRPr lang="zh-CN" sz="2100"/>
          </a:p>
        </p:txBody>
      </p:sp>
      <p:sp>
        <p:nvSpPr>
          <p:cNvPr id="160" name="TextBox 160"/>
          <p:cNvSpPr txBox="1"/>
          <p:nvPr/>
        </p:nvSpPr>
        <p:spPr>
          <a:xfrm>
            <a:off x="8808354" y="1588782"/>
            <a:ext cx="2260422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F36A18"/>
                </a:solidFill>
                <a:latin typeface="Hannotate SC"/>
                <a:ea typeface="Hannotate SC"/>
                <a:cs typeface="Hannotate SC"/>
              </a:rPr>
              <a:t>Codex Thread (同一个线程)</a:t>
            </a:r>
            <a:endParaRPr lang="zh-CN" sz="1800"/>
          </a:p>
        </p:txBody>
      </p:sp>
      <p:sp>
        <p:nvSpPr>
          <p:cNvPr id="161" name="TextBox 161"/>
          <p:cNvSpPr txBox="1"/>
          <p:nvPr/>
        </p:nvSpPr>
        <p:spPr>
          <a:xfrm>
            <a:off x="8290644" y="2346733"/>
            <a:ext cx="182292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Thread: api-项目</a:t>
            </a:r>
            <a:endParaRPr lang="zh-CN" sz="1600"/>
          </a:p>
        </p:txBody>
      </p:sp>
      <p:sp>
        <p:nvSpPr>
          <p:cNvPr id="162" name="TextBox 162"/>
          <p:cNvSpPr txBox="1"/>
          <p:nvPr/>
        </p:nvSpPr>
        <p:spPr>
          <a:xfrm>
            <a:off x="8626062" y="2835029"/>
            <a:ext cx="444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10:15</a:t>
            </a:r>
            <a:endParaRPr lang="zh-CN" sz="1300"/>
          </a:p>
        </p:txBody>
      </p:sp>
      <p:sp>
        <p:nvSpPr>
          <p:cNvPr id="163" name="TextBox 163"/>
          <p:cNvSpPr txBox="1"/>
          <p:nvPr/>
        </p:nvSpPr>
        <p:spPr>
          <a:xfrm>
            <a:off x="9114605" y="2827741"/>
            <a:ext cx="204167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处理：实现用户登录接口</a:t>
            </a:r>
            <a:endParaRPr lang="zh-CN" sz="1350"/>
          </a:p>
        </p:txBody>
      </p:sp>
      <p:sp>
        <p:nvSpPr>
          <p:cNvPr id="164" name="TextBox 164"/>
          <p:cNvSpPr txBox="1"/>
          <p:nvPr/>
        </p:nvSpPr>
        <p:spPr>
          <a:xfrm>
            <a:off x="8626062" y="3082820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结果：</a:t>
            </a:r>
            <a:endParaRPr lang="zh-CN" sz="1400"/>
          </a:p>
        </p:txBody>
      </p:sp>
      <p:sp>
        <p:nvSpPr>
          <p:cNvPr id="165" name="TextBox 165"/>
          <p:cNvSpPr txBox="1"/>
          <p:nvPr/>
        </p:nvSpPr>
        <p:spPr>
          <a:xfrm>
            <a:off x="9450022" y="3082820"/>
            <a:ext cx="656252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已完成</a:t>
            </a:r>
            <a:endParaRPr lang="zh-CN" sz="1400"/>
          </a:p>
        </p:txBody>
      </p:sp>
      <p:sp>
        <p:nvSpPr>
          <p:cNvPr id="166" name="TextBox 166"/>
          <p:cNvSpPr txBox="1"/>
          <p:nvPr/>
        </p:nvSpPr>
        <p:spPr>
          <a:xfrm>
            <a:off x="8626062" y="3592980"/>
            <a:ext cx="444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10:18</a:t>
            </a:r>
            <a:endParaRPr lang="zh-CN" sz="1300"/>
          </a:p>
        </p:txBody>
      </p:sp>
      <p:sp>
        <p:nvSpPr>
          <p:cNvPr id="167" name="TextBox 167"/>
          <p:cNvSpPr txBox="1"/>
          <p:nvPr/>
        </p:nvSpPr>
        <p:spPr>
          <a:xfrm>
            <a:off x="9114605" y="3585692"/>
            <a:ext cx="240625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处理：返回用户信息并生成 JWT</a:t>
            </a:r>
            <a:endParaRPr lang="zh-CN" sz="1350"/>
          </a:p>
        </p:txBody>
      </p:sp>
      <p:sp>
        <p:nvSpPr>
          <p:cNvPr id="168" name="TextBox 168"/>
          <p:cNvSpPr txBox="1"/>
          <p:nvPr/>
        </p:nvSpPr>
        <p:spPr>
          <a:xfrm>
            <a:off x="8626062" y="3840772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结果：</a:t>
            </a:r>
            <a:endParaRPr lang="zh-CN" sz="1400"/>
          </a:p>
        </p:txBody>
      </p:sp>
      <p:sp>
        <p:nvSpPr>
          <p:cNvPr id="169" name="TextBox 169"/>
          <p:cNvSpPr txBox="1"/>
          <p:nvPr/>
        </p:nvSpPr>
        <p:spPr>
          <a:xfrm>
            <a:off x="9450022" y="3840772"/>
            <a:ext cx="656252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已完成</a:t>
            </a:r>
            <a:endParaRPr lang="zh-CN" sz="1400"/>
          </a:p>
        </p:txBody>
      </p:sp>
      <p:sp>
        <p:nvSpPr>
          <p:cNvPr id="170" name="TextBox 170"/>
          <p:cNvSpPr txBox="1"/>
          <p:nvPr/>
        </p:nvSpPr>
        <p:spPr>
          <a:xfrm>
            <a:off x="8626062" y="4343643"/>
            <a:ext cx="444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10:25</a:t>
            </a:r>
            <a:endParaRPr lang="zh-CN" sz="1300"/>
          </a:p>
        </p:txBody>
      </p:sp>
      <p:sp>
        <p:nvSpPr>
          <p:cNvPr id="171" name="TextBox 171"/>
          <p:cNvSpPr txBox="1"/>
          <p:nvPr/>
        </p:nvSpPr>
        <p:spPr>
          <a:xfrm>
            <a:off x="9114605" y="4336355"/>
            <a:ext cx="218750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处理：编写登录接口单元测试</a:t>
            </a:r>
            <a:endParaRPr lang="zh-CN" sz="1350"/>
          </a:p>
        </p:txBody>
      </p:sp>
      <p:sp>
        <p:nvSpPr>
          <p:cNvPr id="172" name="TextBox 172"/>
          <p:cNvSpPr txBox="1"/>
          <p:nvPr/>
        </p:nvSpPr>
        <p:spPr>
          <a:xfrm>
            <a:off x="8626062" y="4591435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结果：</a:t>
            </a:r>
            <a:endParaRPr lang="zh-CN" sz="1400"/>
          </a:p>
        </p:txBody>
      </p:sp>
      <p:sp>
        <p:nvSpPr>
          <p:cNvPr id="173" name="TextBox 173"/>
          <p:cNvSpPr txBox="1"/>
          <p:nvPr/>
        </p:nvSpPr>
        <p:spPr>
          <a:xfrm>
            <a:off x="9450022" y="4591435"/>
            <a:ext cx="656252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已完成</a:t>
            </a:r>
            <a:endParaRPr lang="zh-CN" sz="1400"/>
          </a:p>
        </p:txBody>
      </p:sp>
      <p:sp>
        <p:nvSpPr>
          <p:cNvPr id="174" name="TextBox 174"/>
          <p:cNvSpPr txBox="1"/>
          <p:nvPr/>
        </p:nvSpPr>
        <p:spPr>
          <a:xfrm>
            <a:off x="8283353" y="4926682"/>
            <a:ext cx="2770840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上下文持续累积，线程保持不变</a:t>
            </a:r>
            <a:endParaRPr lang="zh-CN" sz="1500"/>
          </a:p>
        </p:txBody>
      </p:sp>
      <p:sp>
        <p:nvSpPr>
          <p:cNvPr id="175" name="TextBox 175"/>
          <p:cNvSpPr txBox="1"/>
          <p:nvPr/>
        </p:nvSpPr>
        <p:spPr>
          <a:xfrm>
            <a:off x="2916673" y="5487858"/>
            <a:ext cx="13125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普通消息 = 任务</a:t>
            </a:r>
            <a:endParaRPr lang="zh-CN" sz="1600"/>
          </a:p>
        </p:txBody>
      </p:sp>
      <p:sp>
        <p:nvSpPr>
          <p:cNvPr id="176" name="TextBox 176"/>
          <p:cNvSpPr txBox="1"/>
          <p:nvPr/>
        </p:nvSpPr>
        <p:spPr>
          <a:xfrm>
            <a:off x="4907303" y="5436842"/>
            <a:ext cx="291667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2D743B"/>
                </a:solidFill>
                <a:latin typeface="Arial Unicode MS"/>
                <a:ea typeface="Arial Unicode MS"/>
                <a:cs typeface="Arial Unicode MS"/>
              </a:rPr>
              <a:t>↻</a:t>
            </a:r>
            <a:endParaRPr lang="zh-CN" sz="2400"/>
          </a:p>
        </p:txBody>
      </p:sp>
      <p:sp>
        <p:nvSpPr>
          <p:cNvPr id="177" name="TextBox 177"/>
          <p:cNvSpPr txBox="1"/>
          <p:nvPr/>
        </p:nvSpPr>
        <p:spPr>
          <a:xfrm>
            <a:off x="5242721" y="5495146"/>
            <a:ext cx="1239586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2D743B"/>
                </a:solidFill>
                <a:latin typeface="Hannotate SC"/>
                <a:ea typeface="Hannotate SC"/>
                <a:cs typeface="Hannotate SC"/>
              </a:rPr>
              <a:t>同频道复用线程</a:t>
            </a:r>
            <a:endParaRPr lang="zh-CN" sz="1600"/>
          </a:p>
        </p:txBody>
      </p:sp>
      <p:sp>
        <p:nvSpPr>
          <p:cNvPr id="178" name="TextBox 178"/>
          <p:cNvSpPr txBox="1"/>
          <p:nvPr/>
        </p:nvSpPr>
        <p:spPr>
          <a:xfrm>
            <a:off x="7065642" y="5458706"/>
            <a:ext cx="21875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F36A18"/>
                </a:solidFill>
                <a:latin typeface="Arial Unicode MS"/>
                <a:ea typeface="Arial Unicode MS"/>
                <a:cs typeface="Arial Unicode MS"/>
              </a:rPr>
              <a:t>&gt;_</a:t>
            </a:r>
            <a:endParaRPr lang="zh-CN" sz="1400"/>
          </a:p>
        </p:txBody>
      </p:sp>
      <p:sp>
        <p:nvSpPr>
          <p:cNvPr id="179" name="TextBox 179"/>
          <p:cNvSpPr txBox="1"/>
          <p:nvPr/>
        </p:nvSpPr>
        <p:spPr>
          <a:xfrm>
            <a:off x="7393767" y="5495146"/>
            <a:ext cx="215104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F36A18"/>
                </a:solidFill>
                <a:latin typeface="Hannotate SC"/>
                <a:ea typeface="Hannotate SC"/>
                <a:cs typeface="Hannotate SC"/>
              </a:rPr>
              <a:t>!codex / !claude  单次覆盖</a:t>
            </a:r>
            <a:endParaRPr lang="zh-CN" sz="1600"/>
          </a:p>
        </p:txBody>
      </p:sp>
      <p:sp>
        <p:nvSpPr>
          <p:cNvPr id="180" name="TextBox 180"/>
          <p:cNvSpPr txBox="1"/>
          <p:nvPr/>
        </p:nvSpPr>
        <p:spPr>
          <a:xfrm>
            <a:off x="2727090" y="6165641"/>
            <a:ext cx="5614596" cy="3789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频道像一个</a:t>
            </a:r>
            <a:r>
              <a:rPr lang="zh-CN" sz="24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长期工作会话</a:t>
            </a:r>
            <a:r>
              <a:rPr lang="zh-CN" sz="2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， Codex 能接住</a:t>
            </a:r>
            <a:r>
              <a:rPr lang="zh-CN" sz="2400">
                <a:solidFill>
                  <a:srgbClr val="1F72DD"/>
                </a:solidFill>
                <a:latin typeface="Hannotate SC"/>
                <a:ea typeface="Hannotate SC"/>
                <a:cs typeface="Hannotate SC"/>
              </a:rPr>
              <a:t>上下文</a:t>
            </a:r>
            <a:r>
              <a:rPr lang="zh-CN" sz="2400">
                <a:solidFill>
                  <a:srgbClr val="111827"/>
                </a:solidFill>
                <a:latin typeface="Hannotate SC"/>
                <a:ea typeface="Hannotate SC"/>
                <a:cs typeface="Hannotate SC"/>
              </a:rPr>
              <a:t>。</a:t>
            </a:r>
            <a:endParaRPr lang="zh-CN" sz="2400"/>
          </a:p>
        </p:txBody>
      </p:sp>
      <p:sp>
        <p:nvSpPr>
          <p:cNvPr id="181" name="TextBox 181"/>
          <p:cNvSpPr txBox="1"/>
          <p:nvPr/>
        </p:nvSpPr>
        <p:spPr>
          <a:xfrm>
            <a:off x="4652094" y="2397749"/>
            <a:ext cx="31354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1</a:t>
            </a:r>
            <a:endParaRPr lang="zh-CN" sz="1300"/>
          </a:p>
        </p:txBody>
      </p:sp>
      <p:sp>
        <p:nvSpPr>
          <p:cNvPr id="182" name="TextBox 182"/>
          <p:cNvSpPr txBox="1"/>
          <p:nvPr/>
        </p:nvSpPr>
        <p:spPr>
          <a:xfrm>
            <a:off x="4652094" y="3214004"/>
            <a:ext cx="131250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2</a:t>
            </a:r>
            <a:endParaRPr lang="zh-CN" sz="1300"/>
          </a:p>
        </p:txBody>
      </p:sp>
      <p:sp>
        <p:nvSpPr>
          <p:cNvPr id="183" name="TextBox 183"/>
          <p:cNvSpPr txBox="1"/>
          <p:nvPr/>
        </p:nvSpPr>
        <p:spPr>
          <a:xfrm>
            <a:off x="4652094" y="4197883"/>
            <a:ext cx="131250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3</a:t>
            </a:r>
            <a:endParaRPr lang="zh-CN" sz="1300"/>
          </a:p>
        </p:txBody>
      </p:sp>
      <p:sp>
        <p:nvSpPr>
          <p:cNvPr id="184" name="TextBox 184"/>
          <p:cNvSpPr txBox="1"/>
          <p:nvPr/>
        </p:nvSpPr>
        <p:spPr>
          <a:xfrm>
            <a:off x="8341686" y="2827741"/>
            <a:ext cx="1239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1</a:t>
            </a:r>
            <a:endParaRPr lang="zh-CN" sz="1300"/>
          </a:p>
        </p:txBody>
      </p:sp>
      <p:sp>
        <p:nvSpPr>
          <p:cNvPr id="185" name="TextBox 185"/>
          <p:cNvSpPr txBox="1"/>
          <p:nvPr/>
        </p:nvSpPr>
        <p:spPr>
          <a:xfrm>
            <a:off x="8341686" y="3585692"/>
            <a:ext cx="1239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2</a:t>
            </a:r>
            <a:endParaRPr lang="zh-CN" sz="1300"/>
          </a:p>
        </p:txBody>
      </p:sp>
      <p:sp>
        <p:nvSpPr>
          <p:cNvPr id="186" name="TextBox 186"/>
          <p:cNvSpPr txBox="1"/>
          <p:nvPr/>
        </p:nvSpPr>
        <p:spPr>
          <a:xfrm>
            <a:off x="8341686" y="4336355"/>
            <a:ext cx="12395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FFFFF"/>
                </a:solidFill>
                <a:latin typeface="Hannotate SC"/>
                <a:ea typeface="Hannotate SC"/>
                <a:cs typeface="Hannotate SC"/>
              </a:rPr>
              <a:t>3</a:t>
            </a:r>
            <a:endParaRPr lang="zh-CN" sz="1300"/>
          </a:p>
        </p:txBody>
      </p:sp>
      <p:sp>
        <p:nvSpPr>
          <p:cNvPr id="187" name="TextBox 187"/>
          <p:cNvSpPr txBox="1"/>
          <p:nvPr/>
        </p:nvSpPr>
        <p:spPr>
          <a:xfrm>
            <a:off x="9202105" y="3017228"/>
            <a:ext cx="17500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E9B44"/>
                </a:solidFill>
                <a:latin typeface="Arial Unicode MS"/>
                <a:ea typeface="Arial Unicode MS"/>
                <a:cs typeface="Arial Unicode MS"/>
              </a:rPr>
              <a:t>✓</a:t>
            </a:r>
            <a:endParaRPr lang="zh-CN" sz="1800"/>
          </a:p>
        </p:txBody>
      </p:sp>
      <p:sp>
        <p:nvSpPr>
          <p:cNvPr id="188" name="TextBox 188"/>
          <p:cNvSpPr txBox="1"/>
          <p:nvPr/>
        </p:nvSpPr>
        <p:spPr>
          <a:xfrm>
            <a:off x="9202105" y="3775180"/>
            <a:ext cx="17500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E9B44"/>
                </a:solidFill>
                <a:latin typeface="Arial Unicode MS"/>
                <a:ea typeface="Arial Unicode MS"/>
                <a:cs typeface="Arial Unicode MS"/>
              </a:rPr>
              <a:t>✓</a:t>
            </a:r>
            <a:endParaRPr lang="zh-CN" sz="1800"/>
          </a:p>
        </p:txBody>
      </p:sp>
      <p:sp>
        <p:nvSpPr>
          <p:cNvPr id="189" name="TextBox 189"/>
          <p:cNvSpPr txBox="1"/>
          <p:nvPr/>
        </p:nvSpPr>
        <p:spPr>
          <a:xfrm>
            <a:off x="9202105" y="4525843"/>
            <a:ext cx="175000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E9B44"/>
                </a:solidFill>
                <a:latin typeface="Arial Unicode MS"/>
                <a:ea typeface="Arial Unicode MS"/>
                <a:cs typeface="Arial Unicode MS"/>
              </a:rPr>
              <a:t>✓</a:t>
            </a:r>
            <a:endParaRPr lang="zh-CN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729168" y="1574206"/>
            <a:ext cx="2595839" cy="3155700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1589587" y="5772089"/>
            <a:ext cx="8895854" cy="743375"/>
          </a:xfrm>
          <a:prstGeom prst="roundRect">
            <a:avLst>
              <a:gd name="adj" fmla="val 11765"/>
            </a:avLst>
          </a:prstGeom>
          <a:noFill/>
          <a:ln w="38100">
            <a:solidFill>
              <a:srgbClr val="6BA7EF"/>
            </a:solidFill>
            <a:prstDash val="dash"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057311" y="2288429"/>
            <a:ext cx="3383341" cy="2507069"/>
          </a:xfrm>
          <a:prstGeom prst="roundRect">
            <a:avLst>
              <a:gd name="adj" fmla="val 13953"/>
            </a:avLst>
          </a:prstGeom>
          <a:solidFill>
            <a:srgbClr val="FFFAF5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933336" y="2295717"/>
            <a:ext cx="2136463" cy="648631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25400">
            <a:solidFill>
              <a:srgbClr val="A1A8B8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933336" y="3002652"/>
            <a:ext cx="2136463" cy="648631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25400">
            <a:solidFill>
              <a:srgbClr val="A1A8B8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933336" y="3716876"/>
            <a:ext cx="2136463" cy="648631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25400">
            <a:solidFill>
              <a:srgbClr val="A1A8B8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119801" y="4467539"/>
            <a:ext cx="3142716" cy="371688"/>
          </a:xfrm>
          <a:prstGeom prst="roundRect">
            <a:avLst>
              <a:gd name="adj" fmla="val 25490"/>
            </a:avLst>
          </a:prstGeom>
          <a:solidFill>
            <a:srgbClr val="F6FBF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391672" y="5087018"/>
            <a:ext cx="2092713" cy="437279"/>
          </a:xfrm>
          <a:prstGeom prst="roundRect">
            <a:avLst>
              <a:gd name="adj" fmla="val 26667"/>
            </a:avLst>
          </a:prstGeom>
          <a:solidFill>
            <a:srgbClr val="F4F9FF"/>
          </a:solidFill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834386" y="5087018"/>
            <a:ext cx="2136463" cy="437279"/>
          </a:xfrm>
          <a:prstGeom prst="roundRect">
            <a:avLst>
              <a:gd name="adj" fmla="val 26667"/>
            </a:avLst>
          </a:prstGeom>
          <a:solidFill>
            <a:srgbClr val="F8FBF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291684" y="5087018"/>
            <a:ext cx="2398964" cy="437279"/>
          </a:xfrm>
          <a:prstGeom prst="roundRect">
            <a:avLst>
              <a:gd name="adj" fmla="val 26667"/>
            </a:avLst>
          </a:prstGeom>
          <a:solidFill>
            <a:srgbClr val="FFFAF5"/>
          </a:solidFill>
          <a:ln w="254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239603" y="3228580"/>
            <a:ext cx="3026049" cy="823543"/>
          </a:xfrm>
          <a:prstGeom prst="roundRect">
            <a:avLst>
              <a:gd name="adj" fmla="val 7080"/>
            </a:avLst>
          </a:prstGeom>
          <a:solidFill>
            <a:srgbClr val="FFFEFD"/>
          </a:solidFill>
          <a:ln w="25400">
            <a:solidFill>
              <a:srgbClr val="A58B76"/>
            </a:solidFill>
            <a:prstDash val="dash"/>
          </a:ln>
        </p:spPr>
        <p:txBody>
          <a:bodyPr/>
          <a:lstStyle/>
          <a:p/>
        </p:txBody>
      </p:sp>
      <p:sp>
        <p:nvSpPr>
          <p:cNvPr id="13" name="Freeform 13"/>
          <p:cNvSpPr/>
          <p:nvPr/>
        </p:nvSpPr>
        <p:spPr>
          <a:xfrm>
            <a:off x="4302093" y="2317581"/>
            <a:ext cx="2858340" cy="488295"/>
          </a:xfrm>
          <a:prstGeom prst="rect">
            <a:avLst/>
          </a:prstGeom>
          <a:solidFill>
            <a:srgbClr val="EEF7EE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302093" y="2594525"/>
            <a:ext cx="2836465" cy="1756406"/>
          </a:xfrm>
          <a:prstGeom prst="roundRect">
            <a:avLst>
              <a:gd name="adj" fmla="val 9959"/>
            </a:avLst>
          </a:prstGeom>
          <a:solidFill>
            <a:srgbClr val="FFFFFF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4316677" y="2594525"/>
            <a:ext cx="2814590" cy="0"/>
          </a:xfrm>
          <a:prstGeom prst="line">
            <a:avLst/>
          </a:prstGeom>
          <a:noFill/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16" name="Freeform 16"/>
          <p:cNvSpPr/>
          <p:nvPr/>
        </p:nvSpPr>
        <p:spPr>
          <a:xfrm>
            <a:off x="3252091" y="422704"/>
            <a:ext cx="328126" cy="371688"/>
          </a:xfrm>
          <a:prstGeom prst="rect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3361466" y="859983"/>
            <a:ext cx="116667" cy="21864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3354175" y="998455"/>
            <a:ext cx="116667" cy="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V="1">
            <a:off x="9202105" y="378976"/>
            <a:ext cx="138542" cy="167624"/>
          </a:xfrm>
          <a:prstGeom prst="line">
            <a:avLst/>
          </a:prstGeom>
          <a:noFill/>
          <a:ln w="635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V="1">
            <a:off x="9340647" y="524735"/>
            <a:ext cx="189584" cy="102032"/>
          </a:xfrm>
          <a:prstGeom prst="line">
            <a:avLst/>
          </a:prstGeom>
          <a:noFill/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9391689" y="736087"/>
            <a:ext cx="189584" cy="72880"/>
          </a:xfrm>
          <a:prstGeom prst="line">
            <a:avLst/>
          </a:prstGeom>
          <a:noFill/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2" name="Freeform 22"/>
          <p:cNvSpPr/>
          <p:nvPr/>
        </p:nvSpPr>
        <p:spPr>
          <a:xfrm>
            <a:off x="3623967" y="1282687"/>
            <a:ext cx="5614596" cy="94744"/>
          </a:xfrm>
          <a:prstGeom prst="rect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23" name="Freeform 23"/>
          <p:cNvSpPr/>
          <p:nvPr/>
        </p:nvSpPr>
        <p:spPr>
          <a:xfrm>
            <a:off x="4025009" y="1297262"/>
            <a:ext cx="5155220" cy="123896"/>
          </a:xfrm>
          <a:prstGeom prst="rect">
            <a:avLst/>
          </a:prstGeom>
          <a:noFill/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8327103" y="4256187"/>
            <a:ext cx="2522923" cy="0"/>
          </a:xfrm>
          <a:prstGeom prst="line">
            <a:avLst/>
          </a:prstGeom>
          <a:noFill/>
          <a:ln w="63500">
            <a:solidFill>
              <a:srgbClr val="D7D2CC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8312519" y="4409235"/>
            <a:ext cx="2858340" cy="0"/>
          </a:xfrm>
          <a:prstGeom prst="line">
            <a:avLst/>
          </a:prstGeom>
          <a:noFill/>
          <a:ln w="63500">
            <a:solidFill>
              <a:srgbClr val="D7D2CC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507300" y="3184852"/>
            <a:ext cx="619793" cy="0"/>
          </a:xfrm>
          <a:prstGeom prst="lineWithArrow">
            <a:avLst/>
          </a:prstGeom>
          <a:noFill/>
          <a:ln w="889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7277100" y="3184852"/>
            <a:ext cx="597918" cy="0"/>
          </a:xfrm>
          <a:prstGeom prst="lineWithArrow">
            <a:avLst/>
          </a:prstGeom>
          <a:noFill/>
          <a:ln w="889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8" name="Freeform 28"/>
          <p:cNvSpPr/>
          <p:nvPr/>
        </p:nvSpPr>
        <p:spPr>
          <a:xfrm>
            <a:off x="4528136" y="1712678"/>
            <a:ext cx="525001" cy="145760"/>
          </a:xfrm>
          <a:prstGeom prst="rect">
            <a:avLst/>
          </a:prstGeom>
          <a:solidFill>
            <a:srgbClr val="EEF7EE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29" name="Freeform 29"/>
          <p:cNvSpPr/>
          <p:nvPr/>
        </p:nvSpPr>
        <p:spPr>
          <a:xfrm>
            <a:off x="8407311" y="1596070"/>
            <a:ext cx="554168" cy="276944"/>
          </a:xfrm>
          <a:prstGeom prst="rect">
            <a:avLst/>
          </a:prstGeom>
          <a:solidFill>
            <a:srgbClr val="FFFFFF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1976046" y="5961577"/>
            <a:ext cx="291667" cy="342536"/>
          </a:xfrm>
          <a:prstGeom prst="ellipse">
            <a:avLst/>
          </a:prstGeom>
          <a:solidFill>
            <a:srgbClr val="FFFEF3"/>
          </a:solidFill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2121880" y="5888697"/>
            <a:ext cx="0" cy="51016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873963" y="6034457"/>
            <a:ext cx="72917" cy="3644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V="1">
            <a:off x="2296880" y="6012593"/>
            <a:ext cx="80209" cy="43728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968755" y="5925137"/>
            <a:ext cx="43750" cy="80168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H="1">
            <a:off x="2202088" y="5947001"/>
            <a:ext cx="43750" cy="7288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4513552" y="1821998"/>
            <a:ext cx="561460" cy="29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37" name="Freeform 37"/>
          <p:cNvSpPr/>
          <p:nvPr/>
        </p:nvSpPr>
        <p:spPr>
          <a:xfrm>
            <a:off x="8407311" y="1734542"/>
            <a:ext cx="277084" cy="415416"/>
          </a:xfrm>
          <a:prstGeom prst="rect">
            <a:avLst/>
          </a:prstGeom>
          <a:solidFill>
            <a:srgbClr val="FFF8F0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2048963" y="6282249"/>
            <a:ext cx="160417" cy="109320"/>
          </a:xfrm>
          <a:prstGeom prst="roundRect">
            <a:avLst>
              <a:gd name="adj" fmla="val 20000"/>
            </a:avLst>
          </a:prstGeom>
          <a:solidFill>
            <a:srgbClr val="FFFEF3"/>
          </a:solidFill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2048963" y="6413433"/>
            <a:ext cx="160417" cy="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2078130" y="6464448"/>
            <a:ext cx="102084" cy="0"/>
          </a:xfrm>
          <a:prstGeom prst="line">
            <a:avLst/>
          </a:prstGeom>
          <a:noFill/>
          <a:ln w="381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41" name="Freeform 41"/>
          <p:cNvSpPr/>
          <p:nvPr/>
        </p:nvSpPr>
        <p:spPr>
          <a:xfrm>
            <a:off x="8684395" y="1734542"/>
            <a:ext cx="277084" cy="415416"/>
          </a:xfrm>
          <a:prstGeom prst="rect">
            <a:avLst/>
          </a:prstGeom>
          <a:solidFill>
            <a:srgbClr val="FFFFFF"/>
          </a:solidFill>
          <a:ln w="38100">
            <a:solidFill>
              <a:srgbClr val="EE6A00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8779187" y="1902166"/>
            <a:ext cx="160417" cy="174912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918752" y="1712678"/>
            <a:ext cx="510418" cy="510159"/>
          </a:xfrm>
          <a:prstGeom prst="ellipse">
            <a:avLst/>
          </a:prstGeom>
          <a:solidFill>
            <a:srgbClr val="5667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1115628" y="2405037"/>
            <a:ext cx="495834" cy="386555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1144794" y="3082820"/>
            <a:ext cx="422918" cy="488295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81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1144794" y="3789756"/>
            <a:ext cx="422918" cy="481007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81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4571886" y="2747573"/>
            <a:ext cx="371876" cy="289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4593761" y="3206716"/>
            <a:ext cx="350001" cy="4154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381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4593761" y="3687724"/>
            <a:ext cx="357293" cy="408128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381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50" name="Freeform 50"/>
          <p:cNvSpPr/>
          <p:nvPr/>
        </p:nvSpPr>
        <p:spPr>
          <a:xfrm>
            <a:off x="2647760" y="5316590"/>
            <a:ext cx="298463" cy="206949"/>
          </a:xfrm>
          <a:prstGeom prst="rect">
            <a:avLst/>
          </a:prstGeom>
          <a:noFill/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51" name="Freeform 51"/>
          <p:cNvSpPr/>
          <p:nvPr/>
        </p:nvSpPr>
        <p:spPr>
          <a:xfrm>
            <a:off x="2647760" y="5316590"/>
            <a:ext cx="298463" cy="206949"/>
          </a:xfrm>
          <a:prstGeom prst="rect">
            <a:avLst/>
          </a:prstGeom>
          <a:noFill/>
          <a:ln w="508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5009387" y="5203626"/>
            <a:ext cx="284376" cy="221701"/>
          </a:xfrm>
          <a:prstGeom prst="roundRect">
            <a:avLst>
              <a:gd name="adj" fmla="val 13149"/>
            </a:avLst>
          </a:prstGeom>
          <a:solidFill>
            <a:srgbClr val="FFFFFF"/>
          </a:solidFill>
          <a:ln w="381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7466684" y="5189050"/>
            <a:ext cx="226042" cy="2696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381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54" name="Freeform 54"/>
          <p:cNvSpPr/>
          <p:nvPr/>
        </p:nvSpPr>
        <p:spPr>
          <a:xfrm>
            <a:off x="1028127" y="1880302"/>
            <a:ext cx="328126" cy="21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1442878" y="2469463"/>
            <a:ext cx="59500" cy="59470"/>
          </a:xfrm>
          <a:prstGeom prst="ellipse">
            <a:avLst/>
          </a:prstGeom>
          <a:solidFill>
            <a:srgbClr val="C7B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Freeform 56"/>
          <p:cNvSpPr/>
          <p:nvPr/>
        </p:nvSpPr>
        <p:spPr>
          <a:xfrm>
            <a:off x="1428149" y="3082820"/>
            <a:ext cx="139563" cy="146489"/>
          </a:xfrm>
          <a:prstGeom prst="rect">
            <a:avLst/>
          </a:prstGeom>
          <a:solidFill>
            <a:srgbClr val="FFF4EF"/>
          </a:solidFill>
          <a:ln w="254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57" name="Freeform 57"/>
          <p:cNvSpPr/>
          <p:nvPr/>
        </p:nvSpPr>
        <p:spPr>
          <a:xfrm>
            <a:off x="1428149" y="3789756"/>
            <a:ext cx="139563" cy="144302"/>
          </a:xfrm>
          <a:prstGeom prst="rect">
            <a:avLst/>
          </a:prstGeom>
          <a:solidFill>
            <a:srgbClr val="EEF4FF"/>
          </a:solidFill>
          <a:ln w="254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4817324" y="2795892"/>
            <a:ext cx="44625" cy="44603"/>
          </a:xfrm>
          <a:prstGeom prst="ellipse">
            <a:avLst/>
          </a:prstGeom>
          <a:solidFill>
            <a:srgbClr val="C7B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Freeform 59"/>
          <p:cNvSpPr/>
          <p:nvPr/>
        </p:nvSpPr>
        <p:spPr>
          <a:xfrm>
            <a:off x="4828261" y="3206716"/>
            <a:ext cx="115500" cy="124625"/>
          </a:xfrm>
          <a:prstGeom prst="rect">
            <a:avLst/>
          </a:prstGeom>
          <a:solidFill>
            <a:srgbClr val="FFF4EF"/>
          </a:solidFill>
          <a:ln w="254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60" name="Freeform 60"/>
          <p:cNvSpPr/>
          <p:nvPr/>
        </p:nvSpPr>
        <p:spPr>
          <a:xfrm>
            <a:off x="4833147" y="3687724"/>
            <a:ext cx="117907" cy="122438"/>
          </a:xfrm>
          <a:prstGeom prst="rect">
            <a:avLst/>
          </a:prstGeom>
          <a:solidFill>
            <a:srgbClr val="EEF4FF"/>
          </a:solidFill>
          <a:ln w="25400">
            <a:solidFill>
              <a:srgbClr val="42628C"/>
            </a:solidFill>
          </a:ln>
        </p:spPr>
        <p:txBody>
          <a:bodyPr/>
          <a:lstStyle/>
          <a:p/>
        </p:txBody>
      </p:sp>
      <p:sp>
        <p:nvSpPr>
          <p:cNvPr id="61" name="Freeform 61"/>
          <p:cNvSpPr/>
          <p:nvPr/>
        </p:nvSpPr>
        <p:spPr>
          <a:xfrm>
            <a:off x="2916673" y="5269218"/>
            <a:ext cx="80209" cy="87456"/>
          </a:xfrm>
          <a:prstGeom prst="rect">
            <a:avLst/>
          </a:prstGeom>
          <a:solidFill>
            <a:srgbClr val="286FD3"/>
          </a:solidFill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62" name="Freeform 62"/>
          <p:cNvSpPr/>
          <p:nvPr/>
        </p:nvSpPr>
        <p:spPr>
          <a:xfrm>
            <a:off x="2617714" y="5407690"/>
            <a:ext cx="72917" cy="87456"/>
          </a:xfrm>
          <a:prstGeom prst="rect">
            <a:avLst/>
          </a:prstGeom>
          <a:solidFill>
            <a:srgbClr val="286FD3"/>
          </a:solidFill>
          <a:ln w="25400">
            <a:solidFill>
              <a:srgbClr val="286FD3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5197075" y="5240576"/>
            <a:ext cx="34125" cy="34108"/>
          </a:xfrm>
          <a:prstGeom prst="ellipse">
            <a:avLst/>
          </a:prstGeom>
          <a:solidFill>
            <a:srgbClr val="C7B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Freeform 64"/>
          <p:cNvSpPr/>
          <p:nvPr/>
        </p:nvSpPr>
        <p:spPr>
          <a:xfrm>
            <a:off x="7618132" y="5189050"/>
            <a:ext cx="74594" cy="80897"/>
          </a:xfrm>
          <a:prstGeom prst="rect">
            <a:avLst/>
          </a:prstGeom>
          <a:solidFill>
            <a:srgbClr val="FFF4EF"/>
          </a:solidFill>
          <a:ln w="25400">
            <a:solidFill>
              <a:srgbClr val="CF250F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101044" y="1960470"/>
            <a:ext cx="51042" cy="58304"/>
          </a:xfrm>
          <a:prstGeom prst="ellipse">
            <a:avLst/>
          </a:prstGeom>
          <a:solidFill>
            <a:srgbClr val="5667E9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246878" y="1960470"/>
            <a:ext cx="51042" cy="58304"/>
          </a:xfrm>
          <a:prstGeom prst="ellipse">
            <a:avLst/>
          </a:prstGeom>
          <a:solidFill>
            <a:srgbClr val="5667E9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Freeform 67"/>
          <p:cNvSpPr/>
          <p:nvPr/>
        </p:nvSpPr>
        <p:spPr>
          <a:xfrm>
            <a:off x="1165211" y="2583447"/>
            <a:ext cx="396668" cy="158587"/>
          </a:xfrm>
          <a:prstGeom prst="rect">
            <a:avLst/>
          </a:prstGeom>
          <a:solidFill>
            <a:srgbClr val="7EA87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68" name="Freeform 68"/>
          <p:cNvSpPr/>
          <p:nvPr/>
        </p:nvSpPr>
        <p:spPr>
          <a:xfrm>
            <a:off x="4609073" y="2881380"/>
            <a:ext cx="297501" cy="118940"/>
          </a:xfrm>
          <a:prstGeom prst="rect">
            <a:avLst/>
          </a:prstGeom>
          <a:solidFill>
            <a:srgbClr val="7EA87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69" name="Freeform 69"/>
          <p:cNvSpPr/>
          <p:nvPr/>
        </p:nvSpPr>
        <p:spPr>
          <a:xfrm>
            <a:off x="5037824" y="5305949"/>
            <a:ext cx="227501" cy="90954"/>
          </a:xfrm>
          <a:prstGeom prst="rect">
            <a:avLst/>
          </a:prstGeom>
          <a:solidFill>
            <a:srgbClr val="7EA874"/>
          </a:solidFill>
          <a:ln w="25400">
            <a:solidFill>
              <a:srgbClr val="2F6B34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1254170" y="3950091"/>
            <a:ext cx="51042" cy="11660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1327086" y="3935515"/>
            <a:ext cx="36458" cy="160336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407295" y="3950091"/>
            <a:ext cx="51042" cy="8016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>
            <a:off x="1400003" y="4030259"/>
            <a:ext cx="58333" cy="72880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H="1">
            <a:off x="4703136" y="3848060"/>
            <a:ext cx="51042" cy="11660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H="1">
            <a:off x="4776053" y="3833484"/>
            <a:ext cx="36458" cy="160336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4856261" y="3848060"/>
            <a:ext cx="51042" cy="80168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>
            <a:off x="4848970" y="3928227"/>
            <a:ext cx="58333" cy="72880"/>
          </a:xfrm>
          <a:prstGeom prst="line">
            <a:avLst/>
          </a:prstGeom>
          <a:noFill/>
          <a:ln w="38100">
            <a:solidFill>
              <a:srgbClr val="245A9B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181253" y="3265020"/>
            <a:ext cx="364584" cy="1530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630219" y="3388916"/>
            <a:ext cx="291667" cy="1530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7503143" y="5371250"/>
            <a:ext cx="167709" cy="1530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81" name="TextBox 81"/>
          <p:cNvSpPr txBox="1"/>
          <p:nvPr/>
        </p:nvSpPr>
        <p:spPr>
          <a:xfrm>
            <a:off x="3850009" y="437279"/>
            <a:ext cx="5045845" cy="62676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100" b="1">
                <a:solidFill>
                  <a:srgbClr val="061D58"/>
                </a:solidFill>
                <a:latin typeface="STHeiti"/>
                <a:ea typeface="STHeiti"/>
                <a:cs typeface="STHeiti"/>
              </a:rPr>
              <a:t>文件输入与附件</a:t>
            </a:r>
            <a:endParaRPr lang="zh-CN" sz="4100"/>
          </a:p>
        </p:txBody>
      </p:sp>
      <p:sp>
        <p:nvSpPr>
          <p:cNvPr id="82" name="TextBox 82"/>
          <p:cNvSpPr txBox="1"/>
          <p:nvPr/>
        </p:nvSpPr>
        <p:spPr>
          <a:xfrm>
            <a:off x="1509379" y="1821998"/>
            <a:ext cx="1319795" cy="28423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286FD3"/>
                </a:solidFill>
                <a:latin typeface="STHeiti"/>
                <a:ea typeface="STHeiti"/>
                <a:cs typeface="STHeiti"/>
              </a:rPr>
              <a:t>Discord 附件</a:t>
            </a:r>
            <a:endParaRPr lang="zh-CN" sz="2000"/>
          </a:p>
        </p:txBody>
      </p:sp>
      <p:sp>
        <p:nvSpPr>
          <p:cNvPr id="83" name="TextBox 83"/>
          <p:cNvSpPr txBox="1"/>
          <p:nvPr/>
        </p:nvSpPr>
        <p:spPr>
          <a:xfrm>
            <a:off x="1801046" y="2448765"/>
            <a:ext cx="89687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截图.png</a:t>
            </a:r>
            <a:endParaRPr lang="zh-CN" sz="1700"/>
          </a:p>
        </p:txBody>
      </p:sp>
      <p:sp>
        <p:nvSpPr>
          <p:cNvPr id="84" name="TextBox 84"/>
          <p:cNvSpPr txBox="1"/>
          <p:nvPr/>
        </p:nvSpPr>
        <p:spPr>
          <a:xfrm>
            <a:off x="1815629" y="2703845"/>
            <a:ext cx="590626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657085"/>
                </a:solidFill>
                <a:latin typeface="STHeiti"/>
                <a:ea typeface="STHeiti"/>
                <a:cs typeface="STHeiti"/>
              </a:rPr>
              <a:t>1.2 MB</a:t>
            </a:r>
            <a:endParaRPr lang="zh-CN" sz="1300"/>
          </a:p>
        </p:txBody>
      </p:sp>
      <p:sp>
        <p:nvSpPr>
          <p:cNvPr id="85" name="TextBox 85"/>
          <p:cNvSpPr txBox="1"/>
          <p:nvPr/>
        </p:nvSpPr>
        <p:spPr>
          <a:xfrm>
            <a:off x="1808338" y="3162988"/>
            <a:ext cx="1101044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需求说明.pdf</a:t>
            </a:r>
            <a:endParaRPr lang="zh-CN" sz="1700"/>
          </a:p>
        </p:txBody>
      </p:sp>
      <p:sp>
        <p:nvSpPr>
          <p:cNvPr id="86" name="TextBox 86"/>
          <p:cNvSpPr txBox="1"/>
          <p:nvPr/>
        </p:nvSpPr>
        <p:spPr>
          <a:xfrm>
            <a:off x="1815629" y="3410780"/>
            <a:ext cx="597918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657085"/>
                </a:solidFill>
                <a:latin typeface="STHeiti"/>
                <a:ea typeface="STHeiti"/>
                <a:cs typeface="STHeiti"/>
              </a:rPr>
              <a:t>245 KB</a:t>
            </a:r>
            <a:endParaRPr lang="zh-CN" sz="1300"/>
          </a:p>
        </p:txBody>
      </p:sp>
      <p:sp>
        <p:nvSpPr>
          <p:cNvPr id="87" name="TextBox 87"/>
          <p:cNvSpPr txBox="1"/>
          <p:nvPr/>
        </p:nvSpPr>
        <p:spPr>
          <a:xfrm>
            <a:off x="1815629" y="3877211"/>
            <a:ext cx="802085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utils.py</a:t>
            </a:r>
            <a:endParaRPr lang="zh-CN" sz="1700"/>
          </a:p>
        </p:txBody>
      </p:sp>
      <p:sp>
        <p:nvSpPr>
          <p:cNvPr id="88" name="TextBox 88"/>
          <p:cNvSpPr txBox="1"/>
          <p:nvPr/>
        </p:nvSpPr>
        <p:spPr>
          <a:xfrm>
            <a:off x="1822921" y="4125003"/>
            <a:ext cx="56146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657085"/>
                </a:solidFill>
                <a:latin typeface="STHeiti"/>
                <a:ea typeface="STHeiti"/>
                <a:cs typeface="STHeiti"/>
              </a:rPr>
              <a:t>3.1 KB</a:t>
            </a:r>
            <a:endParaRPr lang="zh-CN" sz="1300"/>
          </a:p>
        </p:txBody>
      </p:sp>
      <p:sp>
        <p:nvSpPr>
          <p:cNvPr id="89" name="TextBox 89"/>
          <p:cNvSpPr txBox="1"/>
          <p:nvPr/>
        </p:nvSpPr>
        <p:spPr>
          <a:xfrm>
            <a:off x="1830213" y="4482115"/>
            <a:ext cx="61979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......</a:t>
            </a:r>
            <a:endParaRPr lang="zh-CN" sz="1600"/>
          </a:p>
        </p:txBody>
      </p:sp>
      <p:sp>
        <p:nvSpPr>
          <p:cNvPr id="90" name="TextBox 90"/>
          <p:cNvSpPr txBox="1"/>
          <p:nvPr/>
        </p:nvSpPr>
        <p:spPr>
          <a:xfrm>
            <a:off x="5250012" y="1690814"/>
            <a:ext cx="1531254" cy="4810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workspace inbox</a:t>
            </a:r>
            <a:endParaRPr lang="zh-CN" sz="1900"/>
          </a:p>
          <a:p>
            <a:pPr algn="left"/>
            <a:r>
              <a:rPr lang="zh-CN" sz="19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（自动同步）</a:t>
            </a:r>
            <a:endParaRPr lang="zh-CN" sz="1900"/>
          </a:p>
        </p:txBody>
      </p:sp>
      <p:sp>
        <p:nvSpPr>
          <p:cNvPr id="91" name="TextBox 91"/>
          <p:cNvSpPr txBox="1"/>
          <p:nvPr/>
        </p:nvSpPr>
        <p:spPr>
          <a:xfrm>
            <a:off x="5111470" y="2805877"/>
            <a:ext cx="918752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截图.png</a:t>
            </a:r>
            <a:endParaRPr lang="zh-CN" sz="1700"/>
          </a:p>
        </p:txBody>
      </p:sp>
      <p:sp>
        <p:nvSpPr>
          <p:cNvPr id="92" name="TextBox 92"/>
          <p:cNvSpPr txBox="1"/>
          <p:nvPr/>
        </p:nvSpPr>
        <p:spPr>
          <a:xfrm>
            <a:off x="5111470" y="3294172"/>
            <a:ext cx="115208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需求说明.pdf</a:t>
            </a:r>
            <a:endParaRPr lang="zh-CN" sz="1700"/>
          </a:p>
        </p:txBody>
      </p:sp>
      <p:sp>
        <p:nvSpPr>
          <p:cNvPr id="93" name="TextBox 93"/>
          <p:cNvSpPr txBox="1"/>
          <p:nvPr/>
        </p:nvSpPr>
        <p:spPr>
          <a:xfrm>
            <a:off x="5111470" y="3789756"/>
            <a:ext cx="802085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utils.py</a:t>
            </a:r>
            <a:endParaRPr lang="zh-CN" sz="1700"/>
          </a:p>
        </p:txBody>
      </p:sp>
      <p:sp>
        <p:nvSpPr>
          <p:cNvPr id="94" name="TextBox 94"/>
          <p:cNvSpPr txBox="1"/>
          <p:nvPr/>
        </p:nvSpPr>
        <p:spPr>
          <a:xfrm>
            <a:off x="5118762" y="4044835"/>
            <a:ext cx="678127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......</a:t>
            </a:r>
            <a:endParaRPr lang="zh-CN" sz="1500"/>
          </a:p>
        </p:txBody>
      </p:sp>
      <p:sp>
        <p:nvSpPr>
          <p:cNvPr id="95" name="TextBox 95"/>
          <p:cNvSpPr txBox="1"/>
          <p:nvPr/>
        </p:nvSpPr>
        <p:spPr>
          <a:xfrm>
            <a:off x="4477094" y="4554995"/>
            <a:ext cx="249375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workspace/.bridge-inbox</a:t>
            </a:r>
            <a:endParaRPr lang="zh-CN" sz="2000"/>
          </a:p>
        </p:txBody>
      </p:sp>
      <p:sp>
        <p:nvSpPr>
          <p:cNvPr id="96" name="TextBox 96"/>
          <p:cNvSpPr txBox="1"/>
          <p:nvPr/>
        </p:nvSpPr>
        <p:spPr>
          <a:xfrm>
            <a:off x="9187522" y="1829286"/>
            <a:ext cx="1451045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Codex 输入区</a:t>
            </a:r>
            <a:endParaRPr lang="zh-CN" sz="2000"/>
          </a:p>
        </p:txBody>
      </p:sp>
      <p:sp>
        <p:nvSpPr>
          <p:cNvPr id="97" name="TextBox 97"/>
          <p:cNvSpPr txBox="1"/>
          <p:nvPr/>
        </p:nvSpPr>
        <p:spPr>
          <a:xfrm>
            <a:off x="8312519" y="2579949"/>
            <a:ext cx="2377089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可读取 inbox 中的文件作为输入</a:t>
            </a:r>
            <a:endParaRPr lang="zh-CN" sz="1800"/>
          </a:p>
        </p:txBody>
      </p:sp>
      <p:sp>
        <p:nvSpPr>
          <p:cNvPr id="98" name="TextBox 98"/>
          <p:cNvSpPr txBox="1"/>
          <p:nvPr/>
        </p:nvSpPr>
        <p:spPr>
          <a:xfrm>
            <a:off x="8312519" y="2995365"/>
            <a:ext cx="89687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示例引用：</a:t>
            </a:r>
            <a:endParaRPr lang="zh-CN" sz="1700"/>
          </a:p>
        </p:txBody>
      </p:sp>
      <p:sp>
        <p:nvSpPr>
          <p:cNvPr id="99" name="TextBox 99"/>
          <p:cNvSpPr txBox="1"/>
          <p:nvPr/>
        </p:nvSpPr>
        <p:spPr>
          <a:xfrm>
            <a:off x="8356270" y="3345188"/>
            <a:ext cx="2646881" cy="61219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请根据 需求说明.pdf 生成接口文档，</a:t>
            </a:r>
            <a:endParaRPr lang="zh-CN" sz="1600"/>
          </a:p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并参考 截图.png 中的界面。</a:t>
            </a:r>
            <a:endParaRPr lang="zh-CN" sz="1600"/>
          </a:p>
          <a:p>
            <a:pPr algn="left"/>
            <a:r>
              <a:rPr lang="zh-CN" sz="16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工具函数可查看 utils.py。</a:t>
            </a:r>
            <a:endParaRPr lang="zh-CN" sz="1600"/>
          </a:p>
        </p:txBody>
      </p:sp>
      <p:sp>
        <p:nvSpPr>
          <p:cNvPr id="100" name="TextBox 100"/>
          <p:cNvSpPr txBox="1"/>
          <p:nvPr/>
        </p:nvSpPr>
        <p:spPr>
          <a:xfrm>
            <a:off x="3011465" y="5240066"/>
            <a:ext cx="1239586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86FD3"/>
                </a:solidFill>
                <a:latin typeface="STHeiti"/>
                <a:ea typeface="STHeiti"/>
                <a:cs typeface="STHeiti"/>
              </a:rPr>
              <a:t>附件自动同步</a:t>
            </a:r>
            <a:endParaRPr lang="zh-CN" sz="1800"/>
          </a:p>
        </p:txBody>
      </p:sp>
      <p:sp>
        <p:nvSpPr>
          <p:cNvPr id="101" name="TextBox 101"/>
          <p:cNvSpPr txBox="1"/>
          <p:nvPr/>
        </p:nvSpPr>
        <p:spPr>
          <a:xfrm>
            <a:off x="5417721" y="5247354"/>
            <a:ext cx="130521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F6B34"/>
                </a:solidFill>
                <a:latin typeface="STHeiti"/>
                <a:ea typeface="STHeiti"/>
                <a:cs typeface="STHeiti"/>
              </a:rPr>
              <a:t>图片可作为输入</a:t>
            </a:r>
            <a:endParaRPr lang="zh-CN" sz="1800"/>
          </a:p>
        </p:txBody>
      </p:sp>
      <p:sp>
        <p:nvSpPr>
          <p:cNvPr id="102" name="TextBox 102"/>
          <p:cNvSpPr txBox="1"/>
          <p:nvPr/>
        </p:nvSpPr>
        <p:spPr>
          <a:xfrm>
            <a:off x="7838560" y="5240066"/>
            <a:ext cx="1531254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任务里引用文件名</a:t>
            </a:r>
            <a:endParaRPr lang="zh-CN" sz="1800"/>
          </a:p>
        </p:txBody>
      </p:sp>
      <p:sp>
        <p:nvSpPr>
          <p:cNvPr id="103" name="TextBox 103"/>
          <p:cNvSpPr txBox="1"/>
          <p:nvPr/>
        </p:nvSpPr>
        <p:spPr>
          <a:xfrm>
            <a:off x="2530214" y="5990729"/>
            <a:ext cx="6817724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2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把截图、文档、代码发到 </a:t>
            </a:r>
            <a:r>
              <a:rPr lang="zh-CN" sz="2200">
                <a:solidFill>
                  <a:srgbClr val="286FD3"/>
                </a:solidFill>
                <a:latin typeface="STHeiti"/>
                <a:ea typeface="STHeiti"/>
                <a:cs typeface="STHeiti"/>
              </a:rPr>
              <a:t>Discord</a:t>
            </a:r>
            <a:r>
              <a:rPr lang="zh-CN" sz="22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， </a:t>
            </a:r>
            <a:r>
              <a:rPr lang="zh-CN" sz="2200">
                <a:solidFill>
                  <a:srgbClr val="EE6A00"/>
                </a:solidFill>
                <a:latin typeface="STHeiti"/>
                <a:ea typeface="STHeiti"/>
                <a:cs typeface="STHeiti"/>
              </a:rPr>
              <a:t>Codex</a:t>
            </a:r>
            <a:r>
              <a:rPr lang="zh-CN" sz="2200">
                <a:solidFill>
                  <a:srgbClr val="07102F"/>
                </a:solidFill>
                <a:latin typeface="STHeiti"/>
                <a:ea typeface="STHeiti"/>
                <a:cs typeface="STHeiti"/>
              </a:rPr>
              <a:t> 就能在项目里处理。</a:t>
            </a:r>
            <a:endParaRPr lang="zh-CN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28126" y="2434189"/>
            <a:ext cx="1990630" cy="1938606"/>
          </a:xfrm>
          <a:prstGeom prst="roundRect">
            <a:avLst>
              <a:gd name="adj" fmla="val 8271"/>
            </a:avLst>
          </a:prstGeom>
          <a:solidFill>
            <a:srgbClr val="FFFDFC"/>
          </a:solidFill>
          <a:ln w="279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5395846" y="2558085"/>
            <a:ext cx="2362506" cy="2106230"/>
          </a:xfrm>
          <a:prstGeom prst="roundRect">
            <a:avLst>
              <a:gd name="adj" fmla="val 8651"/>
            </a:avLst>
          </a:prstGeom>
          <a:solidFill>
            <a:srgbClr val="FCFFFC"/>
          </a:solidFill>
          <a:ln w="25400">
            <a:solidFill>
              <a:srgbClr val="237239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421895" y="1472174"/>
            <a:ext cx="3120841" cy="3716876"/>
          </a:xfrm>
          <a:prstGeom prst="roundRect">
            <a:avLst>
              <a:gd name="adj" fmla="val 8411"/>
            </a:avLst>
          </a:prstGeom>
          <a:solidFill>
            <a:srgbClr val="FBFDFF"/>
          </a:solidFill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844796" y="5793953"/>
            <a:ext cx="8640645" cy="714223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22860">
            <a:solidFill>
              <a:srgbClr val="A8CFFF"/>
            </a:solidFill>
            <a:prstDash val="dash"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902090" y="1610646"/>
            <a:ext cx="1946880" cy="991167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254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902090" y="2827741"/>
            <a:ext cx="1946880" cy="954727"/>
          </a:xfrm>
          <a:prstGeom prst="roundRect">
            <a:avLst>
              <a:gd name="adj" fmla="val 13740"/>
            </a:avLst>
          </a:prstGeom>
          <a:solidFill>
            <a:srgbClr val="FFFFFF"/>
          </a:solidFill>
          <a:ln w="254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902090" y="3993819"/>
            <a:ext cx="1946880" cy="940151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54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505221" y="2900621"/>
            <a:ext cx="2114588" cy="1064047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5240">
            <a:solidFill>
              <a:srgbClr val="8FB99B"/>
            </a:solidFill>
            <a:prstDash val="dash"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575020" y="2113518"/>
            <a:ext cx="2814590" cy="838119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22860">
            <a:solidFill>
              <a:srgbClr val="86B2F2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575020" y="3002652"/>
            <a:ext cx="2814590" cy="1435734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 w="22860">
            <a:solidFill>
              <a:srgbClr val="86B2F2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575020" y="4496691"/>
            <a:ext cx="2814590" cy="532023"/>
          </a:xfrm>
          <a:prstGeom prst="roundRect">
            <a:avLst>
              <a:gd name="adj" fmla="val 20548"/>
            </a:avLst>
          </a:prstGeom>
          <a:solidFill>
            <a:srgbClr val="FFFFFF"/>
          </a:solidFill>
          <a:ln w="22860">
            <a:solidFill>
              <a:srgbClr val="86B2F2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785423" y="5174474"/>
            <a:ext cx="1575004" cy="386264"/>
          </a:xfrm>
          <a:prstGeom prst="roundRect">
            <a:avLst>
              <a:gd name="adj" fmla="val 22642"/>
            </a:avLst>
          </a:prstGeom>
          <a:solidFill>
            <a:srgbClr val="ECF7EC"/>
          </a:solidFill>
          <a:ln w="22860">
            <a:solidFill>
              <a:srgbClr val="237239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622927" y="5174474"/>
            <a:ext cx="1771879" cy="386264"/>
          </a:xfrm>
          <a:prstGeom prst="roundRect">
            <a:avLst>
              <a:gd name="adj" fmla="val 22642"/>
            </a:avLst>
          </a:prstGeom>
          <a:solidFill>
            <a:srgbClr val="EDF5FF"/>
          </a:solidFill>
          <a:ln w="2286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620849" y="5174474"/>
            <a:ext cx="1786463" cy="386264"/>
          </a:xfrm>
          <a:prstGeom prst="roundRect">
            <a:avLst>
              <a:gd name="adj" fmla="val 22642"/>
            </a:avLst>
          </a:prstGeom>
          <a:solidFill>
            <a:srgbClr val="FFF8F1"/>
          </a:solidFill>
          <a:ln w="22860">
            <a:solidFill>
              <a:srgbClr val="F4933C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2989590" y="1202519"/>
            <a:ext cx="6664599" cy="43728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3397925" y="1246247"/>
            <a:ext cx="6095848" cy="94744"/>
          </a:xfrm>
          <a:prstGeom prst="line">
            <a:avLst/>
          </a:prstGeom>
          <a:noFill/>
          <a:ln w="254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V="1">
            <a:off x="3215633" y="1238959"/>
            <a:ext cx="5053137" cy="58304"/>
          </a:xfrm>
          <a:prstGeom prst="line">
            <a:avLst/>
          </a:prstGeom>
          <a:noFill/>
          <a:ln w="25400">
            <a:solidFill>
              <a:srgbClr val="5D9AF0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530214" y="393552"/>
            <a:ext cx="36458" cy="204064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566673" y="597615"/>
            <a:ext cx="153125" cy="87456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2457297" y="597615"/>
            <a:ext cx="109375" cy="80168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2566673" y="597615"/>
            <a:ext cx="58333" cy="196776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 flipH="1">
            <a:off x="2406256" y="597615"/>
            <a:ext cx="160417" cy="0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2610423" y="830831"/>
            <a:ext cx="131250" cy="43728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530214" y="932863"/>
            <a:ext cx="175000" cy="29152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 flipV="1">
            <a:off x="9858356" y="378976"/>
            <a:ext cx="116667" cy="160336"/>
          </a:xfrm>
          <a:prstGeom prst="line">
            <a:avLst/>
          </a:prstGeom>
          <a:noFill/>
          <a:ln w="508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V="1">
            <a:off x="10040648" y="626767"/>
            <a:ext cx="131250" cy="58304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9953148" y="772527"/>
            <a:ext cx="51042" cy="116608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918752" y="2754861"/>
            <a:ext cx="809377" cy="539311"/>
          </a:xfrm>
          <a:prstGeom prst="roundRect">
            <a:avLst>
              <a:gd name="adj" fmla="val 13514"/>
            </a:avLst>
          </a:prstGeom>
          <a:solidFill>
            <a:srgbClr val="FFFDFC"/>
          </a:solidFill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8626062" y="1603358"/>
            <a:ext cx="430209" cy="429991"/>
          </a:xfrm>
          <a:prstGeom prst="ellipse">
            <a:avLst/>
          </a:prstGeom>
          <a:solidFill>
            <a:srgbClr val="617EF8"/>
          </a:solidFill>
          <a:ln w="12700">
            <a:solidFill>
              <a:srgbClr val="617EF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8677104" y="3709588"/>
            <a:ext cx="2610423" cy="0"/>
          </a:xfrm>
          <a:prstGeom prst="line">
            <a:avLst/>
          </a:prstGeom>
          <a:noFill/>
          <a:ln w="12700">
            <a:solidFill>
              <a:srgbClr val="BCC7D6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677104" y="4059411"/>
            <a:ext cx="2610423" cy="0"/>
          </a:xfrm>
          <a:prstGeom prst="line">
            <a:avLst/>
          </a:prstGeom>
          <a:noFill/>
          <a:ln w="12700">
            <a:solidFill>
              <a:srgbClr val="BCC7D6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333339" y="3286884"/>
            <a:ext cx="495834" cy="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501048" y="2317581"/>
            <a:ext cx="0" cy="188759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V="1">
            <a:off x="2486464" y="2047926"/>
            <a:ext cx="335417" cy="269656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2727090" y="3184852"/>
            <a:ext cx="196875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501048" y="4205171"/>
            <a:ext cx="335417" cy="21864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4841678" y="2120806"/>
            <a:ext cx="226042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067720" y="2230125"/>
            <a:ext cx="94792" cy="903711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162512" y="3133836"/>
            <a:ext cx="131250" cy="153048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4870845" y="3294172"/>
            <a:ext cx="466668" cy="0"/>
          </a:xfrm>
          <a:prstGeom prst="line">
            <a:avLst/>
          </a:prstGeom>
          <a:noFill/>
          <a:ln w="406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H="1">
            <a:off x="5096887" y="3367052"/>
            <a:ext cx="65625" cy="947439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H="1">
            <a:off x="4848970" y="4314491"/>
            <a:ext cx="247917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7816685" y="3323324"/>
            <a:ext cx="495834" cy="0"/>
          </a:xfrm>
          <a:prstGeom prst="line">
            <a:avLst/>
          </a:prstGeom>
          <a:noFill/>
          <a:ln w="508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8786479" y="1778270"/>
            <a:ext cx="58333" cy="65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8910438" y="1778270"/>
            <a:ext cx="58333" cy="65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720854" y="1836574"/>
            <a:ext cx="284376" cy="0"/>
          </a:xfrm>
          <a:prstGeom prst="lin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H="1" flipV="1">
            <a:off x="2705215" y="2033350"/>
            <a:ext cx="116667" cy="14576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2763548" y="2047926"/>
            <a:ext cx="58333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H="1" flipV="1">
            <a:off x="2814590" y="3199428"/>
            <a:ext cx="109375" cy="94744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H="1">
            <a:off x="2814590" y="3294172"/>
            <a:ext cx="109375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H="1">
            <a:off x="2712506" y="4423811"/>
            <a:ext cx="123959" cy="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H="1" flipV="1">
            <a:off x="2756256" y="4314491"/>
            <a:ext cx="80209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 flipV="1">
            <a:off x="5191679" y="3155700"/>
            <a:ext cx="145834" cy="138472"/>
          </a:xfrm>
          <a:prstGeom prst="line">
            <a:avLst/>
          </a:prstGeom>
          <a:noFill/>
          <a:ln w="406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H="1">
            <a:off x="5198971" y="3294172"/>
            <a:ext cx="138542" cy="138472"/>
          </a:xfrm>
          <a:prstGeom prst="line">
            <a:avLst/>
          </a:prstGeom>
          <a:noFill/>
          <a:ln w="406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 flipH="1" flipV="1">
            <a:off x="8144811" y="3155700"/>
            <a:ext cx="167709" cy="167624"/>
          </a:xfrm>
          <a:prstGeom prst="line">
            <a:avLst/>
          </a:prstGeom>
          <a:noFill/>
          <a:ln w="508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H="1">
            <a:off x="8144811" y="3323324"/>
            <a:ext cx="167709" cy="167624"/>
          </a:xfrm>
          <a:prstGeom prst="line">
            <a:avLst/>
          </a:prstGeom>
          <a:noFill/>
          <a:ln w="508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728145" y="2215549"/>
            <a:ext cx="262501" cy="262368"/>
          </a:xfrm>
          <a:prstGeom prst="ellipse">
            <a:avLst/>
          </a:prstGeom>
          <a:solidFill>
            <a:srgbClr val="F8FFF8"/>
          </a:solidFill>
          <a:ln w="3048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8728145" y="3111972"/>
            <a:ext cx="284376" cy="269656"/>
          </a:xfrm>
          <a:prstGeom prst="ellipse">
            <a:avLst/>
          </a:prstGeom>
          <a:solidFill>
            <a:srgbClr val="E8F1FF"/>
          </a:solidFill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8735437" y="3797044"/>
            <a:ext cx="160417" cy="196776"/>
          </a:xfrm>
          <a:prstGeom prst="rect">
            <a:avLst/>
          </a:prstGeom>
          <a:solidFill>
            <a:srgbClr val="F8FBFF"/>
          </a:solidFill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8735437" y="4168731"/>
            <a:ext cx="153125" cy="189488"/>
          </a:xfrm>
          <a:prstGeom prst="rect">
            <a:avLst/>
          </a:prstGeom>
          <a:solidFill>
            <a:srgbClr val="F8FBFF"/>
          </a:solidFill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8735437" y="4613299"/>
            <a:ext cx="167709" cy="306096"/>
          </a:xfrm>
          <a:prstGeom prst="ellipse">
            <a:avLst/>
          </a:prstGeom>
          <a:noFill/>
          <a:ln w="4318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2960424" y="5247354"/>
            <a:ext cx="262501" cy="262368"/>
          </a:xfrm>
          <a:prstGeom prst="ellipse">
            <a:avLst/>
          </a:prstGeom>
          <a:solidFill>
            <a:srgbClr val="F7FEF8"/>
          </a:solidFill>
          <a:ln w="3048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4805220" y="5247354"/>
            <a:ext cx="284376" cy="269656"/>
          </a:xfrm>
          <a:prstGeom prst="ellipse">
            <a:avLst/>
          </a:prstGeom>
          <a:solidFill>
            <a:srgbClr val="E8F1FF"/>
          </a:solidFill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6781266" y="5254642"/>
            <a:ext cx="138542" cy="255080"/>
          </a:xfrm>
          <a:prstGeom prst="ellips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2158338" y="5998017"/>
            <a:ext cx="269792" cy="276944"/>
          </a:xfrm>
          <a:prstGeom prst="ellipse">
            <a:avLst/>
          </a:prstGeom>
          <a:solidFill>
            <a:srgbClr val="FFFDEB"/>
          </a:solidFill>
          <a:ln w="3048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495834" y="177827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758335" y="177827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495834" y="192403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758335" y="192403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495834" y="1924030"/>
            <a:ext cx="0" cy="2915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020836" y="1924030"/>
            <a:ext cx="0" cy="2915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758335" y="2069790"/>
            <a:ext cx="0" cy="2915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495834" y="2215549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H="1">
            <a:off x="758335" y="2215549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093753" y="2900621"/>
            <a:ext cx="138542" cy="138472"/>
          </a:xfrm>
          <a:prstGeom prst="lin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>
            <a:off x="1101044" y="3039092"/>
            <a:ext cx="131250" cy="123896"/>
          </a:xfrm>
          <a:prstGeom prst="lin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334378" y="3148412"/>
            <a:ext cx="145834" cy="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3062507" y="1821998"/>
            <a:ext cx="371876" cy="371688"/>
          </a:xfrm>
          <a:prstGeom prst="ellipse">
            <a:avLst/>
          </a:prstGeom>
          <a:solidFill>
            <a:srgbClr val="F7FEF8"/>
          </a:solidFill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3062507" y="3009940"/>
            <a:ext cx="342709" cy="437279"/>
          </a:xfrm>
          <a:prstGeom prst="rect">
            <a:avLst/>
          </a:prstGeom>
          <a:solidFill>
            <a:srgbClr val="F7FBFF"/>
          </a:solidFill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3091674" y="4234323"/>
            <a:ext cx="211459" cy="357112"/>
          </a:xfrm>
          <a:prstGeom prst="ellips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5818764" y="2339445"/>
            <a:ext cx="831252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5731263" y="2434189"/>
            <a:ext cx="977086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5971889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6073973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5971889" y="2033350"/>
            <a:ext cx="102084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6431265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6533349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6431265" y="2033350"/>
            <a:ext cx="102084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5811472" y="2113518"/>
            <a:ext cx="160417" cy="204064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6073973" y="2113518"/>
            <a:ext cx="196875" cy="225928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V="1">
            <a:off x="6270848" y="2113518"/>
            <a:ext cx="160417" cy="225928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533349" y="2113518"/>
            <a:ext cx="116667" cy="211352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6001056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6044806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5942722" y="2579949"/>
            <a:ext cx="175000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6460432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6504182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6402098" y="2579949"/>
            <a:ext cx="175000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8801062" y="2339445"/>
            <a:ext cx="72917" cy="72880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V="1">
            <a:off x="8873979" y="2273853"/>
            <a:ext cx="87500" cy="138472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>
            <a:off x="8742729" y="3352476"/>
            <a:ext cx="51042" cy="7288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8815646" y="3206716"/>
            <a:ext cx="138542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8815646" y="3279596"/>
            <a:ext cx="1166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9741689" y="3622132"/>
            <a:ext cx="0" cy="153048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9676064" y="3709588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>
            <a:off x="9741689" y="3709588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8844812" y="3928227"/>
            <a:ext cx="87500" cy="87456"/>
          </a:xfrm>
          <a:prstGeom prst="ellips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8910438" y="3993819"/>
            <a:ext cx="51042" cy="51016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9741689" y="3986531"/>
            <a:ext cx="0" cy="153048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9676064" y="4073987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>
            <a:off x="9741689" y="4073987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8779187" y="4241611"/>
            <a:ext cx="72917" cy="0"/>
          </a:xfrm>
          <a:prstGeom prst="line">
            <a:avLst/>
          </a:prstGeom>
          <a:noFill/>
          <a:ln w="190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8779187" y="4299915"/>
            <a:ext cx="80209" cy="0"/>
          </a:xfrm>
          <a:prstGeom prst="line">
            <a:avLst/>
          </a:prstGeom>
          <a:noFill/>
          <a:ln w="190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8822937" y="4642451"/>
            <a:ext cx="153125" cy="196776"/>
          </a:xfrm>
          <a:prstGeom prst="line">
            <a:avLst/>
          </a:prstGeom>
          <a:noFill/>
          <a:ln w="4318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8830229" y="4708043"/>
            <a:ext cx="87500" cy="167624"/>
          </a:xfrm>
          <a:prstGeom prst="ellipse">
            <a:avLst/>
          </a:prstGeom>
          <a:noFill/>
          <a:ln w="3175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3026049" y="5371250"/>
            <a:ext cx="80209" cy="72880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3106257" y="5291082"/>
            <a:ext cx="87500" cy="153048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H="1">
            <a:off x="4812511" y="5495146"/>
            <a:ext cx="58333" cy="58304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4892720" y="5349386"/>
            <a:ext cx="131250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4892720" y="5422266"/>
            <a:ext cx="109375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6861474" y="5276506"/>
            <a:ext cx="138542" cy="189488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6883349" y="5342098"/>
            <a:ext cx="72917" cy="138472"/>
          </a:xfrm>
          <a:prstGeom prst="ellipse">
            <a:avLst/>
          </a:prstGeom>
          <a:noFill/>
          <a:ln w="279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2245839" y="6289537"/>
            <a:ext cx="131250" cy="0"/>
          </a:xfrm>
          <a:prstGeom prst="line">
            <a:avLst/>
          </a:prstGeom>
          <a:noFill/>
          <a:ln w="317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2267714" y="6355129"/>
            <a:ext cx="87500" cy="0"/>
          </a:xfrm>
          <a:prstGeom prst="line">
            <a:avLst/>
          </a:prstGeom>
          <a:noFill/>
          <a:ln w="317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2304172" y="6274961"/>
            <a:ext cx="0" cy="87456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V="1">
            <a:off x="2304172" y="5830393"/>
            <a:ext cx="0" cy="7288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 flipV="1">
            <a:off x="2100005" y="5895985"/>
            <a:ext cx="58333" cy="58304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V="1">
            <a:off x="2435422" y="5895985"/>
            <a:ext cx="58333" cy="58304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H="1">
            <a:off x="1997921" y="6121913"/>
            <a:ext cx="87500" cy="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2508339" y="6121913"/>
            <a:ext cx="87500" cy="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3157299" y="1996910"/>
            <a:ext cx="109375" cy="10932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 flipV="1">
            <a:off x="3266674" y="1909454"/>
            <a:ext cx="116667" cy="196776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3266674" y="3009940"/>
            <a:ext cx="145834" cy="138472"/>
          </a:xfrm>
          <a:prstGeom prst="line">
            <a:avLst/>
          </a:prstGeom>
          <a:noFill/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3266674" y="3009940"/>
            <a:ext cx="0" cy="138472"/>
          </a:xfrm>
          <a:prstGeom prst="line">
            <a:avLst/>
          </a:prstGeom>
          <a:noFill/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3266674" y="3148412"/>
            <a:ext cx="145834" cy="0"/>
          </a:xfrm>
          <a:prstGeom prst="line">
            <a:avLst/>
          </a:prstGeom>
          <a:noFill/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3142716" y="3206716"/>
            <a:ext cx="2041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3142716" y="3301460"/>
            <a:ext cx="2041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3142716" y="3396204"/>
            <a:ext cx="2041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 flipV="1">
            <a:off x="3215633" y="4278051"/>
            <a:ext cx="153125" cy="182200"/>
          </a:xfrm>
          <a:prstGeom prst="lin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186466" y="4343643"/>
            <a:ext cx="109375" cy="204064"/>
          </a:xfrm>
          <a:prstGeom prst="ellips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42" name="TextBox 142"/>
          <p:cNvSpPr txBox="1"/>
          <p:nvPr/>
        </p:nvSpPr>
        <p:spPr>
          <a:xfrm>
            <a:off x="2894798" y="393552"/>
            <a:ext cx="6489599" cy="69964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600" b="1">
                <a:solidFill>
                  <a:srgbClr val="000A63"/>
                </a:solidFill>
                <a:latin typeface="PingFang SC"/>
                <a:ea typeface="PingFang SC"/>
                <a:cs typeface="PingFang SC"/>
              </a:rPr>
              <a:t>结果回复与文件回传</a:t>
            </a:r>
            <a:endParaRPr lang="zh-CN" sz="4600"/>
          </a:p>
        </p:txBody>
      </p:sp>
      <p:sp>
        <p:nvSpPr>
          <p:cNvPr id="143" name="TextBox 143"/>
          <p:cNvSpPr txBox="1"/>
          <p:nvPr/>
        </p:nvSpPr>
        <p:spPr>
          <a:xfrm>
            <a:off x="867710" y="2055214"/>
            <a:ext cx="20416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C</a:t>
            </a:r>
            <a:endParaRPr lang="zh-CN" sz="1300"/>
          </a:p>
        </p:txBody>
      </p:sp>
      <p:sp>
        <p:nvSpPr>
          <p:cNvPr id="144" name="TextBox 144"/>
          <p:cNvSpPr txBox="1"/>
          <p:nvPr/>
        </p:nvSpPr>
        <p:spPr>
          <a:xfrm>
            <a:off x="1210419" y="2011486"/>
            <a:ext cx="1312503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Codex 输出</a:t>
            </a:r>
            <a:endParaRPr lang="zh-CN" sz="2000"/>
          </a:p>
        </p:txBody>
      </p:sp>
      <p:sp>
        <p:nvSpPr>
          <p:cNvPr id="145" name="TextBox 145"/>
          <p:cNvSpPr txBox="1"/>
          <p:nvPr/>
        </p:nvSpPr>
        <p:spPr>
          <a:xfrm>
            <a:off x="707293" y="3556540"/>
            <a:ext cx="1385420" cy="46643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任务执行完成后，</a:t>
            </a:r>
            <a:endParaRPr lang="zh-CN" sz="1700"/>
          </a:p>
          <a:p>
            <a:pPr algn="left"/>
            <a:r>
              <a:rPr lang="zh-CN" sz="17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生成结果并回传。</a:t>
            </a:r>
            <a:endParaRPr lang="zh-CN" sz="1700"/>
          </a:p>
        </p:txBody>
      </p:sp>
      <p:sp>
        <p:nvSpPr>
          <p:cNvPr id="146" name="TextBox 146"/>
          <p:cNvSpPr txBox="1"/>
          <p:nvPr/>
        </p:nvSpPr>
        <p:spPr>
          <a:xfrm>
            <a:off x="3565633" y="1785558"/>
            <a:ext cx="12250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1. 最终总结</a:t>
            </a:r>
            <a:endParaRPr lang="zh-CN" sz="1650"/>
          </a:p>
        </p:txBody>
      </p:sp>
      <p:sp>
        <p:nvSpPr>
          <p:cNvPr id="147" name="TextBox 147"/>
          <p:cNvSpPr txBox="1"/>
          <p:nvPr/>
        </p:nvSpPr>
        <p:spPr>
          <a:xfrm>
            <a:off x="3587508" y="2084366"/>
            <a:ext cx="1225003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给出结论、要点</a:t>
            </a:r>
            <a:endParaRPr lang="zh-CN" sz="1350"/>
          </a:p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与下一步建议。</a:t>
            </a:r>
            <a:endParaRPr lang="zh-CN" sz="1350"/>
          </a:p>
        </p:txBody>
      </p:sp>
      <p:sp>
        <p:nvSpPr>
          <p:cNvPr id="148" name="TextBox 148"/>
          <p:cNvSpPr txBox="1"/>
          <p:nvPr/>
        </p:nvSpPr>
        <p:spPr>
          <a:xfrm>
            <a:off x="3565633" y="3002652"/>
            <a:ext cx="12250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2. 长回复分段</a:t>
            </a:r>
            <a:endParaRPr lang="zh-CN" sz="1650"/>
          </a:p>
        </p:txBody>
      </p:sp>
      <p:sp>
        <p:nvSpPr>
          <p:cNvPr id="149" name="TextBox 149"/>
          <p:cNvSpPr txBox="1"/>
          <p:nvPr/>
        </p:nvSpPr>
        <p:spPr>
          <a:xfrm>
            <a:off x="3587508" y="3294172"/>
            <a:ext cx="1225003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长内容自动拆分</a:t>
            </a:r>
            <a:endParaRPr lang="zh-CN" sz="1350"/>
          </a:p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为多条消息发送。</a:t>
            </a:r>
            <a:endParaRPr lang="zh-CN" sz="1350"/>
          </a:p>
        </p:txBody>
      </p:sp>
      <p:sp>
        <p:nvSpPr>
          <p:cNvPr id="150" name="TextBox 150"/>
          <p:cNvSpPr txBox="1"/>
          <p:nvPr/>
        </p:nvSpPr>
        <p:spPr>
          <a:xfrm>
            <a:off x="3565633" y="4168731"/>
            <a:ext cx="12250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3. 文件附件</a:t>
            </a:r>
            <a:endParaRPr lang="zh-CN" sz="1650"/>
          </a:p>
        </p:txBody>
      </p:sp>
      <p:sp>
        <p:nvSpPr>
          <p:cNvPr id="151" name="TextBox 151"/>
          <p:cNvSpPr txBox="1"/>
          <p:nvPr/>
        </p:nvSpPr>
        <p:spPr>
          <a:xfrm>
            <a:off x="3587508" y="4460251"/>
            <a:ext cx="1225003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生成的文件自动</a:t>
            </a:r>
            <a:endParaRPr lang="zh-CN" sz="1350"/>
          </a:p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打包并回传。</a:t>
            </a:r>
            <a:endParaRPr lang="zh-CN" sz="1350"/>
          </a:p>
        </p:txBody>
      </p:sp>
      <p:sp>
        <p:nvSpPr>
          <p:cNvPr id="152" name="TextBox 152"/>
          <p:cNvSpPr txBox="1"/>
          <p:nvPr/>
        </p:nvSpPr>
        <p:spPr>
          <a:xfrm>
            <a:off x="6781266" y="2186397"/>
            <a:ext cx="875002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0B6B20"/>
                </a:solidFill>
                <a:latin typeface="PingFang SC"/>
                <a:ea typeface="PingFang SC"/>
                <a:cs typeface="PingFang SC"/>
              </a:rPr>
              <a:t>Bridge</a:t>
            </a:r>
            <a:endParaRPr lang="zh-CN" sz="2000"/>
          </a:p>
        </p:txBody>
      </p:sp>
      <p:sp>
        <p:nvSpPr>
          <p:cNvPr id="153" name="TextBox 153"/>
          <p:cNvSpPr txBox="1"/>
          <p:nvPr/>
        </p:nvSpPr>
        <p:spPr>
          <a:xfrm>
            <a:off x="6117723" y="2732997"/>
            <a:ext cx="116666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结构化消息</a:t>
            </a:r>
            <a:endParaRPr lang="zh-CN" sz="1650"/>
          </a:p>
        </p:txBody>
      </p:sp>
      <p:sp>
        <p:nvSpPr>
          <p:cNvPr id="154" name="TextBox 154"/>
          <p:cNvSpPr txBox="1"/>
          <p:nvPr/>
        </p:nvSpPr>
        <p:spPr>
          <a:xfrm>
            <a:off x="5621888" y="3009940"/>
            <a:ext cx="1531254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B6B20"/>
                </a:solidFill>
                <a:latin typeface="Menlo"/>
                <a:ea typeface="Menlo"/>
                <a:cs typeface="Menlo"/>
              </a:rPr>
              <a:t>BRIDGE_SEND_FILE</a:t>
            </a:r>
            <a:endParaRPr lang="zh-CN" sz="1400"/>
          </a:p>
        </p:txBody>
      </p:sp>
      <p:sp>
        <p:nvSpPr>
          <p:cNvPr id="155" name="TextBox 155"/>
          <p:cNvSpPr txBox="1"/>
          <p:nvPr/>
        </p:nvSpPr>
        <p:spPr>
          <a:xfrm>
            <a:off x="5621888" y="3286884"/>
            <a:ext cx="2005213" cy="59761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101018"/>
                </a:solidFill>
                <a:latin typeface="Menlo"/>
                <a:ea typeface="Menlo"/>
                <a:cs typeface="Menlo"/>
              </a:rPr>
              <a:t>{
</a:t>
            </a:r>
            <a:r>
              <a:rPr lang="zh-CN" sz="950">
                <a:solidFill>
                  <a:srgbClr val="101018"/>
                </a:solidFill>
                <a:latin typeface="Menlo"/>
                <a:ea typeface="Menlo"/>
                <a:cs typeface="Menlo"/>
              </a:rPr>
              <a:t>  "type": "file",
</a:t>
            </a:r>
            <a:r>
              <a:rPr lang="zh-CN" sz="880">
                <a:solidFill>
                  <a:srgbClr val="101018"/>
                </a:solidFill>
                <a:latin typeface="Menlo"/>
                <a:ea typeface="Menlo"/>
                <a:cs typeface="Menlo"/>
              </a:rPr>
              <a:t>  "path": "workspace/output/report.md"
</a:t>
            </a:r>
            <a:r>
              <a:rPr lang="zh-CN" sz="950">
                <a:solidFill>
                  <a:srgbClr val="101018"/>
                </a:solidFill>
                <a:latin typeface="Menlo"/>
                <a:ea typeface="Menlo"/>
                <a:cs typeface="Menlo"/>
              </a:rPr>
              <a:t>}</a:t>
            </a:r>
            <a:endParaRPr lang="zh-CN" sz="950"/>
          </a:p>
        </p:txBody>
      </p:sp>
      <p:sp>
        <p:nvSpPr>
          <p:cNvPr id="156" name="TextBox 156"/>
          <p:cNvSpPr txBox="1"/>
          <p:nvPr/>
        </p:nvSpPr>
        <p:spPr>
          <a:xfrm>
            <a:off x="5789597" y="4117715"/>
            <a:ext cx="1822921" cy="45185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5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Bridge 读取文件，</a:t>
            </a:r>
            <a:endParaRPr lang="zh-CN" sz="1550"/>
          </a:p>
          <a:p>
            <a:pPr algn="center"/>
            <a:r>
              <a:rPr lang="zh-CN" sz="15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并将结果发送回 Discord。</a:t>
            </a:r>
            <a:endParaRPr lang="zh-CN" sz="1550"/>
          </a:p>
        </p:txBody>
      </p:sp>
      <p:sp>
        <p:nvSpPr>
          <p:cNvPr id="157" name="TextBox 157"/>
          <p:cNvSpPr txBox="1"/>
          <p:nvPr/>
        </p:nvSpPr>
        <p:spPr>
          <a:xfrm>
            <a:off x="9151063" y="1719966"/>
            <a:ext cx="1604170" cy="2988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>
                <a:solidFill>
                  <a:srgbClr val="2E76E6"/>
                </a:solidFill>
                <a:latin typeface="PingFang SC"/>
                <a:ea typeface="PingFang SC"/>
                <a:cs typeface="PingFang SC"/>
              </a:rPr>
              <a:t>Discord 频道 #</a:t>
            </a:r>
            <a:endParaRPr lang="zh-CN" sz="2100"/>
          </a:p>
        </p:txBody>
      </p:sp>
      <p:sp>
        <p:nvSpPr>
          <p:cNvPr id="158" name="TextBox 158"/>
          <p:cNvSpPr txBox="1"/>
          <p:nvPr/>
        </p:nvSpPr>
        <p:spPr>
          <a:xfrm>
            <a:off x="10675025" y="1792846"/>
            <a:ext cx="6708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api-项目</a:t>
            </a:r>
            <a:endParaRPr lang="zh-CN" sz="1300"/>
          </a:p>
        </p:txBody>
      </p:sp>
      <p:sp>
        <p:nvSpPr>
          <p:cNvPr id="159" name="TextBox 159"/>
          <p:cNvSpPr txBox="1"/>
          <p:nvPr/>
        </p:nvSpPr>
        <p:spPr>
          <a:xfrm>
            <a:off x="9180230" y="2237413"/>
            <a:ext cx="1713546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2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【总结】本次任务已完成</a:t>
            </a:r>
            <a:endParaRPr lang="zh-CN" sz="1220"/>
          </a:p>
        </p:txBody>
      </p:sp>
      <p:sp>
        <p:nvSpPr>
          <p:cNvPr id="160" name="TextBox 160"/>
          <p:cNvSpPr txBox="1"/>
          <p:nvPr/>
        </p:nvSpPr>
        <p:spPr>
          <a:xfrm>
            <a:off x="11017734" y="2266565"/>
            <a:ext cx="335417" cy="1311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1" name="TextBox 161"/>
          <p:cNvSpPr txBox="1"/>
          <p:nvPr/>
        </p:nvSpPr>
        <p:spPr>
          <a:xfrm>
            <a:off x="9158355" y="2405037"/>
            <a:ext cx="2078130" cy="4810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• 实现了登录接口</a:t>
            </a:r>
            <a:endParaRPr lang="zh-CN" sz="1080"/>
          </a:p>
          <a:p>
            <a:pPr algn="left"/>
            <a:r>
              <a:rPr lang="zh-CN" sz="108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• 编写了单元测试</a:t>
            </a:r>
            <a:endParaRPr lang="zh-CN" sz="1080"/>
          </a:p>
          <a:p>
            <a:pPr algn="left"/>
            <a:r>
              <a:rPr lang="zh-CN" sz="108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• 接下来建议优化错误处理</a:t>
            </a:r>
            <a:endParaRPr lang="zh-CN" sz="1080"/>
          </a:p>
        </p:txBody>
      </p:sp>
      <p:sp>
        <p:nvSpPr>
          <p:cNvPr id="162" name="TextBox 162"/>
          <p:cNvSpPr txBox="1"/>
          <p:nvPr/>
        </p:nvSpPr>
        <p:spPr>
          <a:xfrm>
            <a:off x="9172938" y="3119260"/>
            <a:ext cx="180104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【详情（1/3）】需求分析</a:t>
            </a:r>
            <a:endParaRPr lang="zh-CN" sz="1180"/>
          </a:p>
        </p:txBody>
      </p:sp>
      <p:sp>
        <p:nvSpPr>
          <p:cNvPr id="163" name="TextBox 163"/>
          <p:cNvSpPr txBox="1"/>
          <p:nvPr/>
        </p:nvSpPr>
        <p:spPr>
          <a:xfrm>
            <a:off x="11025026" y="3148412"/>
            <a:ext cx="3208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4" name="TextBox 164"/>
          <p:cNvSpPr txBox="1"/>
          <p:nvPr/>
        </p:nvSpPr>
        <p:spPr>
          <a:xfrm>
            <a:off x="9165646" y="3323324"/>
            <a:ext cx="1713546" cy="3425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......</a:t>
            </a:r>
            <a:endParaRPr lang="zh-CN" sz="1019"/>
          </a:p>
          <a:p>
            <a:pPr algn="left"/>
            <a:r>
              <a:rPr lang="zh-CN" sz="1019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（内容较长，已自动分段）</a:t>
            </a:r>
            <a:endParaRPr lang="zh-CN" sz="1019"/>
          </a:p>
        </p:txBody>
      </p:sp>
      <p:sp>
        <p:nvSpPr>
          <p:cNvPr id="165" name="TextBox 165"/>
          <p:cNvSpPr txBox="1"/>
          <p:nvPr/>
        </p:nvSpPr>
        <p:spPr>
          <a:xfrm>
            <a:off x="9172938" y="3848060"/>
            <a:ext cx="180104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【详情（2/3）】实现过程</a:t>
            </a:r>
            <a:endParaRPr lang="zh-CN" sz="1180"/>
          </a:p>
        </p:txBody>
      </p:sp>
      <p:sp>
        <p:nvSpPr>
          <p:cNvPr id="166" name="TextBox 166"/>
          <p:cNvSpPr txBox="1"/>
          <p:nvPr/>
        </p:nvSpPr>
        <p:spPr>
          <a:xfrm>
            <a:off x="11025026" y="3877211"/>
            <a:ext cx="3208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7" name="TextBox 167"/>
          <p:cNvSpPr txBox="1"/>
          <p:nvPr/>
        </p:nvSpPr>
        <p:spPr>
          <a:xfrm>
            <a:off x="9172938" y="4205171"/>
            <a:ext cx="180104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【详情（3/3）】测试与结果</a:t>
            </a:r>
            <a:endParaRPr lang="zh-CN" sz="1180"/>
          </a:p>
        </p:txBody>
      </p:sp>
      <p:sp>
        <p:nvSpPr>
          <p:cNvPr id="168" name="TextBox 168"/>
          <p:cNvSpPr txBox="1"/>
          <p:nvPr/>
        </p:nvSpPr>
        <p:spPr>
          <a:xfrm>
            <a:off x="11025026" y="4234323"/>
            <a:ext cx="3208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9" name="TextBox 169"/>
          <p:cNvSpPr txBox="1"/>
          <p:nvPr/>
        </p:nvSpPr>
        <p:spPr>
          <a:xfrm>
            <a:off x="9121896" y="4642451"/>
            <a:ext cx="97708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report.zip</a:t>
            </a:r>
            <a:endParaRPr lang="zh-CN" sz="1400"/>
          </a:p>
        </p:txBody>
      </p:sp>
      <p:sp>
        <p:nvSpPr>
          <p:cNvPr id="170" name="TextBox 170"/>
          <p:cNvSpPr txBox="1"/>
          <p:nvPr/>
        </p:nvSpPr>
        <p:spPr>
          <a:xfrm>
            <a:off x="11025026" y="4686179"/>
            <a:ext cx="328126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10:36</a:t>
            </a:r>
            <a:endParaRPr lang="zh-CN" sz="850"/>
          </a:p>
        </p:txBody>
      </p:sp>
      <p:sp>
        <p:nvSpPr>
          <p:cNvPr id="171" name="TextBox 171"/>
          <p:cNvSpPr txBox="1"/>
          <p:nvPr/>
        </p:nvSpPr>
        <p:spPr>
          <a:xfrm>
            <a:off x="9129188" y="4868378"/>
            <a:ext cx="1560420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（包含 5 个文件）  1.2 MB</a:t>
            </a:r>
            <a:endParaRPr lang="zh-CN" sz="1000"/>
          </a:p>
        </p:txBody>
      </p:sp>
      <p:sp>
        <p:nvSpPr>
          <p:cNvPr id="172" name="TextBox 172"/>
          <p:cNvSpPr txBox="1"/>
          <p:nvPr/>
        </p:nvSpPr>
        <p:spPr>
          <a:xfrm>
            <a:off x="3361466" y="5298370"/>
            <a:ext cx="765627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B6B20"/>
                </a:solidFill>
                <a:latin typeface="PingFang SC"/>
                <a:ea typeface="PingFang SC"/>
                <a:cs typeface="PingFang SC"/>
              </a:rPr>
              <a:t>最终总结</a:t>
            </a:r>
            <a:endParaRPr lang="zh-CN" sz="1700"/>
          </a:p>
        </p:txBody>
      </p:sp>
      <p:sp>
        <p:nvSpPr>
          <p:cNvPr id="173" name="TextBox 173"/>
          <p:cNvSpPr txBox="1"/>
          <p:nvPr/>
        </p:nvSpPr>
        <p:spPr>
          <a:xfrm>
            <a:off x="5257304" y="5298370"/>
            <a:ext cx="1057294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2E76E6"/>
                </a:solidFill>
                <a:latin typeface="PingFang SC"/>
                <a:ea typeface="PingFang SC"/>
                <a:cs typeface="PingFang SC"/>
              </a:rPr>
              <a:t>长回复分段</a:t>
            </a:r>
            <a:endParaRPr lang="zh-CN" sz="1700"/>
          </a:p>
        </p:txBody>
      </p:sp>
      <p:sp>
        <p:nvSpPr>
          <p:cNvPr id="174" name="TextBox 174"/>
          <p:cNvSpPr txBox="1"/>
          <p:nvPr/>
        </p:nvSpPr>
        <p:spPr>
          <a:xfrm>
            <a:off x="7160433" y="5298370"/>
            <a:ext cx="1079169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自动上传文件</a:t>
            </a:r>
            <a:endParaRPr lang="zh-CN" sz="1700"/>
          </a:p>
        </p:txBody>
      </p:sp>
      <p:sp>
        <p:nvSpPr>
          <p:cNvPr id="175" name="TextBox 175"/>
          <p:cNvSpPr txBox="1"/>
          <p:nvPr/>
        </p:nvSpPr>
        <p:spPr>
          <a:xfrm>
            <a:off x="2719798" y="6063609"/>
            <a:ext cx="7619810" cy="3789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需要回传文件时，让 </a:t>
            </a:r>
            <a:r>
              <a:rPr lang="zh-CN" sz="1920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Codex</a:t>
            </a:r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 指定文件路径， </a:t>
            </a:r>
            <a:r>
              <a:rPr lang="zh-CN" sz="1920">
                <a:solidFill>
                  <a:srgbClr val="0B6B20"/>
                </a:solidFill>
                <a:latin typeface="PingFang SC"/>
                <a:ea typeface="PingFang SC"/>
                <a:cs typeface="PingFang SC"/>
              </a:rPr>
              <a:t>Bridge</a:t>
            </a:r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 会发回 </a:t>
            </a:r>
            <a:r>
              <a:rPr lang="zh-CN" sz="1920">
                <a:solidFill>
                  <a:srgbClr val="2E76E6"/>
                </a:solidFill>
                <a:latin typeface="PingFang SC"/>
                <a:ea typeface="PingFang SC"/>
                <a:cs typeface="PingFang SC"/>
              </a:rPr>
              <a:t>Discord</a:t>
            </a:r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。</a:t>
            </a:r>
            <a:endParaRPr lang="zh-CN" sz="1920"/>
          </a:p>
        </p:txBody>
      </p:sp>
      <p:sp>
        <p:nvSpPr>
          <p:cNvPr id="176" name="Line 176"/>
          <p:cNvSpPr/>
          <p:nvPr/>
        </p:nvSpPr>
        <p:spPr>
          <a:xfrm flipV="1">
            <a:off x="9347939" y="6304113"/>
            <a:ext cx="605210" cy="51016"/>
          </a:xfrm>
          <a:prstGeom prst="line">
            <a:avLst/>
          </a:prstGeom>
          <a:noFill/>
          <a:ln w="30480">
            <a:solidFill>
              <a:srgbClr val="2E76E6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568751" y="1778270"/>
            <a:ext cx="2800007" cy="969303"/>
          </a:xfrm>
          <a:prstGeom prst="roundRect">
            <a:avLst>
              <a:gd name="adj" fmla="val 15038"/>
            </a:avLst>
          </a:prstGeom>
          <a:solidFill>
            <a:srgbClr val="FFFFFF"/>
          </a:solidFill>
          <a:ln w="317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268753" y="2864181"/>
            <a:ext cx="2063546" cy="378976"/>
          </a:xfrm>
          <a:prstGeom prst="roundRect">
            <a:avLst>
              <a:gd name="adj" fmla="val 25000"/>
            </a:avLst>
          </a:prstGeom>
          <a:solidFill>
            <a:srgbClr val="F8FB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583335" y="3520100"/>
            <a:ext cx="2792715" cy="998455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 w="317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268753" y="4649739"/>
            <a:ext cx="2070838" cy="378976"/>
          </a:xfrm>
          <a:prstGeom prst="roundRect">
            <a:avLst>
              <a:gd name="adj" fmla="val 25000"/>
            </a:avLst>
          </a:prstGeom>
          <a:solidFill>
            <a:srgbClr val="F8FFF7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800007" y="5298370"/>
            <a:ext cx="1611462" cy="386264"/>
          </a:xfrm>
          <a:prstGeom prst="roundRect">
            <a:avLst>
              <a:gd name="adj" fmla="val 22642"/>
            </a:avLst>
          </a:prstGeom>
          <a:solidFill>
            <a:srgbClr val="F8FB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907303" y="5298370"/>
            <a:ext cx="1786463" cy="386264"/>
          </a:xfrm>
          <a:prstGeom prst="roundRect">
            <a:avLst>
              <a:gd name="adj" fmla="val 22642"/>
            </a:avLst>
          </a:prstGeom>
          <a:solidFill>
            <a:srgbClr val="F8FFF7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790636" y="1785558"/>
            <a:ext cx="2245839" cy="3177564"/>
          </a:xfrm>
          <a:prstGeom prst="roundRect">
            <a:avLst>
              <a:gd name="adj" fmla="val 6494"/>
            </a:avLst>
          </a:prstGeom>
          <a:solidFill>
            <a:srgbClr val="FCFFFB"/>
          </a:solidFill>
          <a:ln w="3556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896893" y="1770982"/>
            <a:ext cx="3623967" cy="336705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3302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998977" y="2354021"/>
            <a:ext cx="3397925" cy="2405037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778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7998977" y="4620587"/>
            <a:ext cx="3397925" cy="36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7175017" y="5298370"/>
            <a:ext cx="2296880" cy="386264"/>
          </a:xfrm>
          <a:prstGeom prst="roundRect">
            <a:avLst>
              <a:gd name="adj" fmla="val 22642"/>
            </a:avLst>
          </a:prstGeom>
          <a:solidFill>
            <a:srgbClr val="FFFDF9"/>
          </a:solidFill>
          <a:ln w="254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560420" y="5895985"/>
            <a:ext cx="9027104" cy="70693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25400">
            <a:solidFill>
              <a:srgbClr val="7BB2FF"/>
            </a:solidFill>
            <a:prstDash val="dash"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787502" y="1996910"/>
            <a:ext cx="444793" cy="444567"/>
          </a:xfrm>
          <a:prstGeom prst="roundRect">
            <a:avLst>
              <a:gd name="adj" fmla="val 14754"/>
            </a:avLst>
          </a:prstGeom>
          <a:solidFill>
            <a:srgbClr val="F8FBFF"/>
          </a:solidFill>
          <a:ln w="317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2778132" y="2747573"/>
            <a:ext cx="58333" cy="12389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836465" y="2747573"/>
            <a:ext cx="58333" cy="12389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72918" y="3731452"/>
            <a:ext cx="444793" cy="444567"/>
          </a:xfrm>
          <a:prstGeom prst="roundRect">
            <a:avLst>
              <a:gd name="adj" fmla="val 14754"/>
            </a:avLst>
          </a:prstGeom>
          <a:solidFill>
            <a:srgbClr val="F8FFF7"/>
          </a:solidFill>
          <a:ln w="317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V="1">
            <a:off x="2778132" y="4518555"/>
            <a:ext cx="58333" cy="131184"/>
          </a:xfrm>
          <a:prstGeom prst="line">
            <a:avLst/>
          </a:prstGeom>
          <a:noFill/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836465" y="4518555"/>
            <a:ext cx="58333" cy="131184"/>
          </a:xfrm>
          <a:prstGeom prst="line">
            <a:avLst/>
          </a:prstGeom>
          <a:noFill/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3018757" y="5385826"/>
            <a:ext cx="262501" cy="211352"/>
          </a:xfrm>
          <a:prstGeom prst="roundRect">
            <a:avLst>
              <a:gd name="adj" fmla="val 17241"/>
            </a:avLst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8531270" y="3017228"/>
            <a:ext cx="2712506" cy="1508614"/>
          </a:xfrm>
          <a:prstGeom prst="roundRect">
            <a:avLst>
              <a:gd name="adj" fmla="val 3865"/>
            </a:avLst>
          </a:prstGeom>
          <a:solidFill>
            <a:srgbClr val="FAFBFE"/>
          </a:solidFill>
          <a:ln w="20320">
            <a:solidFill>
              <a:srgbClr val="A9B3C3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150007" y="1100487"/>
            <a:ext cx="5782305" cy="0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V="1">
            <a:off x="3682300" y="1034895"/>
            <a:ext cx="4921887" cy="16033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902090" y="313384"/>
            <a:ext cx="51042" cy="16033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2953132" y="473719"/>
            <a:ext cx="109375" cy="5101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2953132" y="524735"/>
            <a:ext cx="109375" cy="58304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H="1">
            <a:off x="2872923" y="583039"/>
            <a:ext cx="80209" cy="167624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 flipV="1">
            <a:off x="2814590" y="575751"/>
            <a:ext cx="58333" cy="174912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 flipV="1">
            <a:off x="2712506" y="524735"/>
            <a:ext cx="102084" cy="5101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V="1">
            <a:off x="2712506" y="473719"/>
            <a:ext cx="116667" cy="5101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V="1">
            <a:off x="2829173" y="313384"/>
            <a:ext cx="72917" cy="160336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916673" y="757951"/>
            <a:ext cx="131250" cy="29152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902090" y="867271"/>
            <a:ext cx="123959" cy="29152"/>
          </a:xfrm>
          <a:prstGeom prst="line">
            <a:avLst/>
          </a:prstGeom>
          <a:noFill/>
          <a:ln w="381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V="1">
            <a:off x="9092730" y="218640"/>
            <a:ext cx="160417" cy="196776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 flipV="1">
            <a:off x="9289605" y="437279"/>
            <a:ext cx="189584" cy="109320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9238563" y="677783"/>
            <a:ext cx="182292" cy="10203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 flipV="1">
            <a:off x="3055215" y="5465994"/>
            <a:ext cx="80209" cy="8745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3135424" y="5465994"/>
            <a:ext cx="65625" cy="65592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V="1">
            <a:off x="3201049" y="5451418"/>
            <a:ext cx="58333" cy="80168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3208341" y="5414978"/>
            <a:ext cx="36458" cy="36440"/>
          </a:xfrm>
          <a:prstGeom prst="ellipse">
            <a:avLst/>
          </a:prstGeom>
          <a:solidFill>
            <a:srgbClr val="1F67D8"/>
          </a:solidFill>
          <a:ln w="127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V="1">
            <a:off x="5111470" y="5371250"/>
            <a:ext cx="175000" cy="17491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V="1">
            <a:off x="5169804" y="5429554"/>
            <a:ext cx="175000" cy="17491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 flipV="1">
            <a:off x="5293762" y="5342098"/>
            <a:ext cx="87500" cy="29152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5082304" y="5582601"/>
            <a:ext cx="0" cy="65592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8071894" y="1887590"/>
            <a:ext cx="371876" cy="371688"/>
          </a:xfrm>
          <a:prstGeom prst="ellipse">
            <a:avLst/>
          </a:prstGeom>
          <a:solidFill>
            <a:srgbClr val="5865F2"/>
          </a:solidFill>
          <a:ln w="25400">
            <a:solidFill>
              <a:srgbClr val="5865F2"/>
            </a:solidFill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8137519" y="2477917"/>
            <a:ext cx="277084" cy="276944"/>
          </a:xfrm>
          <a:prstGeom prst="ellipse">
            <a:avLst/>
          </a:prstGeom>
          <a:solidFill>
            <a:srgbClr val="5EA75D"/>
          </a:solidFill>
          <a:ln w="190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8983354" y="2507069"/>
            <a:ext cx="284376" cy="138472"/>
          </a:xfrm>
          <a:prstGeom prst="roundRect">
            <a:avLst>
              <a:gd name="adj" fmla="val 21053"/>
            </a:avLst>
          </a:prstGeom>
          <a:solidFill>
            <a:srgbClr val="5865F2"/>
          </a:solidFill>
          <a:ln w="12700">
            <a:solidFill>
              <a:srgbClr val="5865F2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V="1">
            <a:off x="7408351" y="5356674"/>
            <a:ext cx="196875" cy="196776"/>
          </a:xfrm>
          <a:prstGeom prst="line">
            <a:avLst/>
          </a:prstGeom>
          <a:noFill/>
          <a:ln w="508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7357309" y="5305658"/>
            <a:ext cx="196875" cy="196776"/>
          </a:xfrm>
          <a:prstGeom prst="line">
            <a:avLst/>
          </a:prstGeom>
          <a:noFill/>
          <a:ln w="508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1873963" y="6070897"/>
            <a:ext cx="277084" cy="276944"/>
          </a:xfrm>
          <a:prstGeom prst="ellipse">
            <a:avLst/>
          </a:prstGeom>
          <a:solidFill>
            <a:srgbClr val="F8FBFF"/>
          </a:solidFill>
          <a:ln w="2794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954171" y="6347841"/>
            <a:ext cx="123959" cy="116608"/>
          </a:xfrm>
          <a:prstGeom prst="rect">
            <a:avLst/>
          </a:prstGeom>
          <a:solidFill>
            <a:srgbClr val="F8FB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079169" y="3818908"/>
            <a:ext cx="0" cy="0"/>
          </a:xfrm>
          <a:prstGeom prst="line">
            <a:avLst/>
          </a:prstGeom>
          <a:noFill/>
          <a:ln w="635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050002" y="3789756"/>
            <a:ext cx="58333" cy="58304"/>
          </a:xfrm>
          <a:prstGeom prst="ellipse">
            <a:avLst/>
          </a:prstGeom>
          <a:solidFill>
            <a:srgbClr val="2A7030"/>
          </a:solidFill>
          <a:ln w="127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V="1">
            <a:off x="823960" y="3928227"/>
            <a:ext cx="138542" cy="167624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962502" y="3928227"/>
            <a:ext cx="109375" cy="131184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V="1">
            <a:off x="1071878" y="3971955"/>
            <a:ext cx="87500" cy="87456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838544" y="4095851"/>
            <a:ext cx="313542" cy="0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5548971" y="1989622"/>
            <a:ext cx="350001" cy="182200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5898972" y="1989622"/>
            <a:ext cx="350001" cy="182200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248973" y="2171821"/>
            <a:ext cx="0" cy="378976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H="1">
            <a:off x="5898972" y="2550797"/>
            <a:ext cx="350001" cy="2040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H="1" flipV="1">
            <a:off x="5541680" y="2558085"/>
            <a:ext cx="357293" cy="196776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5541680" y="2171821"/>
            <a:ext cx="7292" cy="3862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5898972" y="2375885"/>
            <a:ext cx="0" cy="378976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 flipV="1">
            <a:off x="5548971" y="2171821"/>
            <a:ext cx="350001" cy="2040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5898972" y="2171821"/>
            <a:ext cx="350001" cy="2040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5191679" y="2266565"/>
            <a:ext cx="87500" cy="80168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5147929" y="2419613"/>
            <a:ext cx="109375" cy="29152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V="1">
            <a:off x="5191679" y="2521645"/>
            <a:ext cx="87500" cy="5830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H="1">
            <a:off x="6518765" y="2266565"/>
            <a:ext cx="80209" cy="80168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H="1">
            <a:off x="6533349" y="2426901"/>
            <a:ext cx="109375" cy="2186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H="1" flipV="1">
            <a:off x="6518765" y="2521645"/>
            <a:ext cx="87500" cy="58304"/>
          </a:xfrm>
          <a:prstGeom prst="line">
            <a:avLst/>
          </a:prstGeom>
          <a:noFill/>
          <a:ln w="381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V="1">
            <a:off x="5563555" y="3053668"/>
            <a:ext cx="809377" cy="21864"/>
          </a:xfrm>
          <a:prstGeom prst="line">
            <a:avLst/>
          </a:prstGeom>
          <a:noFill/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4980220" y="3695012"/>
            <a:ext cx="1866671" cy="0"/>
          </a:xfrm>
          <a:prstGeom prst="line">
            <a:avLst/>
          </a:prstGeom>
          <a:noFill/>
          <a:ln w="25400">
            <a:solidFill>
              <a:srgbClr val="2A7030"/>
            </a:solidFill>
            <a:prstDash val="dash"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5016678" y="3855348"/>
            <a:ext cx="196875" cy="196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5016678" y="4183307"/>
            <a:ext cx="196875" cy="196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5016678" y="4518555"/>
            <a:ext cx="196875" cy="196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8188561" y="2040638"/>
            <a:ext cx="43750" cy="58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8297936" y="2040638"/>
            <a:ext cx="43750" cy="58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8188561" y="2157245"/>
            <a:ext cx="160417" cy="0"/>
          </a:xfrm>
          <a:prstGeom prst="lin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8203144" y="2543509"/>
            <a:ext cx="145834" cy="145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8319811" y="2660117"/>
            <a:ext cx="51042" cy="36440"/>
          </a:xfrm>
          <a:prstGeom prst="line">
            <a:avLst/>
          </a:prstGeom>
          <a:noFill/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8698979" y="3432644"/>
            <a:ext cx="116667" cy="116608"/>
          </a:xfrm>
          <a:prstGeom prst="ellips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>
            <a:off x="8633354" y="3592980"/>
            <a:ext cx="58333" cy="11660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8815646" y="3592980"/>
            <a:ext cx="58333" cy="11660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8691687" y="3592980"/>
            <a:ext cx="123959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8881271" y="3556540"/>
            <a:ext cx="211459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H="1" flipV="1">
            <a:off x="9034396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H="1">
            <a:off x="9034396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9151063" y="3432644"/>
            <a:ext cx="262501" cy="204064"/>
          </a:xfrm>
          <a:prstGeom prst="rect">
            <a:avLst/>
          </a:prstGeom>
          <a:solidFill>
            <a:srgbClr val="D8F1FF"/>
          </a:solidFill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9282313" y="3636708"/>
            <a:ext cx="0" cy="7288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9216688" y="3709588"/>
            <a:ext cx="131250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9450022" y="3556540"/>
            <a:ext cx="218751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H="1" flipV="1">
            <a:off x="9610439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H="1">
            <a:off x="9610439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7" name="Roundrect 97"/>
          <p:cNvSpPr/>
          <p:nvPr/>
        </p:nvSpPr>
        <p:spPr>
          <a:xfrm>
            <a:off x="9741689" y="3432644"/>
            <a:ext cx="233334" cy="233216"/>
          </a:xfrm>
          <a:prstGeom prst="roundRect">
            <a:avLst>
              <a:gd name="adj" fmla="val 9375"/>
            </a:avLst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0018773" y="3556540"/>
            <a:ext cx="226042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 flipV="1">
            <a:off x="10186482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>
            <a:off x="10186482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10310441" y="3425356"/>
            <a:ext cx="255209" cy="255080"/>
          </a:xfrm>
          <a:prstGeom prst="ellipse">
            <a:avLst/>
          </a:prstGeom>
          <a:solidFill>
            <a:srgbClr val="F8FBFF"/>
          </a:solidFill>
          <a:ln w="2159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0609400" y="3556540"/>
            <a:ext cx="211459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 flipV="1">
            <a:off x="10762525" y="3512812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10762525" y="3556540"/>
            <a:ext cx="58333" cy="43728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0886484" y="3483660"/>
            <a:ext cx="211459" cy="196776"/>
          </a:xfrm>
          <a:prstGeom prst="rect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H="1">
            <a:off x="10208357" y="3702300"/>
            <a:ext cx="226042" cy="349824"/>
          </a:xfrm>
          <a:prstGeom prst="line">
            <a:avLst/>
          </a:prstGeom>
          <a:noFill/>
          <a:ln w="15240">
            <a:solidFill>
              <a:srgbClr val="0B2A62"/>
            </a:solidFill>
            <a:prstDash val="dash"/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10434399" y="3702300"/>
            <a:ext cx="313542" cy="349824"/>
          </a:xfrm>
          <a:prstGeom prst="line">
            <a:avLst/>
          </a:prstGeom>
          <a:noFill/>
          <a:ln w="15240">
            <a:solidFill>
              <a:srgbClr val="0B2A62"/>
            </a:solidFill>
            <a:prstDash val="dash"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0018773" y="4183307"/>
            <a:ext cx="350001" cy="262368"/>
          </a:xfrm>
          <a:prstGeom prst="rect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0580233" y="4183307"/>
            <a:ext cx="422918" cy="262368"/>
          </a:xfrm>
          <a:prstGeom prst="rect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8159394" y="4729906"/>
            <a:ext cx="153125" cy="196776"/>
          </a:xfrm>
          <a:prstGeom prst="rect">
            <a:avLst/>
          </a:prstGeom>
          <a:noFill/>
          <a:ln w="1905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1141693" y="4737194"/>
            <a:ext cx="0" cy="167624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 flipV="1">
            <a:off x="11076068" y="4839226"/>
            <a:ext cx="65625" cy="65592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 flipV="1">
            <a:off x="11141693" y="4839226"/>
            <a:ext cx="65625" cy="65592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1076068" y="4933970"/>
            <a:ext cx="131250" cy="0"/>
          </a:xfrm>
          <a:prstGeom prst="line">
            <a:avLst/>
          </a:prstGeom>
          <a:noFill/>
          <a:ln w="2540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7466684" y="5393114"/>
            <a:ext cx="160417" cy="160336"/>
          </a:xfrm>
          <a:prstGeom prst="line">
            <a:avLst/>
          </a:prstGeom>
          <a:noFill/>
          <a:ln w="25400">
            <a:solidFill>
              <a:srgbClr val="F05A14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939588" y="6406145"/>
            <a:ext cx="153125" cy="0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968755" y="6464448"/>
            <a:ext cx="102084" cy="0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2012505" y="5888697"/>
            <a:ext cx="0" cy="94744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H="1" flipV="1">
            <a:off x="1742712" y="6005305"/>
            <a:ext cx="80209" cy="5101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2209380" y="6005305"/>
            <a:ext cx="80209" cy="51016"/>
          </a:xfrm>
          <a:prstGeom prst="line">
            <a:avLst/>
          </a:prstGeom>
          <a:noFill/>
          <a:ln w="2540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5067720" y="3957379"/>
            <a:ext cx="36458" cy="43728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5104179" y="3913651"/>
            <a:ext cx="72917" cy="87456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5067720" y="4285339"/>
            <a:ext cx="36458" cy="43728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5104179" y="4241611"/>
            <a:ext cx="72917" cy="87456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5067720" y="4620587"/>
            <a:ext cx="36458" cy="43728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 flipV="1">
            <a:off x="5104179" y="4576859"/>
            <a:ext cx="72917" cy="87456"/>
          </a:xfrm>
          <a:prstGeom prst="line">
            <a:avLst/>
          </a:prstGeom>
          <a:noFill/>
          <a:ln w="3048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9858356" y="3476372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>
            <a:off x="9858356" y="3556540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H="1" flipV="1">
            <a:off x="9792731" y="3556540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V="1">
            <a:off x="9792731" y="3476372"/>
            <a:ext cx="65625" cy="80168"/>
          </a:xfrm>
          <a:prstGeom prst="line">
            <a:avLst/>
          </a:prstGeom>
          <a:noFill/>
          <a:ln w="190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10397941" y="3512812"/>
            <a:ext cx="80209" cy="80168"/>
          </a:xfrm>
          <a:prstGeom prst="ellips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0441691" y="3388916"/>
            <a:ext cx="0" cy="51016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10441691" y="3665860"/>
            <a:ext cx="0" cy="58304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10273982" y="3556540"/>
            <a:ext cx="51042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10558358" y="3556540"/>
            <a:ext cx="58333" cy="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10325024" y="3439932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H="1">
            <a:off x="10521900" y="3439932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 flipV="1">
            <a:off x="10332316" y="3636708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H="1" flipV="1">
            <a:off x="10514608" y="3636708"/>
            <a:ext cx="36458" cy="36440"/>
          </a:xfrm>
          <a:prstGeom prst="lin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10886484" y="3425356"/>
            <a:ext cx="211459" cy="102032"/>
          </a:xfrm>
          <a:prstGeom prst="ellipse">
            <a:avLst/>
          </a:prstGeom>
          <a:solidFill>
            <a:srgbClr val="F8FBFF"/>
          </a:solidFill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10886484" y="3629420"/>
            <a:ext cx="211459" cy="102032"/>
          </a:xfrm>
          <a:prstGeom prst="ellipse">
            <a:avLst/>
          </a:prstGeom>
          <a:noFill/>
          <a:ln w="19050">
            <a:solidFill>
              <a:srgbClr val="0B2A62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8254186" y="4729906"/>
            <a:ext cx="58333" cy="58304"/>
          </a:xfrm>
          <a:prstGeom prst="line">
            <a:avLst/>
          </a:prstGeom>
          <a:noFill/>
          <a:ln w="1905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8254186" y="4788210"/>
            <a:ext cx="58333" cy="0"/>
          </a:xfrm>
          <a:prstGeom prst="line">
            <a:avLst/>
          </a:prstGeom>
          <a:noFill/>
          <a:ln w="1905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8203144" y="4839226"/>
            <a:ext cx="72917" cy="0"/>
          </a:xfrm>
          <a:prstGeom prst="line">
            <a:avLst/>
          </a:prstGeom>
          <a:noFill/>
          <a:ln w="15240">
            <a:solidFill>
              <a:srgbClr val="536B95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>
            <a:off x="3478133" y="2405037"/>
            <a:ext cx="1064586" cy="0"/>
          </a:xfrm>
          <a:prstGeom prst="line">
            <a:avLst/>
          </a:prstGeom>
          <a:noFill/>
          <a:ln w="571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 flipH="1" flipV="1">
            <a:off x="4396885" y="2295717"/>
            <a:ext cx="145834" cy="109320"/>
          </a:xfrm>
          <a:prstGeom prst="line">
            <a:avLst/>
          </a:prstGeom>
          <a:noFill/>
          <a:ln w="571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 flipH="1">
            <a:off x="4396885" y="2405037"/>
            <a:ext cx="145834" cy="109320"/>
          </a:xfrm>
          <a:prstGeom prst="line">
            <a:avLst/>
          </a:prstGeom>
          <a:noFill/>
          <a:ln w="57150">
            <a:solidFill>
              <a:srgbClr val="1F67D8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3478133" y="4168731"/>
            <a:ext cx="1064586" cy="0"/>
          </a:xfrm>
          <a:prstGeom prst="line">
            <a:avLst/>
          </a:prstGeom>
          <a:noFill/>
          <a:ln w="571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H="1" flipV="1">
            <a:off x="4396885" y="4059411"/>
            <a:ext cx="145834" cy="109320"/>
          </a:xfrm>
          <a:prstGeom prst="line">
            <a:avLst/>
          </a:prstGeom>
          <a:noFill/>
          <a:ln w="571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H="1">
            <a:off x="4396885" y="4168731"/>
            <a:ext cx="145834" cy="109320"/>
          </a:xfrm>
          <a:prstGeom prst="line">
            <a:avLst/>
          </a:prstGeom>
          <a:noFill/>
          <a:ln w="5715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7153142" y="3250444"/>
            <a:ext cx="576043" cy="116608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H="1" flipV="1">
            <a:off x="7605226" y="3274130"/>
            <a:ext cx="123959" cy="9292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H="1">
            <a:off x="7605226" y="3367052"/>
            <a:ext cx="123959" cy="92922"/>
          </a:xfrm>
          <a:prstGeom prst="line">
            <a:avLst/>
          </a:prstGeom>
          <a:noFill/>
          <a:ln w="50800">
            <a:solidFill>
              <a:srgbClr val="2A7030"/>
            </a:solidFill>
          </a:ln>
        </p:spPr>
        <p:txBody>
          <a:bodyPr/>
          <a:lstStyle/>
          <a:p/>
        </p:txBody>
      </p:sp>
      <p:sp>
        <p:nvSpPr>
          <p:cNvPr id="154" name="TextBox 154"/>
          <p:cNvSpPr txBox="1"/>
          <p:nvPr/>
        </p:nvSpPr>
        <p:spPr>
          <a:xfrm>
            <a:off x="3317716" y="320672"/>
            <a:ext cx="5578138" cy="69964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4300" b="1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原生生图与编辑图</a:t>
            </a:r>
            <a:endParaRPr lang="zh-CN" sz="4300"/>
          </a:p>
        </p:txBody>
      </p:sp>
      <p:sp>
        <p:nvSpPr>
          <p:cNvPr id="155" name="TextBox 155"/>
          <p:cNvSpPr txBox="1"/>
          <p:nvPr/>
        </p:nvSpPr>
        <p:spPr>
          <a:xfrm>
            <a:off x="1093753" y="1413870"/>
            <a:ext cx="1677087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1057BE"/>
                </a:solidFill>
                <a:latin typeface="HanziPen SC"/>
                <a:ea typeface="HanziPen SC"/>
                <a:cs typeface="HanziPen SC"/>
              </a:rPr>
              <a:t>输入（两种方式）</a:t>
            </a:r>
            <a:endParaRPr lang="zh-CN" sz="2000"/>
          </a:p>
        </p:txBody>
      </p:sp>
      <p:sp>
        <p:nvSpPr>
          <p:cNvPr id="156" name="TextBox 156"/>
          <p:cNvSpPr txBox="1"/>
          <p:nvPr/>
        </p:nvSpPr>
        <p:spPr>
          <a:xfrm>
            <a:off x="8647937" y="1413870"/>
            <a:ext cx="2260422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F05A14"/>
                </a:solidFill>
                <a:latin typeface="HanziPen SC"/>
                <a:ea typeface="HanziPen SC"/>
                <a:cs typeface="HanziPen SC"/>
              </a:rPr>
              <a:t>输出（返回 Discord）</a:t>
            </a:r>
            <a:endParaRPr lang="zh-CN" sz="2000"/>
          </a:p>
        </p:txBody>
      </p:sp>
      <p:sp>
        <p:nvSpPr>
          <p:cNvPr id="157" name="TextBox 157"/>
          <p:cNvSpPr txBox="1"/>
          <p:nvPr/>
        </p:nvSpPr>
        <p:spPr>
          <a:xfrm>
            <a:off x="896877" y="2069790"/>
            <a:ext cx="247917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600" b="1">
                <a:solidFill>
                  <a:srgbClr val="1057BE"/>
                </a:solidFill>
                <a:latin typeface="PingFang SC"/>
                <a:ea typeface="PingFang SC"/>
                <a:cs typeface="PingFang SC"/>
              </a:rPr>
              <a:t>T</a:t>
            </a:r>
            <a:endParaRPr lang="zh-CN" sz="2600"/>
          </a:p>
        </p:txBody>
      </p:sp>
      <p:sp>
        <p:nvSpPr>
          <p:cNvPr id="158" name="TextBox 158"/>
          <p:cNvSpPr txBox="1"/>
          <p:nvPr/>
        </p:nvSpPr>
        <p:spPr>
          <a:xfrm>
            <a:off x="1370837" y="1996910"/>
            <a:ext cx="1203128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2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文本提示词</a:t>
            </a:r>
            <a:endParaRPr lang="zh-CN" sz="1920"/>
          </a:p>
        </p:txBody>
      </p:sp>
      <p:sp>
        <p:nvSpPr>
          <p:cNvPr id="159" name="TextBox 159"/>
          <p:cNvSpPr txBox="1"/>
          <p:nvPr/>
        </p:nvSpPr>
        <p:spPr>
          <a:xfrm>
            <a:off x="1370837" y="2273853"/>
            <a:ext cx="1822921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用自然语言描述你想要的图，</a:t>
            </a:r>
            <a:endParaRPr lang="zh-CN" sz="1140"/>
          </a:p>
        </p:txBody>
      </p:sp>
      <p:sp>
        <p:nvSpPr>
          <p:cNvPr id="160" name="TextBox 160"/>
          <p:cNvSpPr txBox="1"/>
          <p:nvPr/>
        </p:nvSpPr>
        <p:spPr>
          <a:xfrm>
            <a:off x="1370837" y="2499781"/>
            <a:ext cx="109375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越具体越好。</a:t>
            </a:r>
            <a:endParaRPr lang="zh-CN" sz="1140"/>
          </a:p>
        </p:txBody>
      </p:sp>
      <p:sp>
        <p:nvSpPr>
          <p:cNvPr id="161" name="TextBox 161"/>
          <p:cNvSpPr txBox="1"/>
          <p:nvPr/>
        </p:nvSpPr>
        <p:spPr>
          <a:xfrm>
            <a:off x="1436462" y="2988077"/>
            <a:ext cx="1750004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480">
                <a:solidFill>
                  <a:srgbClr val="1057BE"/>
                </a:solidFill>
                <a:latin typeface="HanziPen SC"/>
                <a:ea typeface="HanziPen SC"/>
                <a:cs typeface="HanziPen SC"/>
              </a:rPr>
              <a:t>示例：生成一张架构图</a:t>
            </a:r>
            <a:endParaRPr lang="zh-CN" sz="1480"/>
          </a:p>
        </p:txBody>
      </p:sp>
      <p:sp>
        <p:nvSpPr>
          <p:cNvPr id="162" name="TextBox 162"/>
          <p:cNvSpPr txBox="1"/>
          <p:nvPr/>
        </p:nvSpPr>
        <p:spPr>
          <a:xfrm>
            <a:off x="1378128" y="3716876"/>
            <a:ext cx="113021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2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上传图片</a:t>
            </a:r>
            <a:endParaRPr lang="zh-CN" sz="1920"/>
          </a:p>
        </p:txBody>
      </p:sp>
      <p:sp>
        <p:nvSpPr>
          <p:cNvPr id="163" name="TextBox 163"/>
          <p:cNvSpPr txBox="1"/>
          <p:nvPr/>
        </p:nvSpPr>
        <p:spPr>
          <a:xfrm>
            <a:off x="1378128" y="3993819"/>
            <a:ext cx="1822921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上传图片进行编辑、修改或</a:t>
            </a:r>
            <a:endParaRPr lang="zh-CN" sz="1140"/>
          </a:p>
        </p:txBody>
      </p:sp>
      <p:sp>
        <p:nvSpPr>
          <p:cNvPr id="164" name="TextBox 164"/>
          <p:cNvSpPr txBox="1"/>
          <p:nvPr/>
        </p:nvSpPr>
        <p:spPr>
          <a:xfrm>
            <a:off x="1378128" y="4227035"/>
            <a:ext cx="98437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风格转换。</a:t>
            </a:r>
            <a:endParaRPr lang="zh-CN" sz="1140"/>
          </a:p>
        </p:txBody>
      </p:sp>
      <p:sp>
        <p:nvSpPr>
          <p:cNvPr id="165" name="TextBox 165"/>
          <p:cNvSpPr txBox="1"/>
          <p:nvPr/>
        </p:nvSpPr>
        <p:spPr>
          <a:xfrm>
            <a:off x="1443753" y="4773634"/>
            <a:ext cx="1750004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4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示例：编辑这张封面</a:t>
            </a:r>
            <a:endParaRPr lang="zh-CN" sz="1480"/>
          </a:p>
        </p:txBody>
      </p:sp>
      <p:sp>
        <p:nvSpPr>
          <p:cNvPr id="166" name="TextBox 166"/>
          <p:cNvSpPr txBox="1"/>
          <p:nvPr/>
        </p:nvSpPr>
        <p:spPr>
          <a:xfrm>
            <a:off x="3397925" y="5422266"/>
            <a:ext cx="81666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80">
                <a:solidFill>
                  <a:srgbClr val="1057BE"/>
                </a:solidFill>
                <a:latin typeface="HanziPen SC"/>
                <a:ea typeface="HanziPen SC"/>
                <a:cs typeface="HanziPen SC"/>
              </a:rPr>
              <a:t>直接生图</a:t>
            </a:r>
            <a:endParaRPr lang="zh-CN" sz="1580"/>
          </a:p>
        </p:txBody>
      </p:sp>
      <p:sp>
        <p:nvSpPr>
          <p:cNvPr id="167" name="TextBox 167"/>
          <p:cNvSpPr txBox="1"/>
          <p:nvPr/>
        </p:nvSpPr>
        <p:spPr>
          <a:xfrm>
            <a:off x="5476054" y="5422266"/>
            <a:ext cx="98437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上传后编辑</a:t>
            </a:r>
            <a:endParaRPr lang="zh-CN" sz="1580"/>
          </a:p>
        </p:txBody>
      </p:sp>
      <p:sp>
        <p:nvSpPr>
          <p:cNvPr id="168" name="TextBox 168"/>
          <p:cNvSpPr txBox="1"/>
          <p:nvPr/>
        </p:nvSpPr>
        <p:spPr>
          <a:xfrm>
            <a:off x="6001056" y="2332157"/>
            <a:ext cx="255209" cy="3060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90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C</a:t>
            </a:r>
            <a:endParaRPr lang="zh-CN" sz="2900"/>
          </a:p>
        </p:txBody>
      </p:sp>
      <p:sp>
        <p:nvSpPr>
          <p:cNvPr id="169" name="TextBox 169"/>
          <p:cNvSpPr txBox="1"/>
          <p:nvPr/>
        </p:nvSpPr>
        <p:spPr>
          <a:xfrm>
            <a:off x="5541680" y="2864181"/>
            <a:ext cx="875002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35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Codex</a:t>
            </a:r>
            <a:endParaRPr lang="zh-CN" sz="2350"/>
          </a:p>
        </p:txBody>
      </p:sp>
      <p:sp>
        <p:nvSpPr>
          <p:cNvPr id="170" name="TextBox 170"/>
          <p:cNvSpPr txBox="1"/>
          <p:nvPr/>
        </p:nvSpPr>
        <p:spPr>
          <a:xfrm>
            <a:off x="5140637" y="3206716"/>
            <a:ext cx="1531254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image_generation /</a:t>
            </a:r>
            <a:endParaRPr lang="zh-CN" sz="1680"/>
          </a:p>
        </p:txBody>
      </p:sp>
      <p:sp>
        <p:nvSpPr>
          <p:cNvPr id="171" name="TextBox 171"/>
          <p:cNvSpPr txBox="1"/>
          <p:nvPr/>
        </p:nvSpPr>
        <p:spPr>
          <a:xfrm>
            <a:off x="5301054" y="3447220"/>
            <a:ext cx="1203128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8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GPT Image 2</a:t>
            </a:r>
            <a:endParaRPr lang="zh-CN" sz="1680"/>
          </a:p>
        </p:txBody>
      </p:sp>
      <p:sp>
        <p:nvSpPr>
          <p:cNvPr id="172" name="TextBox 172"/>
          <p:cNvSpPr txBox="1"/>
          <p:nvPr/>
        </p:nvSpPr>
        <p:spPr>
          <a:xfrm>
            <a:off x="5337512" y="3884499"/>
            <a:ext cx="138542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理解你的需求</a:t>
            </a:r>
            <a:endParaRPr lang="zh-CN" sz="1550"/>
          </a:p>
        </p:txBody>
      </p:sp>
      <p:sp>
        <p:nvSpPr>
          <p:cNvPr id="173" name="TextBox 173"/>
          <p:cNvSpPr txBox="1"/>
          <p:nvPr/>
        </p:nvSpPr>
        <p:spPr>
          <a:xfrm>
            <a:off x="5337512" y="4212459"/>
            <a:ext cx="138542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生成或编辑图片</a:t>
            </a:r>
            <a:endParaRPr lang="zh-CN" sz="1550"/>
          </a:p>
        </p:txBody>
      </p:sp>
      <p:sp>
        <p:nvSpPr>
          <p:cNvPr id="174" name="TextBox 174"/>
          <p:cNvSpPr txBox="1"/>
          <p:nvPr/>
        </p:nvSpPr>
        <p:spPr>
          <a:xfrm>
            <a:off x="5337512" y="4547707"/>
            <a:ext cx="1385420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输出 PNG 文件</a:t>
            </a:r>
            <a:endParaRPr lang="zh-CN" sz="1550"/>
          </a:p>
        </p:txBody>
      </p:sp>
      <p:sp>
        <p:nvSpPr>
          <p:cNvPr id="175" name="TextBox 175"/>
          <p:cNvSpPr txBox="1"/>
          <p:nvPr/>
        </p:nvSpPr>
        <p:spPr>
          <a:xfrm>
            <a:off x="8538562" y="2011486"/>
            <a:ext cx="218750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1057BE"/>
                </a:solidFill>
                <a:latin typeface="PingFang SC"/>
                <a:ea typeface="PingFang SC"/>
                <a:cs typeface="PingFang SC"/>
              </a:rPr>
              <a:t>Discord 频道 # api-项目</a:t>
            </a:r>
            <a:endParaRPr lang="zh-CN" sz="1500"/>
          </a:p>
        </p:txBody>
      </p:sp>
      <p:sp>
        <p:nvSpPr>
          <p:cNvPr id="176" name="TextBox 176"/>
          <p:cNvSpPr txBox="1"/>
          <p:nvPr/>
        </p:nvSpPr>
        <p:spPr>
          <a:xfrm>
            <a:off x="8531270" y="2521645"/>
            <a:ext cx="408334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</a:t>
            </a:r>
            <a:endParaRPr lang="zh-CN" sz="1350"/>
          </a:p>
        </p:txBody>
      </p:sp>
      <p:sp>
        <p:nvSpPr>
          <p:cNvPr id="177" name="TextBox 177"/>
          <p:cNvSpPr txBox="1"/>
          <p:nvPr/>
        </p:nvSpPr>
        <p:spPr>
          <a:xfrm>
            <a:off x="9012521" y="2528933"/>
            <a:ext cx="226042" cy="947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7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BOT</a:t>
            </a:r>
            <a:endParaRPr lang="zh-CN" sz="770"/>
          </a:p>
        </p:txBody>
      </p:sp>
      <p:sp>
        <p:nvSpPr>
          <p:cNvPr id="178" name="TextBox 178"/>
          <p:cNvSpPr txBox="1"/>
          <p:nvPr/>
        </p:nvSpPr>
        <p:spPr>
          <a:xfrm>
            <a:off x="9347939" y="2528933"/>
            <a:ext cx="401043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34436B"/>
                </a:solidFill>
                <a:latin typeface="PingFang SC"/>
                <a:ea typeface="PingFang SC"/>
                <a:cs typeface="PingFang SC"/>
              </a:rPr>
              <a:t>10:42</a:t>
            </a:r>
            <a:endParaRPr lang="zh-CN" sz="1130"/>
          </a:p>
        </p:txBody>
      </p:sp>
      <p:sp>
        <p:nvSpPr>
          <p:cNvPr id="179" name="TextBox 179"/>
          <p:cNvSpPr txBox="1"/>
          <p:nvPr/>
        </p:nvSpPr>
        <p:spPr>
          <a:xfrm>
            <a:off x="8531270" y="2776725"/>
            <a:ext cx="1531254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已生成图片，见附件：</a:t>
            </a:r>
            <a:endParaRPr lang="zh-CN" sz="1300"/>
          </a:p>
        </p:txBody>
      </p:sp>
      <p:sp>
        <p:nvSpPr>
          <p:cNvPr id="180" name="TextBox 180"/>
          <p:cNvSpPr txBox="1"/>
          <p:nvPr/>
        </p:nvSpPr>
        <p:spPr>
          <a:xfrm>
            <a:off x="9508356" y="3104684"/>
            <a:ext cx="729168" cy="1311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00" b="1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系统架构图</a:t>
            </a:r>
            <a:endParaRPr lang="zh-CN" sz="900"/>
          </a:p>
        </p:txBody>
      </p:sp>
      <p:sp>
        <p:nvSpPr>
          <p:cNvPr id="181" name="TextBox 181"/>
          <p:cNvSpPr txBox="1"/>
          <p:nvPr/>
        </p:nvSpPr>
        <p:spPr>
          <a:xfrm>
            <a:off x="8655229" y="3760604"/>
            <a:ext cx="2333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用户</a:t>
            </a:r>
            <a:endParaRPr lang="zh-CN" sz="680"/>
          </a:p>
        </p:txBody>
      </p:sp>
      <p:sp>
        <p:nvSpPr>
          <p:cNvPr id="182" name="TextBox 182"/>
          <p:cNvSpPr txBox="1"/>
          <p:nvPr/>
        </p:nvSpPr>
        <p:spPr>
          <a:xfrm>
            <a:off x="9107313" y="3760604"/>
            <a:ext cx="36458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Web 前端</a:t>
            </a:r>
            <a:endParaRPr lang="zh-CN" sz="680"/>
          </a:p>
        </p:txBody>
      </p:sp>
      <p:sp>
        <p:nvSpPr>
          <p:cNvPr id="183" name="TextBox 183"/>
          <p:cNvSpPr txBox="1"/>
          <p:nvPr/>
        </p:nvSpPr>
        <p:spPr>
          <a:xfrm>
            <a:off x="9683356" y="3760604"/>
            <a:ext cx="36458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API 网关</a:t>
            </a:r>
            <a:endParaRPr lang="zh-CN" sz="680"/>
          </a:p>
        </p:txBody>
      </p:sp>
      <p:sp>
        <p:nvSpPr>
          <p:cNvPr id="184" name="TextBox 184"/>
          <p:cNvSpPr txBox="1"/>
          <p:nvPr/>
        </p:nvSpPr>
        <p:spPr>
          <a:xfrm>
            <a:off x="10252107" y="3760604"/>
            <a:ext cx="379168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服务层</a:t>
            </a:r>
            <a:endParaRPr lang="zh-CN" sz="680"/>
          </a:p>
        </p:txBody>
      </p:sp>
      <p:sp>
        <p:nvSpPr>
          <p:cNvPr id="185" name="TextBox 185"/>
          <p:cNvSpPr txBox="1"/>
          <p:nvPr/>
        </p:nvSpPr>
        <p:spPr>
          <a:xfrm>
            <a:off x="10820859" y="3760604"/>
            <a:ext cx="357293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8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数据库</a:t>
            </a:r>
            <a:endParaRPr lang="zh-CN" sz="680"/>
          </a:p>
        </p:txBody>
      </p:sp>
      <p:sp>
        <p:nvSpPr>
          <p:cNvPr id="186" name="TextBox 186"/>
          <p:cNvSpPr txBox="1"/>
          <p:nvPr/>
        </p:nvSpPr>
        <p:spPr>
          <a:xfrm>
            <a:off x="10091690" y="4234323"/>
            <a:ext cx="204167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缓存</a:t>
            </a:r>
            <a:endParaRPr lang="zh-CN" sz="640"/>
          </a:p>
        </p:txBody>
      </p:sp>
      <p:sp>
        <p:nvSpPr>
          <p:cNvPr id="187" name="TextBox 187"/>
          <p:cNvSpPr txBox="1"/>
          <p:nvPr/>
        </p:nvSpPr>
        <p:spPr>
          <a:xfrm>
            <a:off x="10077107" y="4336355"/>
            <a:ext cx="247917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Redis</a:t>
            </a:r>
            <a:endParaRPr lang="zh-CN" sz="640"/>
          </a:p>
        </p:txBody>
      </p:sp>
      <p:sp>
        <p:nvSpPr>
          <p:cNvPr id="188" name="TextBox 188"/>
          <p:cNvSpPr txBox="1"/>
          <p:nvPr/>
        </p:nvSpPr>
        <p:spPr>
          <a:xfrm>
            <a:off x="10616692" y="4234323"/>
            <a:ext cx="350001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对象存储</a:t>
            </a:r>
            <a:endParaRPr lang="zh-CN" sz="640"/>
          </a:p>
        </p:txBody>
      </p:sp>
      <p:sp>
        <p:nvSpPr>
          <p:cNvPr id="189" name="TextBox 189"/>
          <p:cNvSpPr txBox="1"/>
          <p:nvPr/>
        </p:nvSpPr>
        <p:spPr>
          <a:xfrm>
            <a:off x="10704192" y="4336355"/>
            <a:ext cx="182292" cy="874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640">
                <a:solidFill>
                  <a:srgbClr val="071941"/>
                </a:solidFill>
                <a:latin typeface="PingFang SC"/>
                <a:ea typeface="PingFang SC"/>
                <a:cs typeface="PingFang SC"/>
              </a:rPr>
              <a:t>S3</a:t>
            </a:r>
            <a:endParaRPr lang="zh-CN" sz="640"/>
          </a:p>
        </p:txBody>
      </p:sp>
      <p:sp>
        <p:nvSpPr>
          <p:cNvPr id="190" name="TextBox 190"/>
          <p:cNvSpPr txBox="1"/>
          <p:nvPr/>
        </p:nvSpPr>
        <p:spPr>
          <a:xfrm>
            <a:off x="8429186" y="4759058"/>
            <a:ext cx="1312503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34436B"/>
                </a:solidFill>
                <a:latin typeface="PingFang SC"/>
                <a:ea typeface="PingFang SC"/>
                <a:cs typeface="PingFang SC"/>
              </a:rPr>
              <a:t>architecture.png</a:t>
            </a:r>
            <a:endParaRPr lang="zh-CN" sz="1200"/>
          </a:p>
        </p:txBody>
      </p:sp>
      <p:sp>
        <p:nvSpPr>
          <p:cNvPr id="191" name="TextBox 191"/>
          <p:cNvSpPr txBox="1"/>
          <p:nvPr/>
        </p:nvSpPr>
        <p:spPr>
          <a:xfrm>
            <a:off x="9800023" y="4766346"/>
            <a:ext cx="510418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34436B"/>
                </a:solidFill>
                <a:latin typeface="PingFang SC"/>
                <a:ea typeface="PingFang SC"/>
                <a:cs typeface="PingFang SC"/>
              </a:rPr>
              <a:t>1.2 MB</a:t>
            </a:r>
            <a:endParaRPr lang="zh-CN" sz="1019"/>
          </a:p>
        </p:txBody>
      </p:sp>
      <p:sp>
        <p:nvSpPr>
          <p:cNvPr id="192" name="TextBox 192"/>
          <p:cNvSpPr txBox="1"/>
          <p:nvPr/>
        </p:nvSpPr>
        <p:spPr>
          <a:xfrm>
            <a:off x="7707310" y="5414978"/>
            <a:ext cx="1494795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F05A14"/>
                </a:solidFill>
                <a:latin typeface="HanziPen SC"/>
                <a:ea typeface="HanziPen SC"/>
                <a:cs typeface="HanziPen SC"/>
              </a:rPr>
              <a:t>自动作为附件返回</a:t>
            </a:r>
            <a:endParaRPr lang="zh-CN" sz="1550"/>
          </a:p>
        </p:txBody>
      </p:sp>
      <p:sp>
        <p:nvSpPr>
          <p:cNvPr id="193" name="TextBox 193"/>
          <p:cNvSpPr txBox="1"/>
          <p:nvPr/>
        </p:nvSpPr>
        <p:spPr>
          <a:xfrm>
            <a:off x="2442714" y="6136489"/>
            <a:ext cx="2114588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图片任务请使用</a:t>
            </a:r>
            <a:endParaRPr lang="zh-CN" sz="2150"/>
          </a:p>
        </p:txBody>
      </p:sp>
      <p:sp>
        <p:nvSpPr>
          <p:cNvPr id="194" name="TextBox 194"/>
          <p:cNvSpPr txBox="1"/>
          <p:nvPr/>
        </p:nvSpPr>
        <p:spPr>
          <a:xfrm>
            <a:off x="4593761" y="6136489"/>
            <a:ext cx="1604170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246F2C"/>
                </a:solidFill>
                <a:latin typeface="HanziPen SC"/>
                <a:ea typeface="HanziPen SC"/>
                <a:cs typeface="HanziPen SC"/>
              </a:rPr>
              <a:t>默认 Codex</a:t>
            </a:r>
            <a:endParaRPr lang="zh-CN" sz="2150"/>
          </a:p>
        </p:txBody>
      </p:sp>
      <p:sp>
        <p:nvSpPr>
          <p:cNvPr id="195" name="TextBox 195"/>
          <p:cNvSpPr txBox="1"/>
          <p:nvPr/>
        </p:nvSpPr>
        <p:spPr>
          <a:xfrm>
            <a:off x="6190639" y="6136489"/>
            <a:ext cx="149479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或 !codex，</a:t>
            </a:r>
            <a:endParaRPr lang="zh-CN" sz="2150"/>
          </a:p>
        </p:txBody>
      </p:sp>
      <p:sp>
        <p:nvSpPr>
          <p:cNvPr id="196" name="TextBox 196"/>
          <p:cNvSpPr txBox="1"/>
          <p:nvPr/>
        </p:nvSpPr>
        <p:spPr>
          <a:xfrm>
            <a:off x="7780227" y="6136489"/>
            <a:ext cx="1640629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F05A14"/>
                </a:solidFill>
                <a:latin typeface="HanziPen SC"/>
                <a:ea typeface="HanziPen SC"/>
                <a:cs typeface="HanziPen SC"/>
              </a:rPr>
              <a:t>不要用 !claude</a:t>
            </a:r>
            <a:endParaRPr lang="zh-CN" sz="2150"/>
          </a:p>
        </p:txBody>
      </p:sp>
      <p:sp>
        <p:nvSpPr>
          <p:cNvPr id="197" name="TextBox 197"/>
          <p:cNvSpPr txBox="1"/>
          <p:nvPr/>
        </p:nvSpPr>
        <p:spPr>
          <a:xfrm>
            <a:off x="9457314" y="6136489"/>
            <a:ext cx="80208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50">
                <a:solidFill>
                  <a:srgbClr val="071941"/>
                </a:solidFill>
                <a:latin typeface="HanziPen SC"/>
                <a:ea typeface="HanziPen SC"/>
                <a:cs typeface="HanziPen SC"/>
              </a:rPr>
              <a:t>覆盖。</a:t>
            </a:r>
            <a:endParaRPr lang="zh-CN" sz="2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597918" y="1661662"/>
            <a:ext cx="2865632" cy="3410780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4404177" y="1792846"/>
            <a:ext cx="2756256" cy="3228580"/>
          </a:xfrm>
          <a:prstGeom prst="roundRect">
            <a:avLst>
              <a:gd name="adj" fmla="val 5820"/>
            </a:avLst>
          </a:prstGeom>
          <a:solidFill>
            <a:srgbClr val="FFFFFF"/>
          </a:solidFill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421895" y="1545054"/>
            <a:ext cx="2763548" cy="1639798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355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327103" y="3367052"/>
            <a:ext cx="3310424" cy="178555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355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443753" y="5939713"/>
            <a:ext cx="9296897" cy="750663"/>
          </a:xfrm>
          <a:prstGeom prst="roundRect">
            <a:avLst>
              <a:gd name="adj" fmla="val 19417"/>
            </a:avLst>
          </a:prstGeom>
          <a:solidFill>
            <a:srgbClr val="FFFFFF"/>
          </a:solidFill>
          <a:ln w="25400">
            <a:solidFill>
              <a:srgbClr val="68A6FF"/>
            </a:solidFill>
            <a:prstDash val="dash"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29168" y="2317581"/>
            <a:ext cx="2610423" cy="590327"/>
          </a:xfrm>
          <a:prstGeom prst="roundRect">
            <a:avLst>
              <a:gd name="adj" fmla="val 13580"/>
            </a:avLst>
          </a:prstGeom>
          <a:solidFill>
            <a:srgbClr val="F5FAFF"/>
          </a:solidFill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535427" y="2456053"/>
            <a:ext cx="2479172" cy="481007"/>
          </a:xfrm>
          <a:prstGeom prst="roundRect">
            <a:avLst>
              <a:gd name="adj" fmla="val 16667"/>
            </a:avLst>
          </a:prstGeom>
          <a:solidFill>
            <a:srgbClr val="F5FAF1"/>
          </a:solidFill>
          <a:ln w="2032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535427" y="4292627"/>
            <a:ext cx="2493756" cy="539311"/>
          </a:xfrm>
          <a:prstGeom prst="roundRect">
            <a:avLst>
              <a:gd name="adj" fmla="val 17568"/>
            </a:avLst>
          </a:prstGeom>
          <a:noFill/>
          <a:ln w="24130">
            <a:solidFill>
              <a:srgbClr val="246B26"/>
            </a:solidFill>
            <a:prstDash val="dash"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626062" y="2018774"/>
            <a:ext cx="2326047" cy="539311"/>
          </a:xfrm>
          <a:prstGeom prst="roundRect">
            <a:avLst>
              <a:gd name="adj" fmla="val 13514"/>
            </a:avLst>
          </a:prstGeom>
          <a:solidFill>
            <a:srgbClr val="F5FAF1"/>
          </a:solidFill>
          <a:ln w="1905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472936" y="3833484"/>
            <a:ext cx="1822921" cy="327960"/>
          </a:xfrm>
          <a:prstGeom prst="roundRect">
            <a:avLst>
              <a:gd name="adj" fmla="val 15556"/>
            </a:avLst>
          </a:prstGeom>
          <a:solidFill>
            <a:srgbClr val="FFF8F3"/>
          </a:solidFill>
          <a:ln w="2032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493756" y="5334810"/>
            <a:ext cx="1647921" cy="429991"/>
          </a:xfrm>
          <a:prstGeom prst="roundRect">
            <a:avLst>
              <a:gd name="adj" fmla="val 20339"/>
            </a:avLst>
          </a:prstGeom>
          <a:solidFill>
            <a:srgbClr val="F5FAFF"/>
          </a:solidFill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382302" y="5334810"/>
            <a:ext cx="1917713" cy="429991"/>
          </a:xfrm>
          <a:prstGeom prst="roundRect">
            <a:avLst>
              <a:gd name="adj" fmla="val 20339"/>
            </a:avLst>
          </a:prstGeom>
          <a:solidFill>
            <a:srgbClr val="F5FAF1"/>
          </a:solidFill>
          <a:ln w="254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547932" y="5334810"/>
            <a:ext cx="1502087" cy="429991"/>
          </a:xfrm>
          <a:prstGeom prst="roundRect">
            <a:avLst>
              <a:gd name="adj" fmla="val 20339"/>
            </a:avLst>
          </a:prstGeom>
          <a:solidFill>
            <a:srgbClr val="FFF8F3"/>
          </a:solidFill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8239603" y="5334810"/>
            <a:ext cx="1575004" cy="429991"/>
          </a:xfrm>
          <a:prstGeom prst="roundRect">
            <a:avLst>
              <a:gd name="adj" fmla="val 20339"/>
            </a:avLst>
          </a:prstGeom>
          <a:solidFill>
            <a:srgbClr val="F5FAFF"/>
          </a:solidFill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575004" y="4329067"/>
            <a:ext cx="787502" cy="524735"/>
          </a:xfrm>
          <a:prstGeom prst="roundRect">
            <a:avLst>
              <a:gd name="adj" fmla="val 8333"/>
            </a:avLst>
          </a:prstGeom>
          <a:solidFill>
            <a:srgbClr val="F9FBFF"/>
          </a:solidFill>
          <a:ln w="25400">
            <a:solidFill>
              <a:srgbClr val="526EA3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414587" y="4853802"/>
            <a:ext cx="1108336" cy="72880"/>
          </a:xfrm>
          <a:prstGeom prst="rect">
            <a:avLst/>
          </a:prstGeom>
          <a:solidFill>
            <a:srgbClr val="F4F7FF"/>
          </a:solidFill>
          <a:ln w="25400">
            <a:solidFill>
              <a:srgbClr val="526EA3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383358" y="3993819"/>
            <a:ext cx="1115628" cy="998455"/>
          </a:xfrm>
          <a:prstGeom prst="roundRect">
            <a:avLst>
              <a:gd name="adj" fmla="val 4380"/>
            </a:avLst>
          </a:prstGeom>
          <a:solidFill>
            <a:srgbClr val="F7F9FC"/>
          </a:solidFill>
          <a:ln w="26670">
            <a:solidFill>
              <a:srgbClr val="4D5667"/>
            </a:solidFill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823960" y="3381628"/>
            <a:ext cx="131250" cy="131184"/>
          </a:xfrm>
          <a:prstGeom prst="ellipse">
            <a:avLst/>
          </a:prstGeom>
          <a:noFill/>
          <a:ln w="22860">
            <a:solidFill>
              <a:srgbClr val="1D62D6"/>
            </a:solidFill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823960" y="3651284"/>
            <a:ext cx="131250" cy="131184"/>
          </a:xfrm>
          <a:prstGeom prst="ellipse">
            <a:avLst/>
          </a:prstGeom>
          <a:noFill/>
          <a:ln w="22860">
            <a:solidFill>
              <a:srgbClr val="1D62D6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823960" y="3928227"/>
            <a:ext cx="131250" cy="131184"/>
          </a:xfrm>
          <a:prstGeom prst="ellipse">
            <a:avLst/>
          </a:prstGeom>
          <a:noFill/>
          <a:ln w="22860">
            <a:solidFill>
              <a:srgbClr val="1D62D6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4644803" y="3192140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4644803" y="3469084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4644803" y="3746028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4644803" y="4022971"/>
            <a:ext cx="65625" cy="65592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8655229" y="2696557"/>
            <a:ext cx="58333" cy="58304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8655229" y="2973501"/>
            <a:ext cx="58333" cy="58304"/>
          </a:xfrm>
          <a:prstGeom prst="ellipse">
            <a:avLst/>
          </a:prstGeom>
          <a:solidFill>
            <a:srgbClr val="246B26"/>
          </a:solidFill>
          <a:ln w="127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8494812" y="4358219"/>
            <a:ext cx="58333" cy="58304"/>
          </a:xfrm>
          <a:prstGeom prst="ellipse">
            <a:avLst/>
          </a:prstGeom>
          <a:solidFill>
            <a:srgbClr val="F26313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8494812" y="4569571"/>
            <a:ext cx="58333" cy="58304"/>
          </a:xfrm>
          <a:prstGeom prst="ellipse">
            <a:avLst/>
          </a:prstGeom>
          <a:solidFill>
            <a:srgbClr val="F26313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8494812" y="4846514"/>
            <a:ext cx="58333" cy="58304"/>
          </a:xfrm>
          <a:prstGeom prst="ellipse">
            <a:avLst/>
          </a:prstGeom>
          <a:solidFill>
            <a:srgbClr val="F26313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0405233" y="4015683"/>
            <a:ext cx="1071878" cy="145760"/>
          </a:xfrm>
          <a:prstGeom prst="rect">
            <a:avLst/>
          </a:prstGeom>
          <a:solidFill>
            <a:srgbClr val="ECEFF5"/>
          </a:solidFill>
          <a:ln w="10160">
            <a:solidFill>
              <a:srgbClr val="4D5667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53127" y="1829286"/>
            <a:ext cx="284376" cy="349824"/>
          </a:xfrm>
          <a:prstGeom prst="roundRect">
            <a:avLst>
              <a:gd name="adj" fmla="val 5128"/>
            </a:avLst>
          </a:prstGeom>
          <a:noFill/>
          <a:ln w="3175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8669812" y="1661662"/>
            <a:ext cx="247917" cy="327960"/>
          </a:xfrm>
          <a:prstGeom prst="roundRect">
            <a:avLst>
              <a:gd name="adj" fmla="val 5882"/>
            </a:avLst>
          </a:prstGeom>
          <a:noFill/>
          <a:ln w="29209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8487520" y="3505524"/>
            <a:ext cx="306251" cy="306096"/>
          </a:xfrm>
          <a:prstGeom prst="ellipse">
            <a:avLst/>
          </a:prstGeom>
          <a:noFill/>
          <a:ln w="381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10470858" y="4059411"/>
            <a:ext cx="29167" cy="29152"/>
          </a:xfrm>
          <a:prstGeom prst="ellipse">
            <a:avLst/>
          </a:prstGeom>
          <a:solidFill>
            <a:srgbClr val="5E6775"/>
          </a:solidFill>
          <a:ln w="12700">
            <a:solidFill>
              <a:srgbClr val="5E6775"/>
            </a:solidFill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10558358" y="4059411"/>
            <a:ext cx="29167" cy="29152"/>
          </a:xfrm>
          <a:prstGeom prst="ellipse">
            <a:avLst/>
          </a:prstGeom>
          <a:solidFill>
            <a:srgbClr val="5E6775"/>
          </a:solidFill>
          <a:ln w="12700">
            <a:solidFill>
              <a:srgbClr val="5E6775"/>
            </a:solidFill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10645858" y="4059411"/>
            <a:ext cx="29167" cy="29152"/>
          </a:xfrm>
          <a:prstGeom prst="ellipse">
            <a:avLst/>
          </a:prstGeom>
          <a:solidFill>
            <a:srgbClr val="5E6775"/>
          </a:solidFill>
          <a:ln w="12700">
            <a:solidFill>
              <a:srgbClr val="5E6775"/>
            </a:solidFill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10500025" y="4234323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0572941" y="4256187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10500025" y="4343643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0572941" y="4365507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10500025" y="4460251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0572941" y="4482115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10500025" y="4627875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0572941" y="4649739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0500025" y="4737194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0572941" y="4759058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0500025" y="4861090"/>
            <a:ext cx="36458" cy="36440"/>
          </a:xfrm>
          <a:prstGeom prst="ellipse">
            <a:avLst/>
          </a:prstGeom>
          <a:solidFill>
            <a:srgbClr val="B8C1D0"/>
          </a:solidFill>
          <a:ln w="1270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0572941" y="4882954"/>
            <a:ext cx="291667" cy="0"/>
          </a:xfrm>
          <a:prstGeom prst="line">
            <a:avLst/>
          </a:prstGeom>
          <a:noFill/>
          <a:ln w="15240">
            <a:solidFill>
              <a:srgbClr val="B8C1D0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10908359" y="4307203"/>
            <a:ext cx="131250" cy="167624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1039609" y="4307203"/>
            <a:ext cx="131250" cy="131184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V="1">
            <a:off x="11170859" y="4256187"/>
            <a:ext cx="145834" cy="182200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1316693" y="4256187"/>
            <a:ext cx="102084" cy="87456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0981276" y="4569571"/>
            <a:ext cx="437501" cy="437279"/>
          </a:xfrm>
          <a:prstGeom prst="ellipse">
            <a:avLst/>
          </a:prstGeom>
          <a:solidFill>
            <a:srgbClr val="F3FAEF"/>
          </a:solidFill>
          <a:ln w="228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1214610" y="4591435"/>
            <a:ext cx="189584" cy="174912"/>
          </a:xfrm>
          <a:prstGeom prst="rect">
            <a:avLst/>
          </a:prstGeom>
          <a:solidFill>
            <a:srgbClr val="FFD9C2"/>
          </a:solidFill>
          <a:ln w="127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2661465" y="5436842"/>
            <a:ext cx="160417" cy="160336"/>
          </a:xfrm>
          <a:prstGeom prst="ellips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2625006" y="5706497"/>
            <a:ext cx="226042" cy="0"/>
          </a:xfrm>
          <a:prstGeom prst="lin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H="1">
            <a:off x="2625006" y="5597177"/>
            <a:ext cx="109375" cy="109320"/>
          </a:xfrm>
          <a:prstGeom prst="lin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2734381" y="5597177"/>
            <a:ext cx="116667" cy="109320"/>
          </a:xfrm>
          <a:prstGeom prst="line">
            <a:avLst/>
          </a:prstGeom>
          <a:noFill/>
          <a:ln w="29209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6693766" y="5436842"/>
            <a:ext cx="182292" cy="247792"/>
          </a:xfrm>
          <a:prstGeom prst="roundRect">
            <a:avLst>
              <a:gd name="adj" fmla="val 8000"/>
            </a:avLst>
          </a:prstGeom>
          <a:noFill/>
          <a:ln w="228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6861474" y="5553450"/>
            <a:ext cx="145834" cy="145760"/>
          </a:xfrm>
          <a:prstGeom prst="ellipse">
            <a:avLst/>
          </a:prstGeom>
          <a:noFill/>
          <a:ln w="228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6970850" y="5662769"/>
            <a:ext cx="102084" cy="87456"/>
          </a:xfrm>
          <a:prstGeom prst="line">
            <a:avLst/>
          </a:prstGeom>
          <a:noFill/>
          <a:ln w="2286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8385436" y="5414978"/>
            <a:ext cx="284376" cy="284232"/>
          </a:xfrm>
          <a:prstGeom prst="ellipse">
            <a:avLst/>
          </a:prstGeom>
          <a:noFill/>
          <a:ln w="3048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8523978" y="5429554"/>
            <a:ext cx="0" cy="262368"/>
          </a:xfrm>
          <a:prstGeom prst="line">
            <a:avLst/>
          </a:prstGeom>
          <a:noFill/>
          <a:ln w="2159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8407311" y="5502434"/>
            <a:ext cx="240626" cy="0"/>
          </a:xfrm>
          <a:prstGeom prst="line">
            <a:avLst/>
          </a:prstGeom>
          <a:noFill/>
          <a:ln w="2159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8407311" y="5611753"/>
            <a:ext cx="240626" cy="0"/>
          </a:xfrm>
          <a:prstGeom prst="line">
            <a:avLst/>
          </a:prstGeom>
          <a:noFill/>
          <a:ln w="2159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742712" y="6107337"/>
            <a:ext cx="335417" cy="335248"/>
          </a:xfrm>
          <a:prstGeom prst="ellipse">
            <a:avLst/>
          </a:prstGeom>
          <a:noFill/>
          <a:ln w="3302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859379" y="6449872"/>
            <a:ext cx="131250" cy="116608"/>
          </a:xfrm>
          <a:prstGeom prst="rect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V="1">
            <a:off x="1910421" y="5925137"/>
            <a:ext cx="0" cy="10203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 flipV="1">
            <a:off x="1626045" y="6070897"/>
            <a:ext cx="87500" cy="6559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V="1">
            <a:off x="2121880" y="6070897"/>
            <a:ext cx="87500" cy="6559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H="1">
            <a:off x="1589587" y="6304113"/>
            <a:ext cx="109375" cy="0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2114588" y="6304113"/>
            <a:ext cx="116667" cy="0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4571886" y="1945894"/>
            <a:ext cx="328126" cy="327960"/>
          </a:xfrm>
          <a:prstGeom prst="ellips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4695844" y="4423811"/>
            <a:ext cx="306251" cy="306096"/>
          </a:xfrm>
          <a:prstGeom prst="ellips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4513552" y="5407690"/>
            <a:ext cx="277084" cy="276944"/>
          </a:xfrm>
          <a:prstGeom prst="ellips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1200026" y="4584147"/>
            <a:ext cx="0" cy="386264"/>
          </a:xfrm>
          <a:prstGeom prst="line">
            <a:avLst/>
          </a:prstGeom>
          <a:noFill/>
          <a:ln w="1905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1200026" y="4780922"/>
            <a:ext cx="211459" cy="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4695844" y="2069790"/>
            <a:ext cx="87500" cy="87456"/>
          </a:xfrm>
          <a:prstGeom prst="ellipse">
            <a:avLst/>
          </a:prstGeom>
          <a:noFill/>
          <a:ln w="254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4903657" y="2109874"/>
            <a:ext cx="58333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4854803" y="2228668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4735949" y="2277497"/>
            <a:ext cx="0" cy="5830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H="1">
            <a:off x="4576261" y="2228668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 flipH="1">
            <a:off x="4509906" y="2109874"/>
            <a:ext cx="58333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H="1" flipV="1">
            <a:off x="4576261" y="1950267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 flipV="1">
            <a:off x="4735949" y="1883946"/>
            <a:ext cx="0" cy="5830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 flipV="1">
            <a:off x="4854803" y="1950267"/>
            <a:ext cx="40833" cy="408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 flipV="1">
            <a:off x="3069799" y="1202519"/>
            <a:ext cx="6679182" cy="87456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 flipV="1">
            <a:off x="3762509" y="1151503"/>
            <a:ext cx="5629180" cy="131184"/>
          </a:xfrm>
          <a:prstGeom prst="line">
            <a:avLst/>
          </a:prstGeom>
          <a:noFill/>
          <a:ln w="2667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3594800" y="1202519"/>
            <a:ext cx="3055215" cy="116608"/>
          </a:xfrm>
          <a:prstGeom prst="line">
            <a:avLst/>
          </a:prstGeom>
          <a:noFill/>
          <a:ln w="2032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2683340" y="838119"/>
            <a:ext cx="94792" cy="43728"/>
          </a:xfrm>
          <a:prstGeom prst="line">
            <a:avLst/>
          </a:prstGeom>
          <a:noFill/>
          <a:ln w="3175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2603131" y="969303"/>
            <a:ext cx="175000" cy="29152"/>
          </a:xfrm>
          <a:prstGeom prst="line">
            <a:avLst/>
          </a:prstGeom>
          <a:noFill/>
          <a:ln w="3175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V="1">
            <a:off x="9975023" y="262368"/>
            <a:ext cx="58333" cy="160336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V="1">
            <a:off x="10062524" y="451855"/>
            <a:ext cx="145834" cy="10932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9982315" y="699647"/>
            <a:ext cx="175000" cy="5830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028127" y="1843862"/>
            <a:ext cx="109375" cy="102032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035419" y="1945894"/>
            <a:ext cx="102084" cy="0"/>
          </a:xfrm>
          <a:prstGeom prst="line">
            <a:avLst/>
          </a:prstGeom>
          <a:noFill/>
          <a:ln w="2794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918752" y="2004198"/>
            <a:ext cx="153125" cy="0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918752" y="2098942"/>
            <a:ext cx="175000" cy="0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487503" y="4853802"/>
            <a:ext cx="977086" cy="0"/>
          </a:xfrm>
          <a:prstGeom prst="line">
            <a:avLst/>
          </a:prstGeom>
          <a:noFill/>
          <a:ln w="25400">
            <a:solidFill>
              <a:srgbClr val="526EA3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8822937" y="1676238"/>
            <a:ext cx="94792" cy="94744"/>
          </a:xfrm>
          <a:prstGeom prst="line">
            <a:avLst/>
          </a:prstGeom>
          <a:noFill/>
          <a:ln w="2413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8822937" y="1770982"/>
            <a:ext cx="87500" cy="0"/>
          </a:xfrm>
          <a:prstGeom prst="line">
            <a:avLst/>
          </a:prstGeom>
          <a:noFill/>
          <a:ln w="2413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8728145" y="1843862"/>
            <a:ext cx="123959" cy="0"/>
          </a:xfrm>
          <a:prstGeom prst="line">
            <a:avLst/>
          </a:prstGeom>
          <a:noFill/>
          <a:ln w="228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8728145" y="1924030"/>
            <a:ext cx="145834" cy="0"/>
          </a:xfrm>
          <a:prstGeom prst="line">
            <a:avLst/>
          </a:prstGeom>
          <a:noFill/>
          <a:ln w="2286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8640645" y="3520100"/>
            <a:ext cx="0" cy="29152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8509395" y="3607556"/>
            <a:ext cx="262501" cy="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8509395" y="3716876"/>
            <a:ext cx="262501" cy="0"/>
          </a:xfrm>
          <a:prstGeom prst="line">
            <a:avLst/>
          </a:prstGeom>
          <a:noFill/>
          <a:ln w="2540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8567728" y="3541964"/>
            <a:ext cx="153125" cy="247792"/>
          </a:xfrm>
          <a:prstGeom prst="line">
            <a:avLst/>
          </a:prstGeom>
          <a:noFill/>
          <a:ln w="2032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H="1">
            <a:off x="8567728" y="3541964"/>
            <a:ext cx="153125" cy="247792"/>
          </a:xfrm>
          <a:prstGeom prst="line">
            <a:avLst/>
          </a:prstGeom>
          <a:noFill/>
          <a:ln w="20320">
            <a:solidFill>
              <a:srgbClr val="F26313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4710428" y="4467539"/>
            <a:ext cx="0" cy="131184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4710428" y="4467539"/>
            <a:ext cx="123959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4528136" y="5458706"/>
            <a:ext cx="0" cy="116608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4528136" y="5458706"/>
            <a:ext cx="116667" cy="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853127" y="3439932"/>
            <a:ext cx="29167" cy="4372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882294" y="3403492"/>
            <a:ext cx="51042" cy="8016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853127" y="3709588"/>
            <a:ext cx="29167" cy="4372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 flipV="1">
            <a:off x="882294" y="3673148"/>
            <a:ext cx="51042" cy="8016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853127" y="3986531"/>
            <a:ext cx="29167" cy="4372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882294" y="3950091"/>
            <a:ext cx="51042" cy="80168"/>
          </a:xfrm>
          <a:prstGeom prst="line">
            <a:avLst/>
          </a:prstGeom>
          <a:noFill/>
          <a:ln w="254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 flipV="1">
            <a:off x="3529175" y="3133836"/>
            <a:ext cx="780210" cy="14576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H="1">
            <a:off x="4197093" y="3133836"/>
            <a:ext cx="112292" cy="67778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H="1" flipV="1">
            <a:off x="4194176" y="3070431"/>
            <a:ext cx="115209" cy="63406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V="1">
            <a:off x="7226059" y="2448765"/>
            <a:ext cx="1144794" cy="25508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H="1">
            <a:off x="8273874" y="2448765"/>
            <a:ext cx="96979" cy="88913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 flipH="1" flipV="1">
            <a:off x="8245436" y="2409410"/>
            <a:ext cx="125417" cy="39355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7226059" y="3797044"/>
            <a:ext cx="1006252" cy="196776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H="1">
            <a:off x="8108352" y="3993819"/>
            <a:ext cx="123959" cy="42270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 flipV="1">
            <a:off x="8133144" y="3907821"/>
            <a:ext cx="99167" cy="85998"/>
          </a:xfrm>
          <a:prstGeom prst="line">
            <a:avLst/>
          </a:prstGeom>
          <a:noFill/>
          <a:ln w="38100">
            <a:solidFill>
              <a:srgbClr val="246B26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2734381" y="386264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H="1">
            <a:off x="2734381" y="561175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H="1" flipV="1">
            <a:off x="2639590" y="561175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 flipV="1">
            <a:off x="2639590" y="386264"/>
            <a:ext cx="94792" cy="174912"/>
          </a:xfrm>
          <a:prstGeom prst="line">
            <a:avLst/>
          </a:prstGeom>
          <a:noFill/>
          <a:ln w="38100">
            <a:solidFill>
              <a:srgbClr val="2F78EA"/>
            </a:solidFill>
          </a:ln>
        </p:spPr>
        <p:txBody>
          <a:bodyPr/>
          <a:lstStyle/>
          <a:p/>
        </p:txBody>
      </p:sp>
      <p:sp>
        <p:nvSpPr>
          <p:cNvPr id="133" name="TextBox 133"/>
          <p:cNvSpPr txBox="1"/>
          <p:nvPr/>
        </p:nvSpPr>
        <p:spPr>
          <a:xfrm>
            <a:off x="1370837" y="1924030"/>
            <a:ext cx="1822921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macOS LaunchAgent</a:t>
            </a:r>
            <a:endParaRPr lang="zh-CN" sz="1650"/>
          </a:p>
        </p:txBody>
      </p:sp>
      <p:sp>
        <p:nvSpPr>
          <p:cNvPr id="134" name="TextBox 134"/>
          <p:cNvSpPr txBox="1"/>
          <p:nvPr/>
        </p:nvSpPr>
        <p:spPr>
          <a:xfrm>
            <a:off x="823960" y="2412325"/>
            <a:ext cx="2391672" cy="24050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80">
                <a:solidFill>
                  <a:srgbClr val="1152C4"/>
                </a:solidFill>
                <a:latin typeface="STHeiti"/>
                <a:ea typeface="STHeiti"/>
                <a:cs typeface="STHeiti"/>
              </a:rPr>
              <a:t>~/Library/LaunchAgents/</a:t>
            </a:r>
            <a:endParaRPr lang="zh-CN" sz="1480"/>
          </a:p>
        </p:txBody>
      </p:sp>
      <p:sp>
        <p:nvSpPr>
          <p:cNvPr id="135" name="TextBox 135"/>
          <p:cNvSpPr txBox="1"/>
          <p:nvPr/>
        </p:nvSpPr>
        <p:spPr>
          <a:xfrm>
            <a:off x="831252" y="2660117"/>
            <a:ext cx="240625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52C4"/>
                </a:solidFill>
                <a:latin typeface="STHeiti"/>
                <a:ea typeface="STHeiti"/>
                <a:cs typeface="STHeiti"/>
              </a:rPr>
              <a:t>com.user.codex-discord-bridge.plist</a:t>
            </a:r>
            <a:endParaRPr lang="zh-CN" sz="1250"/>
          </a:p>
        </p:txBody>
      </p:sp>
      <p:sp>
        <p:nvSpPr>
          <p:cNvPr id="136" name="TextBox 136"/>
          <p:cNvSpPr txBox="1"/>
          <p:nvPr/>
        </p:nvSpPr>
        <p:spPr>
          <a:xfrm>
            <a:off x="831252" y="3090108"/>
            <a:ext cx="597918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1456CA"/>
                </a:solidFill>
                <a:latin typeface="STHeiti"/>
                <a:ea typeface="STHeiti"/>
                <a:cs typeface="STHeiti"/>
              </a:rPr>
              <a:t>作用:</a:t>
            </a:r>
            <a:endParaRPr lang="zh-CN" sz="1550"/>
          </a:p>
        </p:txBody>
      </p:sp>
      <p:sp>
        <p:nvSpPr>
          <p:cNvPr id="137" name="TextBox 137"/>
          <p:cNvSpPr txBox="1"/>
          <p:nvPr/>
        </p:nvSpPr>
        <p:spPr>
          <a:xfrm>
            <a:off x="1057294" y="3323324"/>
            <a:ext cx="204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登录后自动启动</a:t>
            </a:r>
            <a:endParaRPr lang="zh-CN" sz="1320"/>
          </a:p>
        </p:txBody>
      </p:sp>
      <p:sp>
        <p:nvSpPr>
          <p:cNvPr id="138" name="TextBox 138"/>
          <p:cNvSpPr txBox="1"/>
          <p:nvPr/>
        </p:nvSpPr>
        <p:spPr>
          <a:xfrm>
            <a:off x="1057294" y="3592980"/>
            <a:ext cx="204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保持 service-run 常驻运行</a:t>
            </a:r>
            <a:endParaRPr lang="zh-CN" sz="1320"/>
          </a:p>
        </p:txBody>
      </p:sp>
      <p:sp>
        <p:nvSpPr>
          <p:cNvPr id="139" name="TextBox 139"/>
          <p:cNvSpPr txBox="1"/>
          <p:nvPr/>
        </p:nvSpPr>
        <p:spPr>
          <a:xfrm>
            <a:off x="1057294" y="3869923"/>
            <a:ext cx="204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异常退出时自动重启</a:t>
            </a:r>
            <a:endParaRPr lang="zh-CN" sz="1320"/>
          </a:p>
        </p:txBody>
      </p:sp>
      <p:sp>
        <p:nvSpPr>
          <p:cNvPr id="140" name="TextBox 140"/>
          <p:cNvSpPr txBox="1"/>
          <p:nvPr/>
        </p:nvSpPr>
        <p:spPr>
          <a:xfrm>
            <a:off x="1903129" y="4518555"/>
            <a:ext cx="218751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526EA3"/>
                </a:solidFill>
                <a:latin typeface="STHeiti"/>
                <a:ea typeface="STHeiti"/>
                <a:cs typeface="STHeiti"/>
              </a:rPr>
              <a:t></a:t>
            </a:r>
            <a:endParaRPr lang="zh-CN" sz="1800"/>
          </a:p>
        </p:txBody>
      </p:sp>
      <p:sp>
        <p:nvSpPr>
          <p:cNvPr id="141" name="TextBox 141"/>
          <p:cNvSpPr txBox="1"/>
          <p:nvPr/>
        </p:nvSpPr>
        <p:spPr>
          <a:xfrm>
            <a:off x="5075012" y="2062502"/>
            <a:ext cx="189583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5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service-run（守护进程）</a:t>
            </a:r>
            <a:endParaRPr lang="zh-CN" sz="1550"/>
          </a:p>
        </p:txBody>
      </p:sp>
      <p:sp>
        <p:nvSpPr>
          <p:cNvPr id="142" name="TextBox 142"/>
          <p:cNvSpPr txBox="1"/>
          <p:nvPr/>
        </p:nvSpPr>
        <p:spPr>
          <a:xfrm>
            <a:off x="4695844" y="2623677"/>
            <a:ext cx="2260422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codex-discord-bridge</a:t>
            </a:r>
            <a:endParaRPr lang="zh-CN" sz="1800"/>
          </a:p>
        </p:txBody>
      </p:sp>
      <p:sp>
        <p:nvSpPr>
          <p:cNvPr id="143" name="TextBox 143"/>
          <p:cNvSpPr txBox="1"/>
          <p:nvPr/>
        </p:nvSpPr>
        <p:spPr>
          <a:xfrm>
            <a:off x="4819803" y="3119260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连接 Discord 网关</a:t>
            </a:r>
            <a:endParaRPr lang="zh-CN" sz="1370"/>
          </a:p>
        </p:txBody>
      </p:sp>
      <p:sp>
        <p:nvSpPr>
          <p:cNvPr id="144" name="TextBox 144"/>
          <p:cNvSpPr txBox="1"/>
          <p:nvPr/>
        </p:nvSpPr>
        <p:spPr>
          <a:xfrm>
            <a:off x="4819803" y="3396204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管理任务队列</a:t>
            </a:r>
            <a:endParaRPr lang="zh-CN" sz="1370"/>
          </a:p>
        </p:txBody>
      </p:sp>
      <p:sp>
        <p:nvSpPr>
          <p:cNvPr id="145" name="TextBox 145"/>
          <p:cNvSpPr txBox="1"/>
          <p:nvPr/>
        </p:nvSpPr>
        <p:spPr>
          <a:xfrm>
            <a:off x="4819803" y="3673148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调度本机 Codex 执行</a:t>
            </a:r>
            <a:endParaRPr lang="zh-CN" sz="1370"/>
          </a:p>
        </p:txBody>
      </p:sp>
      <p:sp>
        <p:nvSpPr>
          <p:cNvPr id="146" name="TextBox 146"/>
          <p:cNvSpPr txBox="1"/>
          <p:nvPr/>
        </p:nvSpPr>
        <p:spPr>
          <a:xfrm>
            <a:off x="4819803" y="3950091"/>
            <a:ext cx="204167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7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回传结果与文件</a:t>
            </a:r>
            <a:endParaRPr lang="zh-CN" sz="1370"/>
          </a:p>
        </p:txBody>
      </p:sp>
      <p:sp>
        <p:nvSpPr>
          <p:cNvPr id="147" name="TextBox 147"/>
          <p:cNvSpPr txBox="1"/>
          <p:nvPr/>
        </p:nvSpPr>
        <p:spPr>
          <a:xfrm>
            <a:off x="5118762" y="4511267"/>
            <a:ext cx="182292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异常自动重启（崩溃/退出）</a:t>
            </a:r>
            <a:endParaRPr lang="zh-CN" sz="1380"/>
          </a:p>
        </p:txBody>
      </p:sp>
      <p:sp>
        <p:nvSpPr>
          <p:cNvPr id="148" name="TextBox 148"/>
          <p:cNvSpPr txBox="1"/>
          <p:nvPr/>
        </p:nvSpPr>
        <p:spPr>
          <a:xfrm>
            <a:off x="9136480" y="1719966"/>
            <a:ext cx="8750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2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日志文件</a:t>
            </a:r>
            <a:endParaRPr lang="zh-CN" sz="1620"/>
          </a:p>
        </p:txBody>
      </p:sp>
      <p:sp>
        <p:nvSpPr>
          <p:cNvPr id="149" name="TextBox 149"/>
          <p:cNvSpPr txBox="1"/>
          <p:nvPr/>
        </p:nvSpPr>
        <p:spPr>
          <a:xfrm>
            <a:off x="8735437" y="2120806"/>
            <a:ext cx="173542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3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~/Library/Logs/</a:t>
            </a:r>
            <a:endParaRPr lang="zh-CN" sz="1430"/>
          </a:p>
        </p:txBody>
      </p:sp>
      <p:sp>
        <p:nvSpPr>
          <p:cNvPr id="150" name="TextBox 150"/>
          <p:cNvSpPr txBox="1"/>
          <p:nvPr/>
        </p:nvSpPr>
        <p:spPr>
          <a:xfrm>
            <a:off x="8735437" y="2354021"/>
            <a:ext cx="2129172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codex-discord-bridge.log</a:t>
            </a:r>
            <a:endParaRPr lang="zh-CN" sz="1320"/>
          </a:p>
        </p:txBody>
      </p:sp>
      <p:sp>
        <p:nvSpPr>
          <p:cNvPr id="151" name="TextBox 151"/>
          <p:cNvSpPr txBox="1"/>
          <p:nvPr/>
        </p:nvSpPr>
        <p:spPr>
          <a:xfrm>
            <a:off x="8822937" y="2616389"/>
            <a:ext cx="211458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1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记录请求、响应、错误与回传</a:t>
            </a:r>
            <a:endParaRPr lang="zh-CN" sz="1310"/>
          </a:p>
        </p:txBody>
      </p:sp>
      <p:sp>
        <p:nvSpPr>
          <p:cNvPr id="152" name="TextBox 152"/>
          <p:cNvSpPr txBox="1"/>
          <p:nvPr/>
        </p:nvSpPr>
        <p:spPr>
          <a:xfrm>
            <a:off x="8822937" y="2893333"/>
            <a:ext cx="211458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1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便于排查问题</a:t>
            </a:r>
            <a:endParaRPr lang="zh-CN" sz="1310"/>
          </a:p>
        </p:txBody>
      </p:sp>
      <p:sp>
        <p:nvSpPr>
          <p:cNvPr id="153" name="TextBox 153"/>
          <p:cNvSpPr txBox="1"/>
          <p:nvPr/>
        </p:nvSpPr>
        <p:spPr>
          <a:xfrm>
            <a:off x="8925021" y="3549252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Web 面板（本机）</a:t>
            </a:r>
            <a:endParaRPr lang="zh-CN" sz="1700"/>
          </a:p>
        </p:txBody>
      </p:sp>
      <p:sp>
        <p:nvSpPr>
          <p:cNvPr id="154" name="TextBox 154"/>
          <p:cNvSpPr txBox="1"/>
          <p:nvPr/>
        </p:nvSpPr>
        <p:spPr>
          <a:xfrm>
            <a:off x="8604187" y="3942803"/>
            <a:ext cx="1604170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2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http://127.0.0.1:8787</a:t>
            </a:r>
            <a:endParaRPr lang="zh-CN" sz="1320"/>
          </a:p>
        </p:txBody>
      </p:sp>
      <p:sp>
        <p:nvSpPr>
          <p:cNvPr id="155" name="TextBox 155"/>
          <p:cNvSpPr txBox="1"/>
          <p:nvPr/>
        </p:nvSpPr>
        <p:spPr>
          <a:xfrm>
            <a:off x="8655229" y="4278051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查看连接状态</a:t>
            </a:r>
            <a:endParaRPr lang="zh-CN" sz="1300"/>
          </a:p>
        </p:txBody>
      </p:sp>
      <p:sp>
        <p:nvSpPr>
          <p:cNvPr id="156" name="TextBox 156"/>
          <p:cNvSpPr txBox="1"/>
          <p:nvPr/>
        </p:nvSpPr>
        <p:spPr>
          <a:xfrm>
            <a:off x="8655229" y="4489403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任务与队列状态</a:t>
            </a:r>
            <a:endParaRPr lang="zh-CN" sz="1300"/>
          </a:p>
        </p:txBody>
      </p:sp>
      <p:sp>
        <p:nvSpPr>
          <p:cNvPr id="157" name="TextBox 157"/>
          <p:cNvSpPr txBox="1"/>
          <p:nvPr/>
        </p:nvSpPr>
        <p:spPr>
          <a:xfrm>
            <a:off x="8655229" y="4766346"/>
            <a:ext cx="167708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最近日志与统计信息</a:t>
            </a:r>
            <a:endParaRPr lang="zh-CN" sz="1300"/>
          </a:p>
        </p:txBody>
      </p:sp>
      <p:sp>
        <p:nvSpPr>
          <p:cNvPr id="158" name="TextBox 158"/>
          <p:cNvSpPr txBox="1"/>
          <p:nvPr/>
        </p:nvSpPr>
        <p:spPr>
          <a:xfrm>
            <a:off x="3711467" y="2856893"/>
            <a:ext cx="47395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启动</a:t>
            </a:r>
            <a:endParaRPr lang="zh-CN" sz="1450"/>
          </a:p>
        </p:txBody>
      </p:sp>
      <p:sp>
        <p:nvSpPr>
          <p:cNvPr id="159" name="TextBox 159"/>
          <p:cNvSpPr txBox="1"/>
          <p:nvPr/>
        </p:nvSpPr>
        <p:spPr>
          <a:xfrm>
            <a:off x="7495851" y="2273853"/>
            <a:ext cx="729168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写入日志</a:t>
            </a:r>
            <a:endParaRPr lang="zh-CN" sz="1450"/>
          </a:p>
        </p:txBody>
      </p:sp>
      <p:sp>
        <p:nvSpPr>
          <p:cNvPr id="160" name="TextBox 160"/>
          <p:cNvSpPr txBox="1"/>
          <p:nvPr/>
        </p:nvSpPr>
        <p:spPr>
          <a:xfrm>
            <a:off x="7401059" y="3563828"/>
            <a:ext cx="743752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提供界面</a:t>
            </a:r>
            <a:endParaRPr lang="zh-CN" sz="1450"/>
          </a:p>
        </p:txBody>
      </p:sp>
      <p:sp>
        <p:nvSpPr>
          <p:cNvPr id="161" name="TextBox 161"/>
          <p:cNvSpPr txBox="1"/>
          <p:nvPr/>
        </p:nvSpPr>
        <p:spPr>
          <a:xfrm>
            <a:off x="2989590" y="5465994"/>
            <a:ext cx="9625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3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登录后启动</a:t>
            </a:r>
            <a:endParaRPr lang="zh-CN" sz="1730"/>
          </a:p>
        </p:txBody>
      </p:sp>
      <p:sp>
        <p:nvSpPr>
          <p:cNvPr id="162" name="TextBox 162"/>
          <p:cNvSpPr txBox="1"/>
          <p:nvPr/>
        </p:nvSpPr>
        <p:spPr>
          <a:xfrm>
            <a:off x="4914595" y="5465994"/>
            <a:ext cx="123958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246B26"/>
                </a:solidFill>
                <a:latin typeface="STHeiti"/>
                <a:ea typeface="STHeiti"/>
                <a:cs typeface="STHeiti"/>
              </a:rPr>
              <a:t>异常自动重启</a:t>
            </a:r>
            <a:endParaRPr lang="zh-CN" sz="1700"/>
          </a:p>
        </p:txBody>
      </p:sp>
      <p:sp>
        <p:nvSpPr>
          <p:cNvPr id="163" name="TextBox 163"/>
          <p:cNvSpPr txBox="1"/>
          <p:nvPr/>
        </p:nvSpPr>
        <p:spPr>
          <a:xfrm>
            <a:off x="7116683" y="5465994"/>
            <a:ext cx="72916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日志排查</a:t>
            </a:r>
            <a:endParaRPr lang="zh-CN" sz="1700"/>
          </a:p>
        </p:txBody>
      </p:sp>
      <p:sp>
        <p:nvSpPr>
          <p:cNvPr id="164" name="TextBox 164"/>
          <p:cNvSpPr txBox="1"/>
          <p:nvPr/>
        </p:nvSpPr>
        <p:spPr>
          <a:xfrm>
            <a:off x="8786479" y="5465994"/>
            <a:ext cx="86041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Web 面板</a:t>
            </a:r>
            <a:endParaRPr lang="zh-CN" sz="1700"/>
          </a:p>
        </p:txBody>
      </p:sp>
      <p:sp>
        <p:nvSpPr>
          <p:cNvPr id="165" name="TextBox 165"/>
          <p:cNvSpPr txBox="1"/>
          <p:nvPr/>
        </p:nvSpPr>
        <p:spPr>
          <a:xfrm>
            <a:off x="3368758" y="400840"/>
            <a:ext cx="5687513" cy="68507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0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macOS 服务与可靠性</a:t>
            </a:r>
            <a:endParaRPr lang="zh-CN" sz="4000"/>
          </a:p>
        </p:txBody>
      </p:sp>
      <p:sp>
        <p:nvSpPr>
          <p:cNvPr id="166" name="TextBox 166"/>
          <p:cNvSpPr txBox="1"/>
          <p:nvPr/>
        </p:nvSpPr>
        <p:spPr>
          <a:xfrm>
            <a:off x="2318755" y="6165641"/>
            <a:ext cx="7656268" cy="364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200">
                <a:solidFill>
                  <a:srgbClr val="145BE8"/>
                </a:solidFill>
                <a:latin typeface="STHeiti"/>
                <a:ea typeface="STHeiti"/>
                <a:cs typeface="STHeiti"/>
              </a:rPr>
              <a:t>服务层</a:t>
            </a:r>
            <a:r>
              <a:rPr lang="zh-CN" sz="22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负责常驻运行与可靠性，</a:t>
            </a:r>
            <a:r>
              <a:rPr lang="zh-CN" sz="22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Codex 层</a:t>
            </a:r>
            <a:r>
              <a:rPr lang="zh-CN" sz="2200">
                <a:solidFill>
                  <a:srgbClr val="071747"/>
                </a:solidFill>
                <a:latin typeface="STHeiti"/>
                <a:ea typeface="STHeiti"/>
                <a:cs typeface="STHeiti"/>
              </a:rPr>
              <a:t>负责理解任务并</a:t>
            </a:r>
            <a:r>
              <a:rPr lang="zh-CN" sz="2200">
                <a:solidFill>
                  <a:srgbClr val="F26313"/>
                </a:solidFill>
                <a:latin typeface="STHeiti"/>
                <a:ea typeface="STHeiti"/>
                <a:cs typeface="STHeiti"/>
              </a:rPr>
              <a:t>完成执行。</a:t>
            </a:r>
            <a:endParaRPr lang="zh-CN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 flipV="1">
            <a:off x="4141676" y="976591"/>
            <a:ext cx="3820842" cy="1457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350001" y="4292627"/>
            <a:ext cx="11200026" cy="0"/>
          </a:xfrm>
          <a:prstGeom prst="line">
            <a:avLst/>
          </a:prstGeom>
          <a:noFill/>
          <a:ln w="25400">
            <a:solidFill>
              <a:srgbClr val="8FB9FF"/>
            </a:solidFill>
            <a:prstDash val="dash"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57293" y="1902166"/>
            <a:ext cx="816669" cy="932863"/>
          </a:xfrm>
          <a:prstGeom prst="roundRect">
            <a:avLst>
              <a:gd name="adj" fmla="val 16071"/>
            </a:avLst>
          </a:prstGeom>
          <a:solidFill>
            <a:srgbClr val="FAFBFF"/>
          </a:solidFill>
          <a:ln w="25400">
            <a:solidFill>
              <a:srgbClr val="071443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917713" y="2055214"/>
            <a:ext cx="1064586" cy="787103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2794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71876" y="3046380"/>
            <a:ext cx="2617714" cy="481007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529175" y="1676238"/>
            <a:ext cx="2209380" cy="198233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9050">
            <a:solidFill>
              <a:srgbClr val="6F7788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6321890" y="1668950"/>
            <a:ext cx="2180213" cy="198962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6F7788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9063563" y="1668950"/>
            <a:ext cx="2493756" cy="2055214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9050">
            <a:solidFill>
              <a:srgbClr val="6F7788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73959" y="4955834"/>
            <a:ext cx="6744807" cy="386264"/>
          </a:xfrm>
          <a:prstGeom prst="roundRect">
            <a:avLst>
              <a:gd name="adj" fmla="val 15094"/>
            </a:avLst>
          </a:prstGeom>
          <a:solidFill>
            <a:srgbClr val="FBFFF9"/>
          </a:solidFill>
          <a:ln w="2159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73959" y="5436842"/>
            <a:ext cx="6744807" cy="386264"/>
          </a:xfrm>
          <a:prstGeom prst="roundRect">
            <a:avLst>
              <a:gd name="adj" fmla="val 15094"/>
            </a:avLst>
          </a:prstGeom>
          <a:solidFill>
            <a:srgbClr val="FAFCFF"/>
          </a:solidFill>
          <a:ln w="2159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73959" y="5932425"/>
            <a:ext cx="6744807" cy="626767"/>
          </a:xfrm>
          <a:prstGeom prst="roundRect">
            <a:avLst>
              <a:gd name="adj" fmla="val 9302"/>
            </a:avLst>
          </a:prstGeom>
          <a:solidFill>
            <a:srgbClr val="FFFDF8"/>
          </a:solidFill>
          <a:ln w="2159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7729185" y="4584147"/>
            <a:ext cx="3981259" cy="2062502"/>
          </a:xfrm>
          <a:prstGeom prst="roundRect">
            <a:avLst>
              <a:gd name="adj" fmla="val 7774"/>
            </a:avLst>
          </a:prstGeom>
          <a:solidFill>
            <a:srgbClr val="FFFFFA"/>
          </a:solidFill>
          <a:ln w="279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954171" y="1865726"/>
            <a:ext cx="408334" cy="211352"/>
          </a:xfrm>
          <a:prstGeom prst="rect">
            <a:avLst/>
          </a:prstGeom>
          <a:solidFill>
            <a:srgbClr val="EAF3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915634" y="2135382"/>
            <a:ext cx="1698962" cy="568463"/>
          </a:xfrm>
          <a:prstGeom prst="roundRect">
            <a:avLst>
              <a:gd name="adj" fmla="val 12821"/>
            </a:avLst>
          </a:prstGeom>
          <a:solidFill>
            <a:srgbClr val="F8FFF8"/>
          </a:solidFill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3922926" y="2856893"/>
            <a:ext cx="1684379" cy="524735"/>
          </a:xfrm>
          <a:prstGeom prst="roundRect">
            <a:avLst>
              <a:gd name="adj" fmla="val 12500"/>
            </a:avLst>
          </a:prstGeom>
          <a:solidFill>
            <a:srgbClr val="F8FFF8"/>
          </a:solidFill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420855" y="2026062"/>
            <a:ext cx="1917713" cy="488295"/>
          </a:xfrm>
          <a:prstGeom prst="roundRect">
            <a:avLst>
              <a:gd name="adj" fmla="val 14925"/>
            </a:avLst>
          </a:prstGeom>
          <a:solidFill>
            <a:srgbClr val="F8FBFF"/>
          </a:solidFill>
          <a:ln w="1778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9420855" y="2558085"/>
            <a:ext cx="1917713" cy="349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9D4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9420855" y="2915197"/>
            <a:ext cx="1917713" cy="349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9D4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9420855" y="3272308"/>
            <a:ext cx="1917713" cy="349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9D4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623967" y="225928"/>
            <a:ext cx="0" cy="298808"/>
          </a:xfrm>
          <a:prstGeom prst="line">
            <a:avLst/>
          </a:prstGeom>
          <a:noFill/>
          <a:ln w="3556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3478133" y="378976"/>
            <a:ext cx="298959" cy="0"/>
          </a:xfrm>
          <a:prstGeom prst="line">
            <a:avLst/>
          </a:prstGeom>
          <a:noFill/>
          <a:ln w="3556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529175" y="284232"/>
            <a:ext cx="189584" cy="189488"/>
          </a:xfrm>
          <a:prstGeom prst="line">
            <a:avLst/>
          </a:prstGeom>
          <a:noFill/>
          <a:ln w="3048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 flipH="1">
            <a:off x="3529175" y="284232"/>
            <a:ext cx="189584" cy="189488"/>
          </a:xfrm>
          <a:prstGeom prst="line">
            <a:avLst/>
          </a:prstGeom>
          <a:noFill/>
          <a:ln w="3048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565633" y="670495"/>
            <a:ext cx="160417" cy="29152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572925" y="765239"/>
            <a:ext cx="145834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8006269" y="218640"/>
            <a:ext cx="102084" cy="138472"/>
          </a:xfrm>
          <a:prstGeom prst="line">
            <a:avLst/>
          </a:prstGeom>
          <a:noFill/>
          <a:ln w="381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V="1">
            <a:off x="8232311" y="364400"/>
            <a:ext cx="116667" cy="80168"/>
          </a:xfrm>
          <a:prstGeom prst="line">
            <a:avLst/>
          </a:prstGeom>
          <a:noFill/>
          <a:ln w="381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8173977" y="590327"/>
            <a:ext cx="131250" cy="94744"/>
          </a:xfrm>
          <a:prstGeom prst="line">
            <a:avLst/>
          </a:prstGeom>
          <a:noFill/>
          <a:ln w="381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459376" y="2033350"/>
            <a:ext cx="597918" cy="597615"/>
          </a:xfrm>
          <a:prstGeom prst="ellipse">
            <a:avLst/>
          </a:prstGeom>
          <a:solidFill>
            <a:srgbClr val="5169F5"/>
          </a:solidFill>
          <a:ln w="1905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2333339" y="1967758"/>
            <a:ext cx="510418" cy="0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3667717" y="1778270"/>
            <a:ext cx="284376" cy="284232"/>
          </a:xfrm>
          <a:prstGeom prst="ellipse">
            <a:avLst/>
          </a:prstGeom>
          <a:solidFill>
            <a:srgbClr val="4D68F5"/>
          </a:solidFill>
          <a:ln w="1524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4025009" y="2951637"/>
            <a:ext cx="269792" cy="342536"/>
          </a:xfrm>
          <a:prstGeom prst="rect">
            <a:avLst/>
          </a:prstGeom>
          <a:solidFill>
            <a:srgbClr val="F8FFF8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6438557" y="1792846"/>
            <a:ext cx="255209" cy="255080"/>
          </a:xfrm>
          <a:prstGeom prst="ellipse">
            <a:avLst/>
          </a:prstGeom>
          <a:solidFill>
            <a:srgbClr val="1E6D29"/>
          </a:solidFill>
          <a:ln w="152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7204184" y="1836574"/>
            <a:ext cx="277084" cy="182200"/>
          </a:xfrm>
          <a:prstGeom prst="roundRect">
            <a:avLst>
              <a:gd name="adj" fmla="val 28000"/>
            </a:avLst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6642724" y="2405037"/>
            <a:ext cx="1720837" cy="0"/>
          </a:xfrm>
          <a:prstGeom prst="line">
            <a:avLst/>
          </a:prstGeom>
          <a:noFill/>
          <a:ln w="17780">
            <a:solidFill>
              <a:srgbClr val="C7CBD2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7422934" y="2594525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7422934" y="2886045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422934" y="3177564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7422934" y="3469084"/>
            <a:ext cx="860419" cy="0"/>
          </a:xfrm>
          <a:prstGeom prst="line">
            <a:avLst/>
          </a:prstGeom>
          <a:noFill/>
          <a:ln w="63500">
            <a:solidFill>
              <a:srgbClr val="C6CBD2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9202105" y="1778270"/>
            <a:ext cx="262501" cy="262368"/>
          </a:xfrm>
          <a:prstGeom prst="ellipse">
            <a:avLst/>
          </a:prstGeom>
          <a:solidFill>
            <a:srgbClr val="4D68F5"/>
          </a:solidFill>
          <a:ln w="1524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9975023" y="1829286"/>
            <a:ext cx="291667" cy="174912"/>
          </a:xfrm>
          <a:prstGeom prst="roundRect">
            <a:avLst>
              <a:gd name="adj" fmla="val 29167"/>
            </a:avLst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9515647" y="2645541"/>
            <a:ext cx="160417" cy="211352"/>
          </a:xfrm>
          <a:prstGeom prst="rect">
            <a:avLst/>
          </a:prstGeom>
          <a:solidFill>
            <a:srgbClr val="F8FBFF"/>
          </a:solidFill>
          <a:ln w="1905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9515647" y="2995365"/>
            <a:ext cx="160417" cy="211352"/>
          </a:xfrm>
          <a:prstGeom prst="rect">
            <a:avLst/>
          </a:prstGeom>
          <a:solidFill>
            <a:srgbClr val="F8FBFF"/>
          </a:solidFill>
          <a:ln w="1905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9515647" y="3345188"/>
            <a:ext cx="175000" cy="211352"/>
          </a:xfrm>
          <a:prstGeom prst="rect">
            <a:avLst/>
          </a:prstGeom>
          <a:solidFill>
            <a:srgbClr val="F8FFF8"/>
          </a:solidFill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597918" y="4598723"/>
            <a:ext cx="51042" cy="174912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510418" y="4671603"/>
            <a:ext cx="175000" cy="0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554168" y="4576859"/>
            <a:ext cx="109375" cy="211352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554168" y="4576859"/>
            <a:ext cx="116667" cy="211352"/>
          </a:xfrm>
          <a:prstGeom prst="line">
            <a:avLst/>
          </a:prstGeom>
          <a:noFill/>
          <a:ln w="304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67710" y="4853802"/>
            <a:ext cx="1173961" cy="1457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612501" y="5050578"/>
            <a:ext cx="218751" cy="218640"/>
          </a:xfrm>
          <a:prstGeom prst="roundRect">
            <a:avLst>
              <a:gd name="adj" fmla="val 13333"/>
            </a:avLst>
          </a:prstGeom>
          <a:solidFill>
            <a:srgbClr val="FBFFF9"/>
          </a:solidFill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597918" y="5531586"/>
            <a:ext cx="277084" cy="204064"/>
          </a:xfrm>
          <a:prstGeom prst="rect">
            <a:avLst/>
          </a:prstGeom>
          <a:solidFill>
            <a:srgbClr val="EFF6FF"/>
          </a:solidFill>
          <a:ln w="2286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V="1">
            <a:off x="597918" y="5451418"/>
            <a:ext cx="109375" cy="80168"/>
          </a:xfrm>
          <a:prstGeom prst="line">
            <a:avLst/>
          </a:prstGeom>
          <a:noFill/>
          <a:ln w="2286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707293" y="5451418"/>
            <a:ext cx="175000" cy="0"/>
          </a:xfrm>
          <a:prstGeom prst="line">
            <a:avLst/>
          </a:prstGeom>
          <a:noFill/>
          <a:ln w="2286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597918" y="6034457"/>
            <a:ext cx="269792" cy="269656"/>
          </a:xfrm>
          <a:prstGeom prst="roundRect">
            <a:avLst>
              <a:gd name="adj" fmla="val 13514"/>
            </a:avLst>
          </a:prstGeom>
          <a:solidFill>
            <a:srgbClr val="FFF8F0"/>
          </a:solidFill>
          <a:ln w="2286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8939604" y="4766346"/>
            <a:ext cx="247917" cy="320672"/>
          </a:xfrm>
          <a:prstGeom prst="ellipse">
            <a:avLst/>
          </a:prstGeom>
          <a:noFill/>
          <a:ln w="279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V="1">
            <a:off x="9063563" y="4642451"/>
            <a:ext cx="0" cy="87456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 flipH="1" flipV="1">
            <a:off x="8793771" y="4773634"/>
            <a:ext cx="102084" cy="51016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 flipV="1">
            <a:off x="9209397" y="4773634"/>
            <a:ext cx="94792" cy="51016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8997938" y="5094306"/>
            <a:ext cx="138542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9019813" y="5145322"/>
            <a:ext cx="94792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9420855" y="5079730"/>
            <a:ext cx="787502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7940644" y="6136489"/>
            <a:ext cx="87500" cy="87456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 flipV="1">
            <a:off x="7933352" y="6253097"/>
            <a:ext cx="94792" cy="43728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8166686" y="6034457"/>
            <a:ext cx="422918" cy="422704"/>
          </a:xfrm>
          <a:prstGeom prst="ellipse">
            <a:avLst/>
          </a:prstGeom>
          <a:solidFill>
            <a:srgbClr val="526AF6"/>
          </a:solidFill>
          <a:ln w="1905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8677104" y="6231233"/>
            <a:ext cx="466668" cy="0"/>
          </a:xfrm>
          <a:prstGeom prst="line">
            <a:avLst/>
          </a:prstGeom>
          <a:noFill/>
          <a:ln w="25400">
            <a:solidFill>
              <a:srgbClr val="1E6D29"/>
            </a:solidFill>
            <a:prstDash val="dash"/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8684395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8684395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 flipH="1" flipV="1">
            <a:off x="9056271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9056271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9282313" y="5954289"/>
            <a:ext cx="751043" cy="451855"/>
          </a:xfrm>
          <a:prstGeom prst="rect">
            <a:avLst/>
          </a:prstGeom>
          <a:solidFill>
            <a:srgbClr val="F7FFF7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9187522" y="6457160"/>
            <a:ext cx="947919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9289605" y="6406145"/>
            <a:ext cx="743752" cy="0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10252107" y="6231233"/>
            <a:ext cx="452084" cy="0"/>
          </a:xfrm>
          <a:prstGeom prst="line">
            <a:avLst/>
          </a:prstGeom>
          <a:noFill/>
          <a:ln w="25400">
            <a:solidFill>
              <a:srgbClr val="1E6D29"/>
            </a:solidFill>
            <a:prstDash val="dash"/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V="1">
            <a:off x="10252107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0252107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 flipV="1">
            <a:off x="10616692" y="615835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 flipH="1">
            <a:off x="10616692" y="6231233"/>
            <a:ext cx="87500" cy="7288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79" name="Roundrect 79"/>
          <p:cNvSpPr/>
          <p:nvPr/>
        </p:nvSpPr>
        <p:spPr>
          <a:xfrm>
            <a:off x="10791692" y="6107337"/>
            <a:ext cx="568751" cy="313384"/>
          </a:xfrm>
          <a:prstGeom prst="roundRect">
            <a:avLst>
              <a:gd name="adj" fmla="val 11628"/>
            </a:avLst>
          </a:prstGeom>
          <a:solidFill>
            <a:srgbClr val="F1FAE9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 flipV="1">
            <a:off x="11440652" y="5983441"/>
            <a:ext cx="94792" cy="102032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 flipV="1">
            <a:off x="11528152" y="6216657"/>
            <a:ext cx="138542" cy="7288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1057294" y="1166079"/>
            <a:ext cx="1494795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4032301" y="1166079"/>
            <a:ext cx="1414587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6897933" y="1166079"/>
            <a:ext cx="1414587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9763565" y="1166079"/>
            <a:ext cx="1414587" cy="327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605210" y="2259277"/>
            <a:ext cx="291667" cy="21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576043" y="2200973"/>
            <a:ext cx="87500" cy="14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831252" y="2200973"/>
            <a:ext cx="87500" cy="14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1246878" y="2346733"/>
            <a:ext cx="473959" cy="0"/>
          </a:xfrm>
          <a:prstGeom prst="line">
            <a:avLst/>
          </a:prstGeom>
          <a:noFill/>
          <a:ln w="30480">
            <a:solidFill>
              <a:srgbClr val="1C5ACB"/>
            </a:solidFill>
            <a:prstDash val="dash"/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1254170" y="2259277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1254170" y="2346733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H="1" flipV="1">
            <a:off x="1633337" y="2259277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H="1">
            <a:off x="1633337" y="2346733"/>
            <a:ext cx="87500" cy="87456"/>
          </a:xfrm>
          <a:prstGeom prst="line">
            <a:avLst/>
          </a:prstGeom>
          <a:noFill/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3747925" y="1880302"/>
            <a:ext cx="131250" cy="94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3726050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3857301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4076051" y="3046380"/>
            <a:ext cx="153125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4076051" y="3141124"/>
            <a:ext cx="153125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4076051" y="3235868"/>
            <a:ext cx="109375" cy="0"/>
          </a:xfrm>
          <a:prstGeom prst="line">
            <a:avLst/>
          </a:prstGeom>
          <a:noFill/>
          <a:ln w="2032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6518765" y="1865726"/>
            <a:ext cx="102084" cy="102032"/>
          </a:xfrm>
          <a:prstGeom prst="rect">
            <a:avLst/>
          </a:prstGeom>
          <a:noFill/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V="1">
            <a:off x="6518765" y="1829286"/>
            <a:ext cx="51042" cy="36440"/>
          </a:xfrm>
          <a:prstGeom prst="lin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 flipV="1">
            <a:off x="6569807" y="1829286"/>
            <a:ext cx="51042" cy="36440"/>
          </a:xfrm>
          <a:prstGeom prst="lin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6569807" y="1829286"/>
            <a:ext cx="0" cy="102032"/>
          </a:xfrm>
          <a:prstGeom prst="lin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6445848" y="2521645"/>
            <a:ext cx="138542" cy="138472"/>
          </a:xfrm>
          <a:prstGeom prst="ellipse">
            <a:avLst/>
          </a:prstGeom>
          <a:solidFill>
            <a:srgbClr val="1E6D29"/>
          </a:solidFill>
          <a:ln w="127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7422934" y="2594525"/>
            <a:ext cx="656252" cy="0"/>
          </a:xfrm>
          <a:prstGeom prst="line">
            <a:avLst/>
          </a:prstGeom>
          <a:noFill/>
          <a:ln w="635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6445848" y="2813165"/>
            <a:ext cx="138542" cy="138472"/>
          </a:xfrm>
          <a:prstGeom prst="ellipse">
            <a:avLst/>
          </a:prstGeom>
          <a:solidFill>
            <a:srgbClr val="1E6D29"/>
          </a:solidFill>
          <a:ln w="127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7422934" y="2886045"/>
            <a:ext cx="641668" cy="0"/>
          </a:xfrm>
          <a:prstGeom prst="line">
            <a:avLst/>
          </a:prstGeom>
          <a:noFill/>
          <a:ln w="635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6453140" y="3104684"/>
            <a:ext cx="123959" cy="123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7422934" y="3177564"/>
            <a:ext cx="371876" cy="0"/>
          </a:xfrm>
          <a:prstGeom prst="line">
            <a:avLst/>
          </a:prstGeom>
          <a:noFill/>
          <a:ln w="6350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6453140" y="3396204"/>
            <a:ext cx="123959" cy="123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A95A3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7422934" y="3469084"/>
            <a:ext cx="226042" cy="0"/>
          </a:xfrm>
          <a:prstGeom prst="line">
            <a:avLst/>
          </a:prstGeom>
          <a:noFill/>
          <a:ln w="63500">
            <a:solidFill>
              <a:srgbClr val="8A95A3"/>
            </a:solidFill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9275022" y="1880302"/>
            <a:ext cx="131250" cy="94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9253147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9384397" y="1843862"/>
            <a:ext cx="51042" cy="80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10186482" y="2098942"/>
            <a:ext cx="131250" cy="131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9566689" y="2703845"/>
            <a:ext cx="72917" cy="0"/>
          </a:xfrm>
          <a:prstGeom prst="line">
            <a:avLst/>
          </a:prstGeom>
          <a:noFill/>
          <a:ln w="1524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9566689" y="2762149"/>
            <a:ext cx="80209" cy="0"/>
          </a:xfrm>
          <a:prstGeom prst="line">
            <a:avLst/>
          </a:prstGeom>
          <a:noFill/>
          <a:ln w="1524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9552106" y="3381628"/>
            <a:ext cx="43750" cy="43728"/>
          </a:xfrm>
          <a:prstGeom prst="ellipse">
            <a:avLst/>
          </a:prstGeom>
          <a:noFill/>
          <a:ln w="1524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V="1">
            <a:off x="9537522" y="3454508"/>
            <a:ext cx="58333" cy="72880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9595856" y="3454508"/>
            <a:ext cx="65625" cy="87456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670835" y="5152610"/>
            <a:ext cx="51042" cy="58304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721877" y="5094306"/>
            <a:ext cx="65625" cy="116608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663543" y="6100049"/>
            <a:ext cx="51042" cy="51016"/>
          </a:xfrm>
          <a:prstGeom prst="ellipse">
            <a:avLst/>
          </a:prstGeom>
          <a:noFill/>
          <a:ln w="1778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 flipV="1">
            <a:off x="627085" y="6180217"/>
            <a:ext cx="80209" cy="80168"/>
          </a:xfrm>
          <a:prstGeom prst="line">
            <a:avLst/>
          </a:prstGeom>
          <a:noFill/>
          <a:ln w="2032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707293" y="6180217"/>
            <a:ext cx="109375" cy="116608"/>
          </a:xfrm>
          <a:prstGeom prst="line">
            <a:avLst/>
          </a:prstGeom>
          <a:noFill/>
          <a:ln w="2032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8290644" y="6202081"/>
            <a:ext cx="182292" cy="138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8254186" y="6151065"/>
            <a:ext cx="58333" cy="102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8451061" y="6151065"/>
            <a:ext cx="58333" cy="102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9552106" y="6092761"/>
            <a:ext cx="247917" cy="247792"/>
          </a:xfrm>
          <a:prstGeom prst="rect">
            <a:avLst/>
          </a:prstGeom>
          <a:noFill/>
          <a:ln w="1905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V="1">
            <a:off x="9552106" y="6005305"/>
            <a:ext cx="123959" cy="87456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 flipH="1" flipV="1">
            <a:off x="9676064" y="6005305"/>
            <a:ext cx="123959" cy="87456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9676064" y="6005305"/>
            <a:ext cx="0" cy="240504"/>
          </a:xfrm>
          <a:prstGeom prst="line">
            <a:avLst/>
          </a:prstGeom>
          <a:noFill/>
          <a:ln w="1778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10806275" y="6034457"/>
            <a:ext cx="269792" cy="116608"/>
          </a:xfrm>
          <a:prstGeom prst="rect">
            <a:avLst/>
          </a:prstGeom>
          <a:solidFill>
            <a:srgbClr val="F1FAE9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670835" y="2317581"/>
            <a:ext cx="51042" cy="51016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787502" y="2317581"/>
            <a:ext cx="51042" cy="51016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6482307" y="2594525"/>
            <a:ext cx="29167" cy="3644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 flipV="1">
            <a:off x="6511474" y="2558085"/>
            <a:ext cx="51042" cy="7288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6482307" y="2886045"/>
            <a:ext cx="29167" cy="3644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 flipV="1">
            <a:off x="6511474" y="2849605"/>
            <a:ext cx="51042" cy="72880"/>
          </a:xfrm>
          <a:prstGeom prst="line">
            <a:avLst/>
          </a:prstGeom>
          <a:noFill/>
          <a:ln w="203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10222941" y="2164533"/>
            <a:ext cx="29167" cy="36440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 flipV="1">
            <a:off x="10252107" y="2120806"/>
            <a:ext cx="51042" cy="80168"/>
          </a:xfrm>
          <a:prstGeom prst="line">
            <a:avLst/>
          </a:prstGeom>
          <a:noFill/>
          <a:ln w="2286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8042727" y="4511267"/>
            <a:ext cx="131250" cy="204064"/>
          </a:xfrm>
          <a:prstGeom prst="rect">
            <a:avLst/>
          </a:prstGeom>
          <a:solidFill>
            <a:srgbClr val="E8F6E5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 flipH="1">
            <a:off x="8057311" y="4693467"/>
            <a:ext cx="51042" cy="240504"/>
          </a:xfrm>
          <a:prstGeom prst="line">
            <a:avLst/>
          </a:prstGeom>
          <a:noFill/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8348978" y="6245809"/>
            <a:ext cx="36458" cy="36440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8421895" y="6245809"/>
            <a:ext cx="36458" cy="36440"/>
          </a:xfrm>
          <a:prstGeom prst="ellipse">
            <a:avLst/>
          </a:prstGeom>
          <a:solidFill>
            <a:srgbClr val="2F6DE0"/>
          </a:solidFill>
          <a:ln w="12700">
            <a:solidFill>
              <a:srgbClr val="2F6DE0"/>
            </a:solidFill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816669" y="1122351"/>
            <a:ext cx="408334" cy="408128"/>
          </a:xfrm>
          <a:prstGeom prst="ellipse">
            <a:avLst/>
          </a:prstGeom>
          <a:solidFill>
            <a:srgbClr val="1C5ACB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3791676" y="1122351"/>
            <a:ext cx="408334" cy="408128"/>
          </a:xfrm>
          <a:prstGeom prst="ellipse">
            <a:avLst/>
          </a:prstGeom>
          <a:solidFill>
            <a:srgbClr val="1E6D29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6657307" y="1122351"/>
            <a:ext cx="408334" cy="408128"/>
          </a:xfrm>
          <a:prstGeom prst="ellipse">
            <a:avLst/>
          </a:prstGeom>
          <a:solidFill>
            <a:srgbClr val="F17810"/>
          </a:solidFill>
          <a:ln w="25400">
            <a:solidFill>
              <a:srgbClr val="F17810"/>
            </a:solidFill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9522939" y="1122351"/>
            <a:ext cx="408334" cy="408128"/>
          </a:xfrm>
          <a:prstGeom prst="ellipse">
            <a:avLst/>
          </a:prstGeom>
          <a:solidFill>
            <a:srgbClr val="1C5ACB"/>
          </a:solidFill>
          <a:ln w="254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3091674" y="2652829"/>
            <a:ext cx="350001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H="1" flipV="1">
            <a:off x="3288549" y="2528933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H="1">
            <a:off x="3288549" y="2652829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>
            <a:off x="5826055" y="2652829"/>
            <a:ext cx="350001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H="1" flipV="1">
            <a:off x="6022931" y="2528933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 flipH="1">
            <a:off x="6022931" y="2652829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>
            <a:off x="8589603" y="2652829"/>
            <a:ext cx="342709" cy="0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 flipH="1" flipV="1">
            <a:off x="8779187" y="2528933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 flipH="1">
            <a:off x="8779187" y="2652829"/>
            <a:ext cx="153125" cy="123896"/>
          </a:xfrm>
          <a:prstGeom prst="line">
            <a:avLst/>
          </a:prstGeom>
          <a:noFill/>
          <a:ln w="38100">
            <a:solidFill>
              <a:srgbClr val="1C5ACB"/>
            </a:solidFill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7998977" y="4401947"/>
            <a:ext cx="204167" cy="145760"/>
          </a:xfrm>
          <a:prstGeom prst="ellipse">
            <a:avLst/>
          </a:prstGeom>
          <a:solidFill>
            <a:srgbClr val="E8F6E5"/>
          </a:solidFill>
          <a:ln w="25400">
            <a:solidFill>
              <a:srgbClr val="1E6D29"/>
            </a:solidFill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845835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3820842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6686474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9552106" y="1151503"/>
            <a:ext cx="350001" cy="349824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4" name="TextBox 164"/>
          <p:cNvSpPr txBox="1"/>
          <p:nvPr/>
        </p:nvSpPr>
        <p:spPr>
          <a:xfrm>
            <a:off x="4141676" y="240504"/>
            <a:ext cx="3718759" cy="597615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42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推荐工作流</a:t>
            </a:r>
            <a:endParaRPr lang="zh-CN" sz="4200"/>
          </a:p>
        </p:txBody>
      </p:sp>
      <p:sp>
        <p:nvSpPr>
          <p:cNvPr id="165" name="TextBox 165"/>
          <p:cNvSpPr txBox="1"/>
          <p:nvPr/>
        </p:nvSpPr>
        <p:spPr>
          <a:xfrm>
            <a:off x="911460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</a:t>
            </a:r>
            <a:endParaRPr lang="zh-CN" sz="2400"/>
          </a:p>
        </p:txBody>
      </p:sp>
      <p:sp>
        <p:nvSpPr>
          <p:cNvPr id="166" name="TextBox 166"/>
          <p:cNvSpPr txBox="1"/>
          <p:nvPr/>
        </p:nvSpPr>
        <p:spPr>
          <a:xfrm>
            <a:off x="1378128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绑定项目</a:t>
            </a:r>
            <a:endParaRPr lang="zh-CN" sz="1800"/>
          </a:p>
        </p:txBody>
      </p:sp>
      <p:sp>
        <p:nvSpPr>
          <p:cNvPr id="167" name="TextBox 167"/>
          <p:cNvSpPr txBox="1"/>
          <p:nvPr/>
        </p:nvSpPr>
        <p:spPr>
          <a:xfrm>
            <a:off x="3886467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2</a:t>
            </a:r>
            <a:endParaRPr lang="zh-CN" sz="2400"/>
          </a:p>
        </p:txBody>
      </p:sp>
      <p:sp>
        <p:nvSpPr>
          <p:cNvPr id="168" name="TextBox 168"/>
          <p:cNvSpPr txBox="1"/>
          <p:nvPr/>
        </p:nvSpPr>
        <p:spPr>
          <a:xfrm>
            <a:off x="4353135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发任务</a:t>
            </a:r>
            <a:endParaRPr lang="zh-CN" sz="1800"/>
          </a:p>
        </p:txBody>
      </p:sp>
      <p:sp>
        <p:nvSpPr>
          <p:cNvPr id="169" name="TextBox 169"/>
          <p:cNvSpPr txBox="1"/>
          <p:nvPr/>
        </p:nvSpPr>
        <p:spPr>
          <a:xfrm>
            <a:off x="6752099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3</a:t>
            </a:r>
            <a:endParaRPr lang="zh-CN" sz="2400"/>
          </a:p>
        </p:txBody>
      </p:sp>
      <p:sp>
        <p:nvSpPr>
          <p:cNvPr id="170" name="TextBox 170"/>
          <p:cNvSpPr txBox="1"/>
          <p:nvPr/>
        </p:nvSpPr>
        <p:spPr>
          <a:xfrm>
            <a:off x="7218767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看进度</a:t>
            </a:r>
            <a:endParaRPr lang="zh-CN" sz="1800"/>
          </a:p>
        </p:txBody>
      </p:sp>
      <p:sp>
        <p:nvSpPr>
          <p:cNvPr id="171" name="TextBox 171"/>
          <p:cNvSpPr txBox="1"/>
          <p:nvPr/>
        </p:nvSpPr>
        <p:spPr>
          <a:xfrm>
            <a:off x="9617731" y="1173367"/>
            <a:ext cx="218751" cy="30609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4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4</a:t>
            </a:r>
            <a:endParaRPr lang="zh-CN" sz="2400"/>
          </a:p>
        </p:txBody>
      </p:sp>
      <p:sp>
        <p:nvSpPr>
          <p:cNvPr id="172" name="TextBox 172"/>
          <p:cNvSpPr txBox="1"/>
          <p:nvPr/>
        </p:nvSpPr>
        <p:spPr>
          <a:xfrm>
            <a:off x="10084399" y="1224383"/>
            <a:ext cx="91146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8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收结果</a:t>
            </a:r>
            <a:endParaRPr lang="zh-CN" sz="1800"/>
          </a:p>
        </p:txBody>
      </p:sp>
      <p:sp>
        <p:nvSpPr>
          <p:cNvPr id="173" name="TextBox 173"/>
          <p:cNvSpPr txBox="1"/>
          <p:nvPr/>
        </p:nvSpPr>
        <p:spPr>
          <a:xfrm>
            <a:off x="459376" y="2645541"/>
            <a:ext cx="70000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# api-项目</a:t>
            </a:r>
            <a:endParaRPr lang="zh-CN" sz="1300"/>
          </a:p>
        </p:txBody>
      </p:sp>
      <p:sp>
        <p:nvSpPr>
          <p:cNvPr id="174" name="TextBox 174"/>
          <p:cNvSpPr txBox="1"/>
          <p:nvPr/>
        </p:nvSpPr>
        <p:spPr>
          <a:xfrm>
            <a:off x="2143755" y="2208261"/>
            <a:ext cx="612501" cy="19677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4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本机项目</a:t>
            </a:r>
            <a:endParaRPr lang="zh-CN" sz="1400"/>
          </a:p>
        </p:txBody>
      </p:sp>
      <p:sp>
        <p:nvSpPr>
          <p:cNvPr id="175" name="TextBox 175"/>
          <p:cNvSpPr txBox="1"/>
          <p:nvPr/>
        </p:nvSpPr>
        <p:spPr>
          <a:xfrm>
            <a:off x="2027088" y="2426901"/>
            <a:ext cx="889585" cy="3498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/path/to/</a:t>
            </a:r>
            <a:endParaRPr lang="zh-CN" sz="1300"/>
          </a:p>
          <a:p>
            <a:pPr algn="center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workspaces/api</a:t>
            </a:r>
            <a:endParaRPr lang="zh-CN" sz="1300"/>
          </a:p>
        </p:txBody>
      </p:sp>
      <p:sp>
        <p:nvSpPr>
          <p:cNvPr id="176" name="TextBox 176"/>
          <p:cNvSpPr txBox="1"/>
          <p:nvPr/>
        </p:nvSpPr>
        <p:spPr>
          <a:xfrm>
            <a:off x="539585" y="3104684"/>
            <a:ext cx="2245839" cy="364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!bind api "/path/to/workspaces/api"</a:t>
            </a:r>
            <a:endParaRPr lang="zh-CN" sz="1300"/>
          </a:p>
          <a:p>
            <a:pPr algn="left"/>
            <a:r>
              <a:rPr lang="zh-CN" sz="1300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--engine codex</a:t>
            </a:r>
            <a:endParaRPr lang="zh-CN" sz="1300"/>
          </a:p>
        </p:txBody>
      </p:sp>
      <p:sp>
        <p:nvSpPr>
          <p:cNvPr id="177" name="TextBox 177"/>
          <p:cNvSpPr txBox="1"/>
          <p:nvPr/>
        </p:nvSpPr>
        <p:spPr>
          <a:xfrm>
            <a:off x="503126" y="3746028"/>
            <a:ext cx="2289589" cy="218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5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频道绑定到本机项目（默认 Codex）</a:t>
            </a:r>
            <a:endParaRPr lang="zh-CN" sz="1500"/>
          </a:p>
        </p:txBody>
      </p:sp>
      <p:sp>
        <p:nvSpPr>
          <p:cNvPr id="178" name="TextBox 178"/>
          <p:cNvSpPr txBox="1"/>
          <p:nvPr/>
        </p:nvSpPr>
        <p:spPr>
          <a:xfrm>
            <a:off x="4010426" y="1843862"/>
            <a:ext cx="765627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# api-项目</a:t>
            </a:r>
            <a:endParaRPr lang="zh-CN" sz="1300"/>
          </a:p>
        </p:txBody>
      </p:sp>
      <p:sp>
        <p:nvSpPr>
          <p:cNvPr id="179" name="TextBox 179"/>
          <p:cNvSpPr txBox="1"/>
          <p:nvPr/>
        </p:nvSpPr>
        <p:spPr>
          <a:xfrm>
            <a:off x="4025009" y="2266565"/>
            <a:ext cx="1443753" cy="342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帮我实现用户登录接口，</a:t>
            </a:r>
            <a:endParaRPr lang="zh-CN" sz="1400"/>
          </a:p>
          <a:p>
            <a:pPr algn="left"/>
            <a:r>
              <a:rPr lang="zh-CN" sz="14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需要 JWT 鉴权。</a:t>
            </a:r>
            <a:endParaRPr lang="zh-CN" sz="1400"/>
          </a:p>
        </p:txBody>
      </p:sp>
      <p:sp>
        <p:nvSpPr>
          <p:cNvPr id="180" name="TextBox 180"/>
          <p:cNvSpPr txBox="1"/>
          <p:nvPr/>
        </p:nvSpPr>
        <p:spPr>
          <a:xfrm>
            <a:off x="4411469" y="2951637"/>
            <a:ext cx="947919" cy="3498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>
                <a:solidFill>
                  <a:srgbClr val="5A6270"/>
                </a:solidFill>
                <a:latin typeface="Kaiti SC"/>
                <a:ea typeface="Kaiti SC"/>
                <a:cs typeface="Kaiti SC"/>
              </a:rPr>
              <a:t>需求说明.pdf</a:t>
            </a:r>
            <a:endParaRPr lang="zh-CN" sz="1400"/>
          </a:p>
          <a:p>
            <a:pPr algn="left"/>
            <a:r>
              <a:rPr lang="zh-CN" sz="1400">
                <a:solidFill>
                  <a:srgbClr val="5A6270"/>
                </a:solidFill>
                <a:latin typeface="Kaiti SC"/>
                <a:ea typeface="Kaiti SC"/>
                <a:cs typeface="Kaiti SC"/>
              </a:rPr>
              <a:t>245 KB</a:t>
            </a:r>
            <a:endParaRPr lang="zh-CN" sz="1400"/>
          </a:p>
        </p:txBody>
      </p:sp>
      <p:sp>
        <p:nvSpPr>
          <p:cNvPr id="181" name="TextBox 181"/>
          <p:cNvSpPr txBox="1"/>
          <p:nvPr/>
        </p:nvSpPr>
        <p:spPr>
          <a:xfrm>
            <a:off x="3718759" y="3804332"/>
            <a:ext cx="2027088" cy="3498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在频道里提问或上传文件，</a:t>
            </a:r>
            <a:endParaRPr lang="zh-CN" sz="1500"/>
          </a:p>
          <a:p>
            <a:pPr algn="left"/>
            <a:r>
              <a:rPr lang="zh-CN" sz="15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自动进入 Codex 会话。</a:t>
            </a:r>
            <a:endParaRPr lang="zh-CN" sz="1500"/>
          </a:p>
        </p:txBody>
      </p:sp>
      <p:sp>
        <p:nvSpPr>
          <p:cNvPr id="182" name="TextBox 182"/>
          <p:cNvSpPr txBox="1"/>
          <p:nvPr/>
        </p:nvSpPr>
        <p:spPr>
          <a:xfrm>
            <a:off x="4411469" y="3979243"/>
            <a:ext cx="437501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Codex</a:t>
            </a:r>
            <a:endParaRPr lang="zh-CN" sz="1500"/>
          </a:p>
        </p:txBody>
      </p:sp>
      <p:sp>
        <p:nvSpPr>
          <p:cNvPr id="183" name="TextBox 183"/>
          <p:cNvSpPr txBox="1"/>
          <p:nvPr/>
        </p:nvSpPr>
        <p:spPr>
          <a:xfrm>
            <a:off x="6759391" y="1843862"/>
            <a:ext cx="452084" cy="19677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Codex</a:t>
            </a:r>
            <a:endParaRPr lang="zh-CN" sz="1400"/>
          </a:p>
        </p:txBody>
      </p:sp>
      <p:sp>
        <p:nvSpPr>
          <p:cNvPr id="184" name="TextBox 184"/>
          <p:cNvSpPr txBox="1"/>
          <p:nvPr/>
        </p:nvSpPr>
        <p:spPr>
          <a:xfrm>
            <a:off x="7247934" y="1865726"/>
            <a:ext cx="204167" cy="116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8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BOT</a:t>
            </a:r>
            <a:endParaRPr lang="zh-CN" sz="800"/>
          </a:p>
        </p:txBody>
      </p:sp>
      <p:sp>
        <p:nvSpPr>
          <p:cNvPr id="185" name="TextBox 185"/>
          <p:cNvSpPr txBox="1"/>
          <p:nvPr/>
        </p:nvSpPr>
        <p:spPr>
          <a:xfrm>
            <a:off x="6642724" y="2200973"/>
            <a:ext cx="1239586" cy="218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6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正在处理...</a:t>
            </a:r>
            <a:endParaRPr lang="zh-CN" sz="1600"/>
          </a:p>
        </p:txBody>
      </p:sp>
      <p:sp>
        <p:nvSpPr>
          <p:cNvPr id="186" name="TextBox 186"/>
          <p:cNvSpPr txBox="1"/>
          <p:nvPr/>
        </p:nvSpPr>
        <p:spPr>
          <a:xfrm>
            <a:off x="6657307" y="2485205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理解需求</a:t>
            </a:r>
            <a:endParaRPr lang="zh-CN" sz="1300"/>
          </a:p>
        </p:txBody>
      </p:sp>
      <p:sp>
        <p:nvSpPr>
          <p:cNvPr id="187" name="TextBox 187"/>
          <p:cNvSpPr txBox="1"/>
          <p:nvPr/>
        </p:nvSpPr>
        <p:spPr>
          <a:xfrm>
            <a:off x="6657307" y="2776725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设计接口</a:t>
            </a:r>
            <a:endParaRPr lang="zh-CN" sz="1300"/>
          </a:p>
        </p:txBody>
      </p:sp>
      <p:sp>
        <p:nvSpPr>
          <p:cNvPr id="188" name="TextBox 188"/>
          <p:cNvSpPr txBox="1"/>
          <p:nvPr/>
        </p:nvSpPr>
        <p:spPr>
          <a:xfrm>
            <a:off x="6657307" y="3068244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编码实现</a:t>
            </a:r>
            <a:endParaRPr lang="zh-CN" sz="1300"/>
          </a:p>
        </p:txBody>
      </p:sp>
      <p:sp>
        <p:nvSpPr>
          <p:cNvPr id="189" name="TextBox 189"/>
          <p:cNvSpPr txBox="1"/>
          <p:nvPr/>
        </p:nvSpPr>
        <p:spPr>
          <a:xfrm>
            <a:off x="6657307" y="3359764"/>
            <a:ext cx="656252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测试验证</a:t>
            </a:r>
            <a:endParaRPr lang="zh-CN" sz="1300"/>
          </a:p>
        </p:txBody>
      </p:sp>
      <p:sp>
        <p:nvSpPr>
          <p:cNvPr id="190" name="TextBox 190"/>
          <p:cNvSpPr txBox="1"/>
          <p:nvPr/>
        </p:nvSpPr>
        <p:spPr>
          <a:xfrm>
            <a:off x="6314598" y="3804332"/>
            <a:ext cx="2187505" cy="37168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Bridge + service-run 提供进度、</a:t>
            </a:r>
            <a:endParaRPr lang="zh-CN" sz="1500"/>
          </a:p>
          <a:p>
            <a:pPr algn="left"/>
            <a:r>
              <a:rPr lang="zh-CN" sz="15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日志与实时状态。</a:t>
            </a:r>
            <a:endParaRPr lang="zh-CN" sz="1500"/>
          </a:p>
        </p:txBody>
      </p:sp>
      <p:sp>
        <p:nvSpPr>
          <p:cNvPr id="191" name="TextBox 191"/>
          <p:cNvSpPr txBox="1"/>
          <p:nvPr/>
        </p:nvSpPr>
        <p:spPr>
          <a:xfrm>
            <a:off x="9515647" y="1829286"/>
            <a:ext cx="466668" cy="19677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Codex</a:t>
            </a:r>
            <a:endParaRPr lang="zh-CN" sz="1400"/>
          </a:p>
        </p:txBody>
      </p:sp>
      <p:sp>
        <p:nvSpPr>
          <p:cNvPr id="192" name="TextBox 192"/>
          <p:cNvSpPr txBox="1"/>
          <p:nvPr/>
        </p:nvSpPr>
        <p:spPr>
          <a:xfrm>
            <a:off x="10018773" y="1858438"/>
            <a:ext cx="211459" cy="116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8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BOT</a:t>
            </a:r>
            <a:endParaRPr lang="zh-CN" sz="800"/>
          </a:p>
        </p:txBody>
      </p:sp>
      <p:sp>
        <p:nvSpPr>
          <p:cNvPr id="193" name="TextBox 193"/>
          <p:cNvSpPr txBox="1"/>
          <p:nvPr/>
        </p:nvSpPr>
        <p:spPr>
          <a:xfrm>
            <a:off x="9559397" y="2106230"/>
            <a:ext cx="634376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任务完成</a:t>
            </a:r>
            <a:endParaRPr lang="zh-CN" sz="1400"/>
          </a:p>
        </p:txBody>
      </p:sp>
      <p:sp>
        <p:nvSpPr>
          <p:cNvPr id="194" name="TextBox 194"/>
          <p:cNvSpPr txBox="1"/>
          <p:nvPr/>
        </p:nvSpPr>
        <p:spPr>
          <a:xfrm>
            <a:off x="9537522" y="2310293"/>
            <a:ext cx="1319795" cy="174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以下是结果与文件:</a:t>
            </a:r>
            <a:endParaRPr lang="zh-CN" sz="1300"/>
          </a:p>
        </p:txBody>
      </p:sp>
      <p:sp>
        <p:nvSpPr>
          <p:cNvPr id="195" name="TextBox 195"/>
          <p:cNvSpPr txBox="1"/>
          <p:nvPr/>
        </p:nvSpPr>
        <p:spPr>
          <a:xfrm>
            <a:off x="9778148" y="2609101"/>
            <a:ext cx="1290628" cy="2623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【总结】实现说明.md</a:t>
            </a:r>
            <a:endParaRPr lang="zh-CN" sz="1000"/>
          </a:p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12 KB</a:t>
            </a:r>
            <a:endParaRPr lang="zh-CN" sz="1000"/>
          </a:p>
        </p:txBody>
      </p:sp>
      <p:sp>
        <p:nvSpPr>
          <p:cNvPr id="196" name="TextBox 196"/>
          <p:cNvSpPr txBox="1"/>
          <p:nvPr/>
        </p:nvSpPr>
        <p:spPr>
          <a:xfrm>
            <a:off x="9544814" y="3031804"/>
            <a:ext cx="116667" cy="13847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{}</a:t>
            </a:r>
            <a:endParaRPr lang="zh-CN" sz="1000"/>
          </a:p>
        </p:txBody>
      </p:sp>
      <p:sp>
        <p:nvSpPr>
          <p:cNvPr id="197" name="TextBox 197"/>
          <p:cNvSpPr txBox="1"/>
          <p:nvPr/>
        </p:nvSpPr>
        <p:spPr>
          <a:xfrm>
            <a:off x="9778148" y="2966213"/>
            <a:ext cx="947919" cy="2623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login_api.py</a:t>
            </a:r>
            <a:endParaRPr lang="zh-CN" sz="1000"/>
          </a:p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8.3 KB</a:t>
            </a:r>
            <a:endParaRPr lang="zh-CN" sz="1000"/>
          </a:p>
        </p:txBody>
      </p:sp>
      <p:sp>
        <p:nvSpPr>
          <p:cNvPr id="198" name="TextBox 198"/>
          <p:cNvSpPr txBox="1"/>
          <p:nvPr/>
        </p:nvSpPr>
        <p:spPr>
          <a:xfrm>
            <a:off x="9778148" y="3316036"/>
            <a:ext cx="1064586" cy="2623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接口架构图.png</a:t>
            </a:r>
            <a:endParaRPr lang="zh-CN" sz="1000"/>
          </a:p>
          <a:p>
            <a:pPr algn="left"/>
            <a:r>
              <a:rPr lang="zh-CN" sz="1000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120 KB</a:t>
            </a:r>
            <a:endParaRPr lang="zh-CN" sz="1000"/>
          </a:p>
        </p:txBody>
      </p:sp>
      <p:sp>
        <p:nvSpPr>
          <p:cNvPr id="199" name="TextBox 199"/>
          <p:cNvSpPr txBox="1"/>
          <p:nvPr/>
        </p:nvSpPr>
        <p:spPr>
          <a:xfrm>
            <a:off x="9267730" y="3804332"/>
            <a:ext cx="2085422" cy="39355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5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结果自动回传：总结、文件、</a:t>
            </a:r>
            <a:endParaRPr lang="zh-CN" sz="1500"/>
          </a:p>
          <a:p>
            <a:pPr algn="left"/>
            <a:r>
              <a:rPr lang="zh-CN" sz="15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图片等作为附件返回。</a:t>
            </a:r>
            <a:endParaRPr lang="zh-CN" sz="1500"/>
          </a:p>
        </p:txBody>
      </p:sp>
      <p:sp>
        <p:nvSpPr>
          <p:cNvPr id="200" name="TextBox 200"/>
          <p:cNvSpPr txBox="1"/>
          <p:nvPr/>
        </p:nvSpPr>
        <p:spPr>
          <a:xfrm>
            <a:off x="867710" y="4562283"/>
            <a:ext cx="1385420" cy="31338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24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最佳实践</a:t>
            </a:r>
            <a:endParaRPr lang="zh-CN" sz="2400"/>
          </a:p>
        </p:txBody>
      </p:sp>
      <p:sp>
        <p:nvSpPr>
          <p:cNvPr id="201" name="TextBox 201"/>
          <p:cNvSpPr txBox="1"/>
          <p:nvPr/>
        </p:nvSpPr>
        <p:spPr>
          <a:xfrm>
            <a:off x="1057294" y="5072442"/>
            <a:ext cx="576043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1. 大任务分步骤：把复杂任务拆成清晰的小步骤，便于 Codex 理解与执行。</a:t>
            </a:r>
            <a:endParaRPr lang="zh-CN" sz="1320"/>
          </a:p>
        </p:txBody>
      </p:sp>
      <p:sp>
        <p:nvSpPr>
          <p:cNvPr id="202" name="TextBox 202"/>
          <p:cNvSpPr txBox="1"/>
          <p:nvPr/>
        </p:nvSpPr>
        <p:spPr>
          <a:xfrm>
            <a:off x="1057294" y="5553450"/>
            <a:ext cx="5760430" cy="2040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2. 文件名说清楚：使用有意义的文件名与目录结构，帮助 Codex 快速定位内容。</a:t>
            </a:r>
            <a:endParaRPr lang="zh-CN" sz="1320"/>
          </a:p>
        </p:txBody>
      </p:sp>
      <p:sp>
        <p:nvSpPr>
          <p:cNvPr id="203" name="TextBox 203"/>
          <p:cNvSpPr txBox="1"/>
          <p:nvPr/>
        </p:nvSpPr>
        <p:spPr>
          <a:xfrm>
            <a:off x="1057294" y="6041745"/>
            <a:ext cx="5869805" cy="437279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3. 图片任务用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Codex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：涉及生图、编辑图，使用默认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Codex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或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!codex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，</a:t>
            </a:r>
            <a:endParaRPr lang="zh-CN" sz="1320"/>
          </a:p>
          <a:p>
            <a:pPr algn="left"/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不要用 </a:t>
            </a:r>
            <a:r>
              <a:rPr lang="zh-CN" sz="132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!claude</a:t>
            </a:r>
            <a:r>
              <a:rPr lang="zh-CN" sz="132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覆盖。</a:t>
            </a:r>
            <a:endParaRPr lang="zh-CN" sz="1320"/>
          </a:p>
        </p:txBody>
      </p:sp>
      <p:sp>
        <p:nvSpPr>
          <p:cNvPr id="204" name="TextBox 204"/>
          <p:cNvSpPr txBox="1"/>
          <p:nvPr/>
        </p:nvSpPr>
        <p:spPr>
          <a:xfrm>
            <a:off x="9420855" y="4773634"/>
            <a:ext cx="882294" cy="29880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left"/>
            <a:r>
              <a:rPr lang="zh-CN" sz="24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小结</a:t>
            </a:r>
            <a:endParaRPr lang="zh-CN" sz="2400"/>
          </a:p>
        </p:txBody>
      </p:sp>
      <p:sp>
        <p:nvSpPr>
          <p:cNvPr id="205" name="TextBox 205"/>
          <p:cNvSpPr txBox="1"/>
          <p:nvPr/>
        </p:nvSpPr>
        <p:spPr>
          <a:xfrm>
            <a:off x="8385436" y="5276506"/>
            <a:ext cx="2697923" cy="626767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2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让 </a:t>
            </a:r>
            <a:r>
              <a:rPr lang="zh-CN" sz="2300" b="1">
                <a:solidFill>
                  <a:srgbClr val="1C5ACB"/>
                </a:solidFill>
                <a:latin typeface="Kaiti SC"/>
                <a:ea typeface="Kaiti SC"/>
                <a:cs typeface="Kaiti SC"/>
              </a:rPr>
              <a:t>Discord</a:t>
            </a:r>
            <a:r>
              <a:rPr lang="zh-CN" sz="2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变成本机 </a:t>
            </a:r>
            <a:endParaRPr lang="zh-CN" sz="2300"/>
          </a:p>
          <a:p>
            <a:pPr algn="center"/>
            <a:r>
              <a:rPr lang="zh-CN" sz="2300" b="1">
                <a:solidFill>
                  <a:srgbClr val="F17810"/>
                </a:solidFill>
                <a:latin typeface="Kaiti SC"/>
                <a:ea typeface="Kaiti SC"/>
                <a:cs typeface="Kaiti SC"/>
              </a:rPr>
              <a:t>Codex</a:t>
            </a:r>
            <a:r>
              <a:rPr lang="zh-CN" sz="2300" b="1">
                <a:solidFill>
                  <a:srgbClr val="071443"/>
                </a:solidFill>
                <a:latin typeface="Kaiti SC"/>
                <a:ea typeface="Kaiti SC"/>
                <a:cs typeface="Kaiti SC"/>
              </a:rPr>
              <a:t> 的远程工作台。</a:t>
            </a:r>
            <a:endParaRPr lang="zh-CN" sz="2300"/>
          </a:p>
        </p:txBody>
      </p:sp>
      <p:sp>
        <p:nvSpPr>
          <p:cNvPr id="206" name="TextBox 206"/>
          <p:cNvSpPr txBox="1"/>
          <p:nvPr/>
        </p:nvSpPr>
        <p:spPr>
          <a:xfrm>
            <a:off x="9632314" y="6129201"/>
            <a:ext cx="131250" cy="1603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tIns="0" rIns="0" bIns="0">
            <a:noAutofit/>
          </a:bodyPr>
          <a:lstStyle/>
          <a:p>
            <a:pPr algn="center"/>
            <a:r>
              <a:rPr lang="zh-CN" sz="1300" b="1">
                <a:solidFill>
                  <a:srgbClr val="1E6D29"/>
                </a:solidFill>
                <a:latin typeface="Kaiti SC"/>
                <a:ea typeface="Kaiti SC"/>
                <a:cs typeface="Kaiti SC"/>
              </a:rPr>
              <a:t>C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